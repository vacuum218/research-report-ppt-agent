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7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8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9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2d5ee7c4184134" /><Relationship Type="http://schemas.openxmlformats.org/officeDocument/2006/relationships/extended-properties" Target="/docProps/app.xml" Id="R7d9962a69e594f96" /><Relationship Type="http://schemas.openxmlformats.org/officeDocument/2006/relationships/officeDocument" Target="/ppt/presentation.xml" Id="R3a05a5dd0ed546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33bf1e5b4c43dd"/>
  </p:sldMasterIdLst>
  <p:notesMasterIdLst>
    <p:notesMasterId xmlns:r="http://schemas.openxmlformats.org/officeDocument/2006/relationships" r:id="R84014388d7aa421f"/>
  </p:notesMasterIdLst>
  <p:sldIdLst>
    <p:sldId xmlns:r="http://schemas.openxmlformats.org/officeDocument/2006/relationships" id="256" r:id="Rb4b3cc18a9e04a83"/>
    <p:sldId xmlns:r="http://schemas.openxmlformats.org/officeDocument/2006/relationships" id="257" r:id="Rb724f6e212f34b15"/>
    <p:sldId xmlns:r="http://schemas.openxmlformats.org/officeDocument/2006/relationships" id="258" r:id="Rd19453bd57524319"/>
    <p:sldId xmlns:r="http://schemas.openxmlformats.org/officeDocument/2006/relationships" id="259" r:id="R546e97ab4eda47b9"/>
    <p:sldId xmlns:r="http://schemas.openxmlformats.org/officeDocument/2006/relationships" id="260" r:id="R30534edff2c84ecc"/>
    <p:sldId xmlns:r="http://schemas.openxmlformats.org/officeDocument/2006/relationships" id="261" r:id="R298ab71f13f84467"/>
    <p:sldId xmlns:r="http://schemas.openxmlformats.org/officeDocument/2006/relationships" id="262" r:id="R711ff9289e384c2b"/>
    <p:sldId xmlns:r="http://schemas.openxmlformats.org/officeDocument/2006/relationships" id="263" r:id="R5b0bc9d17e834a99"/>
    <p:sldId xmlns:r="http://schemas.openxmlformats.org/officeDocument/2006/relationships" id="264" r:id="R157cac3ba11f4888"/>
    <p:sldId xmlns:r="http://schemas.openxmlformats.org/officeDocument/2006/relationships" id="265" r:id="R17b53fd6ceb74c07"/>
    <p:sldId xmlns:r="http://schemas.openxmlformats.org/officeDocument/2006/relationships" id="266" r:id="R15355532f82c4bae"/>
    <p:sldId xmlns:r="http://schemas.openxmlformats.org/officeDocument/2006/relationships" id="267" r:id="R379f9818efe049d6"/>
    <p:sldId xmlns:r="http://schemas.openxmlformats.org/officeDocument/2006/relationships" id="268" r:id="R7cc49a673e8d4549"/>
    <p:sldId xmlns:r="http://schemas.openxmlformats.org/officeDocument/2006/relationships" id="269" r:id="Ra3b6e6d4a8c245e7"/>
    <p:sldId xmlns:r="http://schemas.openxmlformats.org/officeDocument/2006/relationships" id="270" r:id="R767f23b94cee4727"/>
    <p:sldId xmlns:r="http://schemas.openxmlformats.org/officeDocument/2006/relationships" id="271" r:id="Rdc88dd9bffcc49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0171a3e283454a" /><Relationship Type="http://schemas.openxmlformats.org/officeDocument/2006/relationships/slideMaster" Target="/ppt/slideMasters/slideMaster1.xml" Id="R0633bf1e5b4c43dd" /><Relationship Type="http://schemas.openxmlformats.org/officeDocument/2006/relationships/notesMaster" Target="/ppt/notesMasters/notesMaster1.xml" Id="R84014388d7aa421f" /><Relationship Type="http://schemas.openxmlformats.org/officeDocument/2006/relationships/presProps" Target="/ppt/presProps.xml" Id="Rc3973d8dc3b8405d" /><Relationship Type="http://schemas.openxmlformats.org/officeDocument/2006/relationships/tableStyles" Target="/ppt/tableStyles.xml" Id="R7c708c09f70944af" /><Relationship Type="http://schemas.openxmlformats.org/officeDocument/2006/relationships/slide" Target="/ppt/slides/slide1.xml" Id="Rb4b3cc18a9e04a83" /><Relationship Type="http://schemas.openxmlformats.org/officeDocument/2006/relationships/slide" Target="/ppt/slides/slide2.xml" Id="Rb724f6e212f34b15" /><Relationship Type="http://schemas.openxmlformats.org/officeDocument/2006/relationships/slide" Target="/ppt/slides/slide3.xml" Id="Rd19453bd57524319" /><Relationship Type="http://schemas.openxmlformats.org/officeDocument/2006/relationships/slide" Target="/ppt/slides/slide4.xml" Id="R546e97ab4eda47b9" /><Relationship Type="http://schemas.openxmlformats.org/officeDocument/2006/relationships/slide" Target="/ppt/slides/slide5.xml" Id="R30534edff2c84ecc" /><Relationship Type="http://schemas.openxmlformats.org/officeDocument/2006/relationships/slide" Target="/ppt/slides/slide6.xml" Id="R298ab71f13f84467" /><Relationship Type="http://schemas.openxmlformats.org/officeDocument/2006/relationships/slide" Target="/ppt/slides/slide7.xml" Id="R711ff9289e384c2b" /><Relationship Type="http://schemas.openxmlformats.org/officeDocument/2006/relationships/slide" Target="/ppt/slides/slide8.xml" Id="R5b0bc9d17e834a99" /><Relationship Type="http://schemas.openxmlformats.org/officeDocument/2006/relationships/slide" Target="/ppt/slides/slide9.xml" Id="R157cac3ba11f4888" /><Relationship Type="http://schemas.openxmlformats.org/officeDocument/2006/relationships/slide" Target="/ppt/slides/slide10.xml" Id="R17b53fd6ceb74c07" /><Relationship Type="http://schemas.openxmlformats.org/officeDocument/2006/relationships/slide" Target="/ppt/slides/slide11.xml" Id="R15355532f82c4bae" /><Relationship Type="http://schemas.openxmlformats.org/officeDocument/2006/relationships/slide" Target="/ppt/slides/slide12.xml" Id="R379f9818efe049d6" /><Relationship Type="http://schemas.openxmlformats.org/officeDocument/2006/relationships/slide" Target="/ppt/slides/slide13.xml" Id="R7cc49a673e8d4549" /><Relationship Type="http://schemas.openxmlformats.org/officeDocument/2006/relationships/slide" Target="/ppt/slides/slide14.xml" Id="Ra3b6e6d4a8c245e7" /><Relationship Type="http://schemas.openxmlformats.org/officeDocument/2006/relationships/slide" Target="/ppt/slides/slide15.xml" Id="R767f23b94cee4727" /><Relationship Type="http://schemas.openxmlformats.org/officeDocument/2006/relationships/slide" Target="/ppt/slides/slide16.xml" Id="Rdc88dd9bffcc49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67eb1a75f547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7f242d46bb4206" /><Relationship Type="http://schemas.openxmlformats.org/officeDocument/2006/relationships/notesMaster" Target="/ppt/notesMasters/notesMaster1.xml" Id="R61195ab5914145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6d78aab79f496a" /><Relationship Type="http://schemas.openxmlformats.org/officeDocument/2006/relationships/notesMaster" Target="/ppt/notesMasters/notesMaster1.xml" Id="R64fb51f011924e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225f0e43a5454c" /><Relationship Type="http://schemas.openxmlformats.org/officeDocument/2006/relationships/notesMaster" Target="/ppt/notesMasters/notesMaster1.xml" Id="Rb10408ece27946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caf061f500478b" /><Relationship Type="http://schemas.openxmlformats.org/officeDocument/2006/relationships/notesMaster" Target="/ppt/notesMasters/notesMaster1.xml" Id="Rf323ab8615874e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921241b6284239" /><Relationship Type="http://schemas.openxmlformats.org/officeDocument/2006/relationships/notesMaster" Target="/ppt/notesMasters/notesMaster1.xml" Id="R00bcdcd739c048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1c5a3a07d54a7e" /><Relationship Type="http://schemas.openxmlformats.org/officeDocument/2006/relationships/notesMaster" Target="/ppt/notesMasters/notesMaster1.xml" Id="Ra117dbd80e0044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486b55d8814421" /><Relationship Type="http://schemas.openxmlformats.org/officeDocument/2006/relationships/notesMaster" Target="/ppt/notesMasters/notesMaster1.xml" Id="R8fcc47dbd65348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5e30f9511d4ef2" /><Relationship Type="http://schemas.openxmlformats.org/officeDocument/2006/relationships/notesMaster" Target="/ppt/notesMasters/notesMaster1.xml" Id="R30696b63d91d4c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3ddc5d5ddc4155" /><Relationship Type="http://schemas.openxmlformats.org/officeDocument/2006/relationships/notesMaster" Target="/ppt/notesMasters/notesMaster1.xml" Id="Re0a73d25f8a04e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8609e228e840e5" /><Relationship Type="http://schemas.openxmlformats.org/officeDocument/2006/relationships/notesMaster" Target="/ppt/notesMasters/notesMaster1.xml" Id="R4631df941f3742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8d71522254417f" /><Relationship Type="http://schemas.openxmlformats.org/officeDocument/2006/relationships/notesMaster" Target="/ppt/notesMasters/notesMaster1.xml" Id="R1d7ceb23da0c4a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1164b2b48548e0" /><Relationship Type="http://schemas.openxmlformats.org/officeDocument/2006/relationships/notesMaster" Target="/ppt/notesMasters/notesMaster1.xml" Id="R9154a47936a442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01e46519c74541" /><Relationship Type="http://schemas.openxmlformats.org/officeDocument/2006/relationships/notesMaster" Target="/ppt/notesMasters/notesMaster1.xml" Id="R96d32105867b4c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423b97bb8d400a" /><Relationship Type="http://schemas.openxmlformats.org/officeDocument/2006/relationships/notesMaster" Target="/ppt/notesMasters/notesMaster1.xml" Id="Rb24e448c633746b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9d6cb96d544d9e" /><Relationship Type="http://schemas.openxmlformats.org/officeDocument/2006/relationships/notesMaster" Target="/ppt/notesMasters/notesMaster1.xml" Id="R36f446e4b8de454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e587df29d10409d" /><Relationship Type="http://schemas.openxmlformats.org/officeDocument/2006/relationships/notesMaster" Target="/ppt/notesMasters/notesMaster1.xml" Id="R873e1424aae648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10f3aae0704b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d04bbc73a54fc7" /><Relationship Type="http://schemas.openxmlformats.org/officeDocument/2006/relationships/slideLayout" Target="/ppt/slideLayouts/slideLayout1.xml" Id="R0591e5772ae943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91e5772ae943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e471f3d0441e9" /><Relationship Type="http://schemas.openxmlformats.org/officeDocument/2006/relationships/notesSlide" Target="/ppt/notesSlides/notesSlide1.xml" Id="Rdd337f95f8f34d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70a1910604cdb" /><Relationship Type="http://schemas.openxmlformats.org/officeDocument/2006/relationships/notesSlide" Target="/ppt/notesSlides/notesSlide2.xml" Id="R1bbddb7acb2741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cf0fbdf924cd9" /><Relationship Type="http://schemas.openxmlformats.org/officeDocument/2006/relationships/notesSlide" Target="/ppt/notesSlides/notesSlide3.xml" Id="R557bcfd09d724d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b7afcbeef4339" /><Relationship Type="http://schemas.openxmlformats.org/officeDocument/2006/relationships/notesSlide" Target="/ppt/notesSlides/notesSlide4.xml" Id="R651fd1d697864f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fb155f0134d3e" /><Relationship Type="http://schemas.openxmlformats.org/officeDocument/2006/relationships/notesSlide" Target="/ppt/notesSlides/notesSlide5.xml" Id="Raca6dabb5c194a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4bfded77242e3" /><Relationship Type="http://schemas.openxmlformats.org/officeDocument/2006/relationships/chart" Target="/ppt/slides/charts/chart1.xml" Id="R8ae6d4a3cdf14607" /><Relationship Type="http://schemas.openxmlformats.org/officeDocument/2006/relationships/chart" Target="/ppt/slides/charts/chart2.xml" Id="R1d634692c5cb46d4" /><Relationship Type="http://schemas.openxmlformats.org/officeDocument/2006/relationships/notesSlide" Target="/ppt/notesSlides/notesSlide6.xml" Id="R8eaf69cd3feb42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5ba706574483a" /><Relationship Type="http://schemas.openxmlformats.org/officeDocument/2006/relationships/chart" Target="/ppt/slides/charts/chart3.xml" Id="R2d24f04187af4bf4" /><Relationship Type="http://schemas.openxmlformats.org/officeDocument/2006/relationships/notesSlide" Target="/ppt/notesSlides/notesSlide7.xml" Id="Refe7feb699b94d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af55413104bc3" /><Relationship Type="http://schemas.openxmlformats.org/officeDocument/2006/relationships/notesSlide" Target="/ppt/notesSlides/notesSlide8.xml" Id="R31d5ac4eb9d144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00c4fb15f477e" /><Relationship Type="http://schemas.openxmlformats.org/officeDocument/2006/relationships/chart" Target="/ppt/slides/charts/chart4.xml" Id="R4feed711adc1469f" /><Relationship Type="http://schemas.openxmlformats.org/officeDocument/2006/relationships/notesSlide" Target="/ppt/notesSlides/notesSlide9.xml" Id="R776e277cb82f4c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5ea31107e4064" /><Relationship Type="http://schemas.openxmlformats.org/officeDocument/2006/relationships/chart" Target="/ppt/slides/charts/chart5.xml" Id="Rb62d1d74f4704ca2" /><Relationship Type="http://schemas.openxmlformats.org/officeDocument/2006/relationships/chart" Target="/ppt/slides/charts/chart6.xml" Id="Rb2ddc257393c4093" /><Relationship Type="http://schemas.openxmlformats.org/officeDocument/2006/relationships/notesSlide" Target="/ppt/notesSlides/notesSlide10.xml" Id="Ra4acd43bdeb747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4ba3c9719429c" /><Relationship Type="http://schemas.openxmlformats.org/officeDocument/2006/relationships/notesSlide" Target="/ppt/notesSlides/notesSlide11.xml" Id="R75e486d0b2c94d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6bb27dcd7413a" /><Relationship Type="http://schemas.openxmlformats.org/officeDocument/2006/relationships/chart" Target="/ppt/slides/charts/chart7.xml" Id="R729d1af4c1324b50" /><Relationship Type="http://schemas.openxmlformats.org/officeDocument/2006/relationships/notesSlide" Target="/ppt/notesSlides/notesSlide12.xml" Id="R5d1fff17d0854a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c1efd84a64016" /><Relationship Type="http://schemas.openxmlformats.org/officeDocument/2006/relationships/chart" Target="/ppt/slides/charts/chart8.xml" Id="Rd4217a68a443479f" /><Relationship Type="http://schemas.openxmlformats.org/officeDocument/2006/relationships/notesSlide" Target="/ppt/notesSlides/notesSlide13.xml" Id="Rbe3c4692870743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36cbcd2cb41bd" /><Relationship Type="http://schemas.openxmlformats.org/officeDocument/2006/relationships/chart" Target="/ppt/slides/charts/chart9.xml" Id="R7b281e729ca849af" /><Relationship Type="http://schemas.openxmlformats.org/officeDocument/2006/relationships/notesSlide" Target="/ppt/notesSlides/notesSlide14.xml" Id="R02752222c5424ff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9a8a094b44ceb" /><Relationship Type="http://schemas.openxmlformats.org/officeDocument/2006/relationships/notesSlide" Target="/ppt/notesSlides/notesSlide15.xml" Id="R03897476c93f42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feb88218845fb" /><Relationship Type="http://schemas.openxmlformats.org/officeDocument/2006/relationships/notesSlide" Target="/ppt/notesSlides/notesSlide16.xml" Id="Rad18f988e6c845b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收入</c:v>
          </c:tx>
          <c:spPr>
            <a:solidFill xmlns:a="http://schemas.openxmlformats.org/drawingml/2006/main">
              <a:srgbClr val="2F6FED"/>
            </a:solidFill>
          </c:spPr>
          <c:cat>
            <c:strLit>
              <c:ptCount val="3"/>
              <c:pt idx="0">
                <c:v>手工具</c:v>
              </c:pt>
              <c:pt idx="1">
                <c:v>工业工具</c:v>
              </c:pt>
              <c:pt idx="2">
                <c:v>电动工具</c:v>
              </c:pt>
            </c:strLit>
          </c:cat>
          <c:val>
            <c:numLit>
              <c:formatCode>General</c:formatCode>
              <c:ptCount val="3"/>
              <c:pt idx="0">
                <c:v>100.69</c:v>
              </c:pt>
              <c:pt idx="1">
                <c:v>32.29</c:v>
              </c:pt>
              <c:pt idx="2">
                <c:v>14.38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3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毛利率</c:v>
          </c:tx>
          <c:spPr>
            <a:solidFill xmlns:a="http://schemas.openxmlformats.org/drawingml/2006/main">
              <a:srgbClr val="16A3A5"/>
            </a:solidFill>
          </c:spPr>
          <c:cat>
            <c:strLit>
              <c:ptCount val="3"/>
              <c:pt idx="0">
                <c:v>手工具</c:v>
              </c:pt>
              <c:pt idx="1">
                <c:v>工业工具</c:v>
              </c:pt>
              <c:pt idx="2">
                <c:v>电动工具</c:v>
              </c:pt>
            </c:strLit>
          </c:cat>
          <c:val>
            <c:numLit>
              <c:formatCode>General</c:formatCode>
              <c:ptCount val="3"/>
              <c:pt idx="0">
                <c:v>32.09</c:v>
              </c:pt>
              <c:pt idx="1">
                <c:v>35.57</c:v>
              </c:pt>
              <c:pt idx="2">
                <c:v>23.83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行业规模指数</c:v>
          </c:tx>
          <c:spPr>
            <a:ln xmlns:a="http://schemas.openxmlformats.org/drawingml/2006/main" w="28575">
              <a:solidFill>
                <a:srgbClr val="2F6FED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2022</c:v>
              </c:pt>
              <c:pt idx="1">
                <c:v>2023</c:v>
              </c:pt>
              <c:pt idx="2">
                <c:v>2024</c:v>
              </c:pt>
              <c:pt idx="3">
                <c:v>2025E</c:v>
              </c:pt>
              <c:pt idx="4">
                <c:v>2026E</c:v>
              </c:pt>
              <c:pt idx="5">
                <c:v>2027E</c:v>
              </c:pt>
            </c:str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106</c:v>
              </c:pt>
              <c:pt idx="2">
                <c:v>113</c:v>
              </c:pt>
              <c:pt idx="3">
                <c:v>122</c:v>
              </c:pt>
              <c:pt idx="4">
                <c:v>133</c:v>
              </c:pt>
              <c:pt idx="5">
                <c:v>145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50"/>
          <c:min val="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OBM占比</c:v>
          </c:tx>
          <c:spPr>
            <a:ln xmlns:a="http://schemas.openxmlformats.org/drawingml/2006/main" w="28575">
              <a:solidFill>
                <a:srgbClr val="2F6FED"/>
              </a:solidFill>
              <a:prstDash val="solid"/>
            </a:ln>
          </c:spPr>
          <c:marker>
            <c:symbol val="circle"/>
            <c:size val="6"/>
          </c:marker>
          <c:cat>
            <c:numLit>
              <c:formatCode>General</c:formatCode>
              <c:ptCount val="7"/>
              <c:pt idx="0">
                <c:v>2018</c:v>
              </c:pt>
              <c:pt idx="1">
                <c:v>2019</c:v>
              </c:pt>
              <c:pt idx="2">
                <c:v>2020</c:v>
              </c:pt>
              <c:pt idx="3">
                <c:v>2021</c:v>
              </c:pt>
              <c:pt idx="4">
                <c:v>2022</c:v>
              </c:pt>
              <c:pt idx="5">
                <c:v>2023</c:v>
              </c:pt>
              <c:pt idx="6">
                <c:v>2024</c:v>
              </c:pt>
            </c:numLit>
          </c:cat>
          <c:val>
            <c:numLit>
              <c:formatCode>General</c:formatCode>
              <c:ptCount val="7"/>
              <c:pt idx="0">
                <c:v>18</c:v>
              </c:pt>
              <c:pt idx="1">
                <c:v>35</c:v>
              </c:pt>
              <c:pt idx="2">
                <c:v>30</c:v>
              </c:pt>
              <c:pt idx="3">
                <c:v>36</c:v>
              </c:pt>
              <c:pt idx="4">
                <c:v>42</c:v>
              </c:pt>
              <c:pt idx="5">
                <c:v>48</c:v>
              </c:pt>
              <c:pt idx="6">
                <c:v>48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手工具</c:v>
          </c:tx>
          <c:spPr>
            <a:ln xmlns:a="http://schemas.openxmlformats.org/drawingml/2006/main" w="28575">
              <a:solidFill>
                <a:srgbClr val="2F6FED"/>
              </a:solidFill>
              <a:prstDash val="solid"/>
            </a:ln>
          </c:spPr>
          <c:marker>
            <c:symbol val="circle"/>
            <c:size val="5"/>
          </c:marker>
          <c:cat>
            <c:strLit>
              <c:ptCount val="4"/>
              <c:pt idx="0">
                <c:v>2024A</c:v>
              </c:pt>
              <c:pt idx="1">
                <c:v>2025E</c:v>
              </c:pt>
              <c:pt idx="2">
                <c:v>2026E</c:v>
              </c:pt>
              <c:pt idx="3">
                <c:v>2027E</c:v>
              </c:pt>
            </c:strLit>
          </c:cat>
          <c:val>
            <c:numLit>
              <c:formatCode>General</c:formatCode>
              <c:ptCount val="4"/>
              <c:pt idx="0">
                <c:v>40.5</c:v>
              </c:pt>
              <c:pt idx="1">
                <c:v>10</c:v>
              </c:pt>
              <c:pt idx="2">
                <c:v>18</c:v>
              </c:pt>
              <c:pt idx="3">
                <c:v>16</c:v>
              </c:pt>
            </c:numLit>
          </c:val>
        </c:ser>
        <c:ser>
          <c:idx val="1"/>
          <c:order val="1"/>
          <c:tx>
            <c:v>电动工具</c:v>
          </c:tx>
          <c:spPr>
            <a:ln xmlns:a="http://schemas.openxmlformats.org/drawingml/2006/main" w="28575">
              <a:solidFill>
                <a:srgbClr val="F59E0B"/>
              </a:solidFill>
              <a:prstDash val="solid"/>
            </a:ln>
          </c:spPr>
          <c:marker>
            <c:symbol val="circle"/>
            <c:size val="5"/>
          </c:marker>
          <c:cat>
            <c:strLit>
              <c:ptCount val="4"/>
              <c:pt idx="0">
                <c:v>2024A</c:v>
              </c:pt>
              <c:pt idx="1">
                <c:v>2025E</c:v>
              </c:pt>
              <c:pt idx="2">
                <c:v>2026E</c:v>
              </c:pt>
              <c:pt idx="3">
                <c:v>2027E</c:v>
              </c:pt>
            </c:strLit>
          </c:cat>
          <c:val>
            <c:numLit>
              <c:formatCode>General</c:formatCode>
              <c:ptCount val="4"/>
              <c:pt idx="0">
                <c:v>36.5</c:v>
              </c:pt>
              <c:pt idx="1">
                <c:v>15</c:v>
              </c:pt>
              <c:pt idx="2">
                <c:v>30</c:v>
              </c:pt>
              <c:pt idx="3">
                <c:v>25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手工具</c:v>
          </c:tx>
          <c:spPr>
            <a:ln xmlns:a="http://schemas.openxmlformats.org/drawingml/2006/main" w="28575">
              <a:solidFill>
                <a:srgbClr val="2F6FED"/>
              </a:solidFill>
              <a:prstDash val="solid"/>
            </a:ln>
          </c:spPr>
          <c:marker>
            <c:symbol val="circle"/>
            <c:size val="5"/>
          </c:marker>
          <c:cat>
            <c:strLit>
              <c:ptCount val="4"/>
              <c:pt idx="0">
                <c:v>2024A</c:v>
              </c:pt>
              <c:pt idx="1">
                <c:v>2025E</c:v>
              </c:pt>
              <c:pt idx="2">
                <c:v>2026E</c:v>
              </c:pt>
              <c:pt idx="3">
                <c:v>2027E</c:v>
              </c:pt>
            </c:strLit>
          </c:cat>
          <c:val>
            <c:numLit>
              <c:formatCode>General</c:formatCode>
              <c:ptCount val="4"/>
              <c:pt idx="0">
                <c:v>32.1</c:v>
              </c:pt>
              <c:pt idx="1">
                <c:v>30</c:v>
              </c:pt>
              <c:pt idx="2">
                <c:v>32</c:v>
              </c:pt>
              <c:pt idx="3">
                <c:v>33</c:v>
              </c:pt>
            </c:numLit>
          </c:val>
        </c:ser>
        <c:ser>
          <c:idx val="1"/>
          <c:order val="1"/>
          <c:tx>
            <c:v>电动工具</c:v>
          </c:tx>
          <c:spPr>
            <a:ln xmlns:a="http://schemas.openxmlformats.org/drawingml/2006/main" w="28575">
              <a:solidFill>
                <a:srgbClr val="F59E0B"/>
              </a:solidFill>
              <a:prstDash val="solid"/>
            </a:ln>
          </c:spPr>
          <c:marker>
            <c:symbol val="circle"/>
            <c:size val="5"/>
          </c:marker>
          <c:cat>
            <c:strLit>
              <c:ptCount val="4"/>
              <c:pt idx="0">
                <c:v>2024A</c:v>
              </c:pt>
              <c:pt idx="1">
                <c:v>2025E</c:v>
              </c:pt>
              <c:pt idx="2">
                <c:v>2026E</c:v>
              </c:pt>
              <c:pt idx="3">
                <c:v>2027E</c:v>
              </c:pt>
            </c:strLit>
          </c:cat>
          <c:val>
            <c:numLit>
              <c:formatCode>General</c:formatCode>
              <c:ptCount val="4"/>
              <c:pt idx="0">
                <c:v>23.8</c:v>
              </c:pt>
              <c:pt idx="1">
                <c:v>21</c:v>
              </c:pt>
              <c:pt idx="2">
                <c:v>24</c:v>
              </c:pt>
              <c:pt idx="3">
                <c:v>26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0"/>
          <c:min val="1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营业收入</c:v>
          </c:tx>
          <c:spPr>
            <a:ln xmlns:a="http://schemas.openxmlformats.org/drawingml/2006/main" w="28575">
              <a:solidFill>
                <a:srgbClr val="2F6FED"/>
              </a:solidFill>
              <a:prstDash val="solid"/>
            </a:ln>
          </c:spPr>
          <c:marker>
            <c:symbol val="circle"/>
            <c:size val="6"/>
          </c:marker>
          <c:cat>
            <c:numLit>
              <c:formatCode>General</c:formatCode>
              <c:ptCount val="4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</c:numLit>
          </c:cat>
          <c:val>
            <c:numLit>
              <c:formatCode>General</c:formatCode>
              <c:ptCount val="4"/>
              <c:pt idx="0">
                <c:v>109</c:v>
              </c:pt>
              <c:pt idx="1">
                <c:v>126</c:v>
              </c:pt>
              <c:pt idx="2">
                <c:v>109</c:v>
              </c:pt>
              <c:pt idx="3">
                <c:v>148</c:v>
              </c:pt>
            </c:numLit>
          </c:val>
        </c:ser>
        <c:ser>
          <c:idx val="1"/>
          <c:order val="1"/>
          <c:tx>
            <c:v>归母净利润（指数）</c:v>
          </c:tx>
          <c:spPr>
            <a:ln xmlns:a="http://schemas.openxmlformats.org/drawingml/2006/main" w="28575">
              <a:solidFill>
                <a:srgbClr val="16A3A5"/>
              </a:solidFill>
              <a:prstDash val="solid"/>
            </a:ln>
          </c:spPr>
          <c:marker>
            <c:symbol val="circle"/>
            <c:size val="6"/>
          </c:marker>
          <c:cat>
            <c:numLit>
              <c:formatCode>General</c:formatCode>
              <c:ptCount val="4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</c:numLit>
          </c:cat>
          <c:val>
            <c:numLit>
              <c:formatCode>General</c:formatCode>
              <c:ptCount val="4"/>
              <c:pt idx="0">
                <c:v>72</c:v>
              </c:pt>
              <c:pt idx="1">
                <c:v>88</c:v>
              </c:pt>
              <c:pt idx="2">
                <c:v>103</c:v>
              </c:pt>
              <c:pt idx="3">
                <c:v>142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60"/>
          <c:min val="6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收入</c:v>
          </c:tx>
          <c:spPr>
            <a:solidFill xmlns:a="http://schemas.openxmlformats.org/drawingml/2006/main">
              <a:srgbClr val="2F6FED"/>
            </a:solidFill>
          </c:spPr>
          <c:cat>
            <c:strLit>
              <c:ptCount val="4"/>
              <c:pt idx="0">
                <c:v>24A</c:v>
              </c:pt>
              <c:pt idx="1">
                <c:v>25E</c:v>
              </c:pt>
              <c:pt idx="2">
                <c:v>26E</c:v>
              </c:pt>
              <c:pt idx="3">
                <c:v>27E</c:v>
              </c:pt>
            </c:strLit>
          </c:cat>
          <c:val>
            <c:numLit>
              <c:formatCode>General</c:formatCode>
              <c:ptCount val="4"/>
              <c:pt idx="0">
                <c:v>148</c:v>
              </c:pt>
              <c:pt idx="1">
                <c:v>162.5</c:v>
              </c:pt>
              <c:pt idx="2">
                <c:v>192.4</c:v>
              </c:pt>
              <c:pt idx="3">
                <c:v>223.1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6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PE</c:v>
          </c:tx>
          <c:spPr>
            <a:solidFill xmlns:a="http://schemas.openxmlformats.org/drawingml/2006/main">
              <a:srgbClr val="2F6FED"/>
            </a:solidFill>
          </c:spPr>
          <c:cat>
            <c:strLit>
              <c:ptCount val="4"/>
              <c:pt idx="0">
                <c:v>泉峰控股</c:v>
              </c:pt>
              <c:pt idx="1">
                <c:v>创科实业</c:v>
              </c:pt>
              <c:pt idx="2">
                <c:v>可比均值</c:v>
              </c:pt>
              <c:pt idx="3">
                <c:v>目标公司</c:v>
              </c:pt>
            </c:strLit>
          </c:cat>
          <c:val>
            <c:numLit>
              <c:formatCode>General</c:formatCode>
              <c:ptCount val="4"/>
              <c:pt idx="0">
                <c:v>5.3</c:v>
              </c:pt>
              <c:pt idx="1">
                <c:v>13.2</c:v>
              </c:pt>
              <c:pt idx="2">
                <c:v>9.2</c:v>
              </c:pt>
              <c:pt idx="3">
                <c:v>9.7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3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_accent">
            <a:extLst xmlns:a="http://schemas.openxmlformats.org/drawingml/2006/main">
              <a:ext uri="{FF2B5EF4-FFF2-40B4-BE49-F238E27FC236}">
                <a16:creationId xmlns:a16="http://schemas.microsoft.com/office/drawing/2014/main" id="{16E1F1E0-0FA3-4CD2-882C-B613B78F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_eyebrow">
            <a:extLst xmlns:a="http://schemas.openxmlformats.org/drawingml/2006/main">
              <a:ext uri="{FF2B5EF4-FFF2-40B4-BE49-F238E27FC236}">
                <a16:creationId xmlns:a16="http://schemas.microsoft.com/office/drawing/2014/main" id="{6D37FB5B-67AF-4B58-90FB-59F460CD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rPr>
              <a:t>FINANCIAL RESEARCH PRESENTATION</a:t>
            </a:r>
          </a:p>
        </p:txBody>
      </p:sp>
      <p:sp>
        <p:nvSpPr>
          <p:cNvPr id="3" name="cover_title">
            <a:extLst xmlns:a="http://schemas.openxmlformats.org/drawingml/2006/main">
              <a:ext uri="{FF2B5EF4-FFF2-40B4-BE49-F238E27FC236}">
                <a16:creationId xmlns:a16="http://schemas.microsoft.com/office/drawing/2014/main" id="{A05A7682-4EB2-4CA7-9462-D999697F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[公司名称] 财务研究报告</a:t>
            </a:r>
          </a:p>
        </p:txBody>
      </p:sp>
      <p:sp>
        <p:nvSpPr>
          <p:cNvPr id="4" name="cover_subtitle">
            <a:extLst xmlns:a="http://schemas.openxmlformats.org/drawingml/2006/main">
              <a:ext uri="{FF2B5EF4-FFF2-40B4-BE49-F238E27FC236}">
                <a16:creationId xmlns:a16="http://schemas.microsoft.com/office/drawing/2014/main" id="{72E62B7C-084B-4FA6-8E96-15968EFB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7E6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7E6F4"/>
                </a:solidFill>
                <a:latin typeface="Microsoft YaHei"/>
                <a:ea typeface="Microsoft YaHei"/>
                <a:cs typeface="Microsoft YaHei"/>
              </a:rPr>
              <a:t>用一句话概括核心判断与主要增长逻辑</a:t>
            </a:r>
          </a:p>
        </p:txBody>
      </p:sp>
      <p:cxnSp>
        <p:nvCxnSpPr>
          <p:cNvPr id="17" name="cover_rule"/>
          <p:cNvCxnSpPr/>
          <p:nvPr/>
        </p:nvCxnSpPr>
        <p:spPr>
          <a:xfrm xmlns:a="http://schemas.openxmlformats.org/drawingml/2006/main">
            <a:off x="704850" y="3638550"/>
            <a:ext cx="723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A6782"/>
            </a:solidFill>
            <a:prstDash val="solid"/>
          </a:ln>
        </p:spPr>
      </p:cxnSp>
      <p:sp>
        <p:nvSpPr>
          <p:cNvPr id="6" name="cover_meta">
            <a:extLst xmlns:a="http://schemas.openxmlformats.org/drawingml/2006/main">
              <a:ext uri="{FF2B5EF4-FFF2-40B4-BE49-F238E27FC236}">
                <a16:creationId xmlns:a16="http://schemas.microsoft.com/office/drawing/2014/main" id="{AD715C60-A248-401B-BE71-5D747A15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2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FD2E3"/>
                </a:solidFill>
                <a:latin typeface="Microsoft YaHei"/>
                <a:ea typeface="Microsoft YaHei"/>
                <a:cs typeface="Microsoft YaHei"/>
              </a:rPr>
              <a:t>股票代码：[000000]   ｜   报告日期：[YYYY-MM-DD]   ｜   汇报人：[姓名]</a:t>
            </a:r>
          </a:p>
        </p:txBody>
      </p:sp>
      <p:sp>
        <p:nvSpPr>
          <p:cNvPr id="7" name="cover_tag">
            <a:extLst xmlns:a="http://schemas.openxmlformats.org/drawingml/2006/main">
              <a:ext uri="{FF2B5EF4-FFF2-40B4-BE49-F238E27FC236}">
                <a16:creationId xmlns:a16="http://schemas.microsoft.com/office/drawing/2014/main" id="{EC65AA1E-28A8-44A0-91B1-7AE27616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86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rPr>
              <a:t>模板原型 v1.0</a:t>
            </a:r>
          </a:p>
        </p:txBody>
      </p:sp>
      <p:sp>
        <p:nvSpPr>
          <p:cNvPr id="8" name="cover_bar_1">
            <a:extLst xmlns:a="http://schemas.openxmlformats.org/drawingml/2006/main">
              <a:ext uri="{FF2B5EF4-FFF2-40B4-BE49-F238E27FC236}">
                <a16:creationId xmlns:a16="http://schemas.microsoft.com/office/drawing/2014/main" id="{14E6FB72-A0C1-480E-B218-742E7149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95800"/>
            <a:ext cx="304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9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_bar_2">
            <a:extLst xmlns:a="http://schemas.openxmlformats.org/drawingml/2006/main">
              <a:ext uri="{FF2B5EF4-FFF2-40B4-BE49-F238E27FC236}">
                <a16:creationId xmlns:a16="http://schemas.microsoft.com/office/drawing/2014/main" id="{83EB1AB3-A0E7-4383-93F9-132CD0BD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81450"/>
            <a:ext cx="304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9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_bar_3">
            <a:extLst xmlns:a="http://schemas.openxmlformats.org/drawingml/2006/main">
              <a:ext uri="{FF2B5EF4-FFF2-40B4-BE49-F238E27FC236}">
                <a16:creationId xmlns:a16="http://schemas.microsoft.com/office/drawing/2014/main" id="{A3935099-EF09-4C80-A8BB-4E4F41C1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71850"/>
            <a:ext cx="3048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9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ver_bar_4">
            <a:extLst xmlns:a="http://schemas.openxmlformats.org/drawingml/2006/main">
              <a:ext uri="{FF2B5EF4-FFF2-40B4-BE49-F238E27FC236}">
                <a16:creationId xmlns:a16="http://schemas.microsoft.com/office/drawing/2014/main" id="{C40C0491-CB72-4723-B6FD-2749DE03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609850"/>
            <a:ext cx="3048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_marker">
            <a:extLst xmlns:a="http://schemas.openxmlformats.org/drawingml/2006/main">
              <a:ext uri="{FF2B5EF4-FFF2-40B4-BE49-F238E27FC236}">
                <a16:creationId xmlns:a16="http://schemas.microsoft.com/office/drawing/2014/main" id="{C461E8C0-903C-441C-9B13-DF659689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53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A2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FA2BF"/>
                </a:solidFill>
                <a:latin typeface="Microsoft YaHei"/>
                <a:ea typeface="Microsoft YaHei"/>
                <a:cs typeface="Microsoft YaHei"/>
              </a:rPr>
              <a:t>01 / COVER</a:t>
            </a:r>
          </a:p>
        </p:txBody>
      </p:sp>
    </p:spTree>
    <p:extLst>
      <p:ext uri="{BB962C8B-B14F-4D97-AF65-F5344CB8AC3E}">
        <p14:creationId xmlns:p14="http://schemas.microsoft.com/office/powerpoint/2010/main" val="13672071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ayout_label">
            <a:extLst xmlns:a="http://schemas.openxmlformats.org/drawingml/2006/main"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从公司定位到估值结论，形成完整投资叙事</a:t>
            </a:r>
          </a:p>
        </p:txBody>
      </p:sp>
      <p:cxnSp>
        <p:nvCxnSpPr>
          <p:cNvPr id="32" name="header_rule"/>
          <p:cNvCxnSpPr/>
          <p:nvPr/>
        </p:nvCxn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 xmlns:a="http://schemas.openxmlformats.org/drawingml/2006/main"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 xmlns:a="http://schemas.openxmlformats.org/drawingml/2006/main"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agenda_no_1">
            <a:extLst xmlns:a="http://schemas.openxmlformats.org/drawingml/2006/main"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 xmlns:a="http://schemas.openxmlformats.org/drawingml/2006/main"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85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 xmlns:a="http://schemas.openxmlformats.org/drawingml/2006/main"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049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 xmlns:a="http://schemas.openxmlformats.org/drawingml/2006/main">
            <a:off x="609600" y="196215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 xmlns:a="http://schemas.openxmlformats.org/drawingml/2006/main"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 xmlns:a="http://schemas.openxmlformats.org/drawingml/2006/main"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 xmlns:a="http://schemas.openxmlformats.org/drawingml/2006/main"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28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 xmlns:a="http://schemas.openxmlformats.org/drawingml/2006/main">
            <a:off x="609600" y="268605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 xmlns:a="http://schemas.openxmlformats.org/drawingml/2006/main"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 xmlns:a="http://schemas.openxmlformats.org/drawingml/2006/main"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33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 xmlns:a="http://schemas.openxmlformats.org/drawingml/2006/main"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527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 xmlns:a="http://schemas.openxmlformats.org/drawingml/2006/main">
            <a:off x="609600" y="340995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 xmlns:a="http://schemas.openxmlformats.org/drawingml/2006/main"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 xmlns:a="http://schemas.openxmlformats.org/drawingml/2006/main"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 xmlns:a="http://schemas.openxmlformats.org/drawingml/2006/main"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76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 xmlns:a="http://schemas.openxmlformats.org/drawingml/2006/main">
            <a:off x="609600" y="413385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 xmlns:a="http://schemas.openxmlformats.org/drawingml/2006/main"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 xmlns:a="http://schemas.openxmlformats.org/drawingml/2006/main"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 xmlns:a="http://schemas.openxmlformats.org/drawingml/2006/main"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005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 xmlns:a="http://schemas.openxmlformats.org/drawingml/2006/main">
            <a:off x="609600" y="485775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 xmlns:a="http://schemas.openxmlformats.org/drawingml/2006/main"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 xmlns:a="http://schemas.openxmlformats.org/drawingml/2006/main"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05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 xmlns:a="http://schemas.openxmlformats.org/drawingml/2006/main"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244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 xmlns:a="http://schemas.openxmlformats.org/drawingml/2006/main">
            <a:off x="609600" y="558165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678578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ayout_label">
            <a:extLst xmlns:a="http://schemas.openxmlformats.org/drawingml/2006/main">
              <a:ext uri="{FF2B5EF4-FFF2-40B4-BE49-F238E27FC236}">
                <a16:creationId xmlns:a16="http://schemas.microsoft.com/office/drawing/2014/main" id="{87A32266-F64C-4F32-A885-69148836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4D607D6-BF83-46AB-8FE2-BA684D3A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核心结论应在一页内回答“为什么、凭什么、值多少”</a:t>
            </a:r>
          </a:p>
        </p:txBody>
      </p:sp>
      <p:cxnSp>
        <p:nvCxnSpPr>
          <p:cNvPr id="42" name="header_rule"/>
          <p:cNvCxnSpPr/>
          <p:nvPr/>
        </p:nvCxn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 xmlns:a="http://schemas.openxmlformats.org/drawingml/2006/main">
              <a:ext uri="{FF2B5EF4-FFF2-40B4-BE49-F238E27FC236}">
                <a16:creationId xmlns:a16="http://schemas.microsoft.com/office/drawing/2014/main" id="{776932F7-1C5F-42C1-BBA6-849D4DF4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EXECUTIVE SUMMARY</a:t>
            </a:r>
          </a:p>
        </p:txBody>
      </p:sp>
      <p:sp>
        <p:nvSpPr>
          <p:cNvPr id="5" name="page_no">
            <a:extLst xmlns:a="http://schemas.openxmlformats.org/drawingml/2006/main">
              <a:ext uri="{FF2B5EF4-FFF2-40B4-BE49-F238E27FC236}">
                <a16:creationId xmlns:a16="http://schemas.microsoft.com/office/drawing/2014/main" id="{05B5CE57-5A37-4768-A749-463D83AF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thesis">
            <a:extLst xmlns:a="http://schemas.openxmlformats.org/drawingml/2006/main">
              <a:ext uri="{FF2B5EF4-FFF2-40B4-BE49-F238E27FC236}">
                <a16:creationId xmlns:a16="http://schemas.microsoft.com/office/drawing/2014/main" id="{E02C9F05-747E-4269-978D-BD1255A5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[一句话投资结论] 基本盘修复叠加第二增长曲线，盈利中枢有望持续上移</a:t>
            </a:r>
          </a:p>
        </p:txBody>
      </p:sp>
      <p:sp>
        <p:nvSpPr>
          <p:cNvPr id="7" name="logic_1_panel">
            <a:extLst xmlns:a="http://schemas.openxmlformats.org/drawingml/2006/main">
              <a:ext uri="{FF2B5EF4-FFF2-40B4-BE49-F238E27FC236}">
                <a16:creationId xmlns:a16="http://schemas.microsoft.com/office/drawing/2014/main" id="{E1ACB846-57F4-44F5-862D-6189AC78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logic_1_kicker">
            <a:extLst xmlns:a="http://schemas.openxmlformats.org/drawingml/2006/main">
              <a:ext uri="{FF2B5EF4-FFF2-40B4-BE49-F238E27FC236}">
                <a16:creationId xmlns:a16="http://schemas.microsoft.com/office/drawing/2014/main" id="{8161AFA4-63B7-40F0-8387-B6F5F1F9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LOGIC 01</a:t>
            </a:r>
          </a:p>
        </p:txBody>
      </p:sp>
      <p:sp>
        <p:nvSpPr>
          <p:cNvPr id="9" name="logic_1_title">
            <a:extLst xmlns:a="http://schemas.openxmlformats.org/drawingml/2006/main">
              <a:ext uri="{FF2B5EF4-FFF2-40B4-BE49-F238E27FC236}">
                <a16:creationId xmlns:a16="http://schemas.microsoft.com/office/drawing/2014/main" id="{2A479AEF-E40F-4FCB-93DE-E4484095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基本盘恢复</a:t>
            </a:r>
          </a:p>
        </p:txBody>
      </p:sp>
      <p:sp>
        <p:nvSpPr>
          <p:cNvPr id="10" name="logic_1_body">
            <a:extLst xmlns:a="http://schemas.openxmlformats.org/drawingml/2006/main">
              <a:ext uri="{FF2B5EF4-FFF2-40B4-BE49-F238E27FC236}">
                <a16:creationId xmlns:a16="http://schemas.microsoft.com/office/drawing/2014/main" id="{4E4050C3-0CED-4C45-B35D-1BECF08C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行业需求回暖，库存与订单逐步恢复，主业进入稳健增长通道。</a:t>
            </a:r>
          </a:p>
        </p:txBody>
      </p:sp>
      <p:sp>
        <p:nvSpPr>
          <p:cNvPr id="11" name="logic_2_panel">
            <a:extLst xmlns:a="http://schemas.openxmlformats.org/drawingml/2006/main">
              <a:ext uri="{FF2B5EF4-FFF2-40B4-BE49-F238E27FC236}">
                <a16:creationId xmlns:a16="http://schemas.microsoft.com/office/drawing/2014/main" id="{06DFDFF3-B3A4-425B-BB0A-48720801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526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logic_2_kicker">
            <a:extLst xmlns:a="http://schemas.openxmlformats.org/drawingml/2006/main">
              <a:ext uri="{FF2B5EF4-FFF2-40B4-BE49-F238E27FC236}">
                <a16:creationId xmlns:a16="http://schemas.microsoft.com/office/drawing/2014/main" id="{6832AC6C-C45D-4DD7-8DDD-3E7BD00C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A3A5"/>
                </a:solidFill>
                <a:latin typeface="Microsoft YaHei"/>
                <a:ea typeface="Microsoft YaHei"/>
                <a:cs typeface="Microsoft YaHei"/>
              </a:rPr>
              <a:t>LOGIC 02</a:t>
            </a:r>
          </a:p>
        </p:txBody>
      </p:sp>
      <p:sp>
        <p:nvSpPr>
          <p:cNvPr id="13" name="logic_2_title">
            <a:extLst xmlns:a="http://schemas.openxmlformats.org/drawingml/2006/main">
              <a:ext uri="{FF2B5EF4-FFF2-40B4-BE49-F238E27FC236}">
                <a16:creationId xmlns:a16="http://schemas.microsoft.com/office/drawing/2014/main" id="{392C325A-59F6-423A-AFE4-80323BB7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结构持续升级</a:t>
            </a:r>
          </a:p>
        </p:txBody>
      </p:sp>
      <p:sp>
        <p:nvSpPr>
          <p:cNvPr id="14" name="logic_2_body">
            <a:extLst xmlns:a="http://schemas.openxmlformats.org/drawingml/2006/main">
              <a:ext uri="{FF2B5EF4-FFF2-40B4-BE49-F238E27FC236}">
                <a16:creationId xmlns:a16="http://schemas.microsoft.com/office/drawing/2014/main" id="{A071A6BF-5554-4717-B62E-7EEBE764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高毛利业务占比提升，产品、渠道与区域结构共同改善。</a:t>
            </a:r>
          </a:p>
        </p:txBody>
      </p:sp>
      <p:sp>
        <p:nvSpPr>
          <p:cNvPr id="15" name="logic_3_panel">
            <a:extLst xmlns:a="http://schemas.openxmlformats.org/drawingml/2006/main">
              <a:ext uri="{FF2B5EF4-FFF2-40B4-BE49-F238E27FC236}">
                <a16:creationId xmlns:a16="http://schemas.microsoft.com/office/drawing/2014/main" id="{402936F1-314D-4216-9B31-571C2087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526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logic_3_kicker">
            <a:extLst xmlns:a="http://schemas.openxmlformats.org/drawingml/2006/main">
              <a:ext uri="{FF2B5EF4-FFF2-40B4-BE49-F238E27FC236}">
                <a16:creationId xmlns:a16="http://schemas.microsoft.com/office/drawing/2014/main" id="{758824C8-EB2B-4E19-9F4C-13F118B4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2410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LOGIC 03</a:t>
            </a:r>
          </a:p>
        </p:txBody>
      </p:sp>
      <p:sp>
        <p:nvSpPr>
          <p:cNvPr id="17" name="logic_3_title">
            <a:extLst xmlns:a="http://schemas.openxmlformats.org/drawingml/2006/main">
              <a:ext uri="{FF2B5EF4-FFF2-40B4-BE49-F238E27FC236}">
                <a16:creationId xmlns:a16="http://schemas.microsoft.com/office/drawing/2014/main" id="{2102A71D-FE2D-442A-A130-6F361666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9080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新业务打开空间</a:t>
            </a:r>
          </a:p>
        </p:txBody>
      </p:sp>
      <p:sp>
        <p:nvSpPr>
          <p:cNvPr id="18" name="logic_3_body">
            <a:extLst xmlns:a="http://schemas.openxmlformats.org/drawingml/2006/main">
              <a:ext uri="{FF2B5EF4-FFF2-40B4-BE49-F238E27FC236}">
                <a16:creationId xmlns:a16="http://schemas.microsoft.com/office/drawing/2014/main" id="{B963D5BF-E31F-4EC5-9536-AC5EC778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新产品、新市场或新产能逐步兑现，形成第二增长曲线。</a:t>
            </a:r>
          </a:p>
        </p:txBody>
      </p:sp>
      <p:sp>
        <p:nvSpPr>
          <p:cNvPr id="19" name="metric_2026E营收增速_panel">
            <a:extLst xmlns:a="http://schemas.openxmlformats.org/drawingml/2006/main">
              <a:ext uri="{FF2B5EF4-FFF2-40B4-BE49-F238E27FC236}">
                <a16:creationId xmlns:a16="http://schemas.microsoft.com/office/drawing/2014/main" id="{8553F02B-9746-43AF-823D-96563BB3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5241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metric_2026E营收增速_accent">
            <a:extLst xmlns:a="http://schemas.openxmlformats.org/drawingml/2006/main">
              <a:ext uri="{FF2B5EF4-FFF2-40B4-BE49-F238E27FC236}">
                <a16:creationId xmlns:a16="http://schemas.microsoft.com/office/drawing/2014/main" id="{262D680B-954F-45D4-99E6-8C48AAEE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66675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metric_2026E营收增速_value">
            <a:extLst xmlns:a="http://schemas.openxmlformats.org/drawingml/2006/main">
              <a:ext uri="{FF2B5EF4-FFF2-40B4-BE49-F238E27FC236}">
                <a16:creationId xmlns:a16="http://schemas.microsoft.com/office/drawing/2014/main" id="{C34B3472-D51D-4D3D-9E17-08CD6C13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+18.4%</a:t>
            </a:r>
          </a:p>
        </p:txBody>
      </p:sp>
      <p:sp>
        <p:nvSpPr>
          <p:cNvPr id="22" name="metric_2026E营收增速_label">
            <a:extLst xmlns:a="http://schemas.openxmlformats.org/drawingml/2006/main">
              <a:ext uri="{FF2B5EF4-FFF2-40B4-BE49-F238E27FC236}">
                <a16:creationId xmlns:a16="http://schemas.microsoft.com/office/drawing/2014/main" id="{1F7E36E7-3A4B-4FAD-9E10-4C64A87A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2026E营收增速</a:t>
            </a:r>
          </a:p>
        </p:txBody>
      </p:sp>
      <p:sp>
        <p:nvSpPr>
          <p:cNvPr id="23" name="metric_2026E营收增速_note">
            <a:extLst xmlns:a="http://schemas.openxmlformats.org/drawingml/2006/main">
              <a:ext uri="{FF2B5EF4-FFF2-40B4-BE49-F238E27FC236}">
                <a16:creationId xmlns:a16="http://schemas.microsoft.com/office/drawing/2014/main" id="{300FFF2F-DBDB-4924-A440-6BB86E66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2143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示例指标</a:t>
            </a:r>
          </a:p>
        </p:txBody>
      </p:sp>
      <p:sp>
        <p:nvSpPr>
          <p:cNvPr id="24" name="metric_2026E毛利率_panel">
            <a:extLst xmlns:a="http://schemas.openxmlformats.org/drawingml/2006/main">
              <a:ext uri="{FF2B5EF4-FFF2-40B4-BE49-F238E27FC236}">
                <a16:creationId xmlns:a16="http://schemas.microsoft.com/office/drawing/2014/main" id="{D9296ED6-64E0-4D16-B672-08A5E995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171950"/>
            <a:ext cx="25241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metric_2026E毛利率_accent">
            <a:extLst xmlns:a="http://schemas.openxmlformats.org/drawingml/2006/main">
              <a:ext uri="{FF2B5EF4-FFF2-40B4-BE49-F238E27FC236}">
                <a16:creationId xmlns:a16="http://schemas.microsoft.com/office/drawing/2014/main" id="{A3300F19-C8CC-4738-8E43-E7DD7FEF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171950"/>
            <a:ext cx="66675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etric_2026E毛利率_value">
            <a:extLst xmlns:a="http://schemas.openxmlformats.org/drawingml/2006/main">
              <a:ext uri="{FF2B5EF4-FFF2-40B4-BE49-F238E27FC236}">
                <a16:creationId xmlns:a16="http://schemas.microsoft.com/office/drawing/2014/main" id="{E46419D5-9150-4A14-A173-2AA28BA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3434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31.7%</a:t>
            </a:r>
          </a:p>
        </p:txBody>
      </p:sp>
      <p:sp>
        <p:nvSpPr>
          <p:cNvPr id="27" name="metric_2026E毛利率_label">
            <a:extLst xmlns:a="http://schemas.openxmlformats.org/drawingml/2006/main">
              <a:ext uri="{FF2B5EF4-FFF2-40B4-BE49-F238E27FC236}">
                <a16:creationId xmlns:a16="http://schemas.microsoft.com/office/drawing/2014/main" id="{17E57E0C-00F2-4746-ADB8-32549478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7815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2026E毛利率</a:t>
            </a:r>
          </a:p>
        </p:txBody>
      </p:sp>
      <p:sp>
        <p:nvSpPr>
          <p:cNvPr id="28" name="metric_2026E毛利率_note">
            <a:extLst xmlns:a="http://schemas.openxmlformats.org/drawingml/2006/main">
              <a:ext uri="{FF2B5EF4-FFF2-40B4-BE49-F238E27FC236}">
                <a16:creationId xmlns:a16="http://schemas.microsoft.com/office/drawing/2014/main" id="{B5196859-3C3F-46F6-82AD-ECDA002E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029200"/>
            <a:ext cx="2143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示例指标</a:t>
            </a:r>
          </a:p>
        </p:txBody>
      </p:sp>
      <p:sp>
        <p:nvSpPr>
          <p:cNvPr id="29" name="metric_未来利润CAGR_panel">
            <a:extLst xmlns:a="http://schemas.openxmlformats.org/drawingml/2006/main">
              <a:ext uri="{FF2B5EF4-FFF2-40B4-BE49-F238E27FC236}">
                <a16:creationId xmlns:a16="http://schemas.microsoft.com/office/drawing/2014/main" id="{94BEE263-6632-4A4D-BDD7-A96ACBD4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71950"/>
            <a:ext cx="25241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metric_未来利润CAGR_accent">
            <a:extLst xmlns:a="http://schemas.openxmlformats.org/drawingml/2006/main">
              <a:ext uri="{FF2B5EF4-FFF2-40B4-BE49-F238E27FC236}">
                <a16:creationId xmlns:a16="http://schemas.microsoft.com/office/drawing/2014/main" id="{E6B67477-0D70-4B67-B17A-DB009592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71950"/>
            <a:ext cx="66675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etric_未来利润CAGR_value">
            <a:extLst xmlns:a="http://schemas.openxmlformats.org/drawingml/2006/main">
              <a:ext uri="{FF2B5EF4-FFF2-40B4-BE49-F238E27FC236}">
                <a16:creationId xmlns:a16="http://schemas.microsoft.com/office/drawing/2014/main" id="{25919A12-372E-4A6B-B710-FA846123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434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20%+</a:t>
            </a:r>
          </a:p>
        </p:txBody>
      </p:sp>
      <p:sp>
        <p:nvSpPr>
          <p:cNvPr id="32" name="metric_未来利润CAGR_label">
            <a:extLst xmlns:a="http://schemas.openxmlformats.org/drawingml/2006/main">
              <a:ext uri="{FF2B5EF4-FFF2-40B4-BE49-F238E27FC236}">
                <a16:creationId xmlns:a16="http://schemas.microsoft.com/office/drawing/2014/main" id="{F0D34E29-7787-4B88-BE71-33921C24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未来利润CAGR</a:t>
            </a:r>
          </a:p>
        </p:txBody>
      </p:sp>
      <p:sp>
        <p:nvSpPr>
          <p:cNvPr id="33" name="metric_未来利润CAGR_note">
            <a:extLst xmlns:a="http://schemas.openxmlformats.org/drawingml/2006/main">
              <a:ext uri="{FF2B5EF4-FFF2-40B4-BE49-F238E27FC236}">
                <a16:creationId xmlns:a16="http://schemas.microsoft.com/office/drawing/2014/main" id="{2FF849BD-0683-4A55-8D54-6C403A8A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29200"/>
            <a:ext cx="2143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示例指标</a:t>
            </a:r>
          </a:p>
        </p:txBody>
      </p:sp>
      <p:sp>
        <p:nvSpPr>
          <p:cNvPr id="34" name="metric_2026E PE_panel">
            <a:extLst xmlns:a="http://schemas.openxmlformats.org/drawingml/2006/main">
              <a:ext uri="{FF2B5EF4-FFF2-40B4-BE49-F238E27FC236}">
                <a16:creationId xmlns:a16="http://schemas.microsoft.com/office/drawing/2014/main" id="{6DB23C60-4E91-441B-8D05-5715E778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71950"/>
            <a:ext cx="2476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metric_2026E PE_accent">
            <a:extLst xmlns:a="http://schemas.openxmlformats.org/drawingml/2006/main">
              <a:ext uri="{FF2B5EF4-FFF2-40B4-BE49-F238E27FC236}">
                <a16:creationId xmlns:a16="http://schemas.microsoft.com/office/drawing/2014/main" id="{DBBA8E95-9BE0-442F-A479-692AA932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71950"/>
            <a:ext cx="66675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metric_2026E PE_value">
            <a:extLst xmlns:a="http://schemas.openxmlformats.org/drawingml/2006/main">
              <a:ext uri="{FF2B5EF4-FFF2-40B4-BE49-F238E27FC236}">
                <a16:creationId xmlns:a16="http://schemas.microsoft.com/office/drawing/2014/main" id="{160E4720-2072-440F-8F0A-905AD9D2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343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9.7×</a:t>
            </a:r>
          </a:p>
        </p:txBody>
      </p:sp>
      <p:sp>
        <p:nvSpPr>
          <p:cNvPr id="37" name="metric_2026E PE_label">
            <a:extLst xmlns:a="http://schemas.openxmlformats.org/drawingml/2006/main">
              <a:ext uri="{FF2B5EF4-FFF2-40B4-BE49-F238E27FC236}">
                <a16:creationId xmlns:a16="http://schemas.microsoft.com/office/drawing/2014/main" id="{F7CB6373-09DF-4319-B644-8390374D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781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2026E PE</a:t>
            </a:r>
          </a:p>
        </p:txBody>
      </p:sp>
      <p:sp>
        <p:nvSpPr>
          <p:cNvPr id="38" name="metric_2026E PE_note">
            <a:extLst xmlns:a="http://schemas.openxmlformats.org/drawingml/2006/main">
              <a:ext uri="{FF2B5EF4-FFF2-40B4-BE49-F238E27FC236}">
                <a16:creationId xmlns:a16="http://schemas.microsoft.com/office/drawing/2014/main" id="{BA33E313-28D2-4EAC-8AF1-F84BEE83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029200"/>
            <a:ext cx="2095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示例指标</a:t>
            </a:r>
          </a:p>
        </p:txBody>
      </p:sp>
      <p:sp>
        <p:nvSpPr>
          <p:cNvPr id="39" name="source">
            <a:extLst xmlns:a="http://schemas.openxmlformats.org/drawingml/2006/main">
              <a:ext uri="{FF2B5EF4-FFF2-40B4-BE49-F238E27FC236}">
                <a16:creationId xmlns:a16="http://schemas.microsoft.com/office/drawing/2014/main" id="{B984E004-3A70-46A2-9DF1-AC008409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说明：本页为模板示例，关键指标应由大纲JSON自动填充。示例参考：002444_2025-09-21.md</a:t>
            </a:r>
          </a:p>
        </p:txBody>
      </p:sp>
    </p:spTree>
    <p:extLst>
      <p:ext uri="{BB962C8B-B14F-4D97-AF65-F5344CB8AC3E}">
        <p14:creationId xmlns:p14="http://schemas.microsoft.com/office/powerpoint/2010/main" val="1665830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ayout_label">
            <a:extLst xmlns:a="http://schemas.openxmlformats.org/drawingml/2006/main">
              <a:ext uri="{FF2B5EF4-FFF2-40B4-BE49-F238E27FC236}">
                <a16:creationId xmlns:a16="http://schemas.microsoft.com/office/drawing/2014/main" id="{6670B102-C39D-40D6-98E4-9AFC7993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9169E1F-9C99-4EA5-BAA1-07DCD0D2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公司概览要同时说明“做什么、靠什么、规模多大”</a:t>
            </a:r>
          </a:p>
        </p:txBody>
      </p:sp>
      <p:cxnSp>
        <p:nvCxnSpPr>
          <p:cNvPr id="30" name="header_rule"/>
          <p:cNvCxnSpPr/>
          <p:nvPr/>
        </p:nvCxn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 xmlns:a="http://schemas.openxmlformats.org/drawingml/2006/main">
              <a:ext uri="{FF2B5EF4-FFF2-40B4-BE49-F238E27FC236}">
                <a16:creationId xmlns:a16="http://schemas.microsoft.com/office/drawing/2014/main" id="{FA88F099-A6BB-42C3-8F54-A96A8FE1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COMPANY OVERVIEW</a:t>
            </a:r>
          </a:p>
        </p:txBody>
      </p:sp>
      <p:sp>
        <p:nvSpPr>
          <p:cNvPr id="5" name="page_no">
            <a:extLst xmlns:a="http://schemas.openxmlformats.org/drawingml/2006/main">
              <a:ext uri="{FF2B5EF4-FFF2-40B4-BE49-F238E27FC236}">
                <a16:creationId xmlns:a16="http://schemas.microsoft.com/office/drawing/2014/main" id="{1AD37A2F-05C1-4E57-8878-29F60E71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company_identity_panel">
            <a:extLst xmlns:a="http://schemas.openxmlformats.org/drawingml/2006/main">
              <a:ext uri="{FF2B5EF4-FFF2-40B4-BE49-F238E27FC236}">
                <a16:creationId xmlns:a16="http://schemas.microsoft.com/office/drawing/2014/main" id="{8DAF08DA-8FD8-4E6C-9ED9-9052586E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429000" cy="41719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pany_name">
            <a:extLst xmlns:a="http://schemas.openxmlformats.org/drawingml/2006/main">
              <a:ext uri="{FF2B5EF4-FFF2-40B4-BE49-F238E27FC236}">
                <a16:creationId xmlns:a16="http://schemas.microsoft.com/office/drawing/2014/main" id="{B637A20D-2AC3-45C0-9F8B-A2C6FC36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[公司名称]</a:t>
            </a:r>
          </a:p>
        </p:txBody>
      </p:sp>
      <p:sp>
        <p:nvSpPr>
          <p:cNvPr id="8" name="company_code">
            <a:extLst xmlns:a="http://schemas.openxmlformats.org/drawingml/2006/main">
              <a:ext uri="{FF2B5EF4-FFF2-40B4-BE49-F238E27FC236}">
                <a16:creationId xmlns:a16="http://schemas.microsoft.com/office/drawing/2014/main" id="{8C6909D6-68C9-4945-9EC4-C4D32B1D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rPr>
              <a:t>股票代码 000000</a:t>
            </a:r>
          </a:p>
        </p:txBody>
      </p:sp>
      <p:sp>
        <p:nvSpPr>
          <p:cNvPr id="9" name="company_positioning">
            <a:extLst xmlns:a="http://schemas.openxmlformats.org/drawingml/2006/main">
              <a:ext uri="{FF2B5EF4-FFF2-40B4-BE49-F238E27FC236}">
                <a16:creationId xmlns:a16="http://schemas.microsoft.com/office/drawing/2014/main" id="{2659B415-D9AE-4032-85AC-10AEA669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27813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F0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8F0F7"/>
                </a:solidFill>
                <a:latin typeface="Microsoft YaHei"/>
                <a:ea typeface="Microsoft YaHei"/>
                <a:cs typeface="Microsoft YaHei"/>
              </a:rPr>
              <a:t>一句话公司定位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8F0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8F0F7"/>
                </a:solidFill>
                <a:latin typeface="Microsoft YaHei"/>
                <a:ea typeface="Microsoft YaHei"/>
                <a:cs typeface="Microsoft YaHei"/>
              </a:rPr>
              <a:t>• 核心业务：[业务A / 业务B]</a:t>
            </a:r>
          </a:p>
          <a:p xmlns:a="http://schemas.openxmlformats.org/drawingml/2006/main">
            <a:pPr algn="l">
              <a:defRPr sz="1350" b="0">
                <a:solidFill>
                  <a:srgbClr val="E8F0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8F0F7"/>
                </a:solidFill>
                <a:latin typeface="Microsoft YaHei"/>
                <a:ea typeface="Microsoft YaHei"/>
                <a:cs typeface="Microsoft YaHei"/>
              </a:rPr>
              <a:t>• 主要市场：[地区 / 客群]</a:t>
            </a:r>
          </a:p>
          <a:p xmlns:a="http://schemas.openxmlformats.org/drawingml/2006/main">
            <a:pPr algn="l">
              <a:defRPr sz="1350" b="0">
                <a:solidFill>
                  <a:srgbClr val="E8F0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8F0F7"/>
                </a:solidFill>
                <a:latin typeface="Microsoft YaHei"/>
                <a:ea typeface="Microsoft YaHei"/>
                <a:cs typeface="Microsoft YaHei"/>
              </a:rPr>
              <a:t>• 商业模式：[产品 / 服务]</a:t>
            </a:r>
          </a:p>
          <a:p xmlns:a="http://schemas.openxmlformats.org/drawingml/2006/main">
            <a:pPr algn="l">
              <a:defRPr sz="1350" b="0">
                <a:solidFill>
                  <a:srgbClr val="E8F0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8F0F7"/>
                </a:solidFill>
                <a:latin typeface="Microsoft YaHei"/>
                <a:ea typeface="Microsoft YaHei"/>
                <a:cs typeface="Microsoft YaHei"/>
              </a:rPr>
              <a:t>• 竞争标签：[龙头 / 卡位]</a:t>
            </a:r>
          </a:p>
        </p:txBody>
      </p:sp>
      <p:sp>
        <p:nvSpPr>
          <p:cNvPr id="10" name="business_a_panel">
            <a:extLst xmlns:a="http://schemas.openxmlformats.org/drawingml/2006/main">
              <a:ext uri="{FF2B5EF4-FFF2-40B4-BE49-F238E27FC236}">
                <a16:creationId xmlns:a16="http://schemas.microsoft.com/office/drawing/2014/main" id="{F1A556D0-C87D-499E-9205-17AF4AD5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66850"/>
            <a:ext cx="3286125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business_a_kicker">
            <a:extLst xmlns:a="http://schemas.openxmlformats.org/drawingml/2006/main">
              <a:ext uri="{FF2B5EF4-FFF2-40B4-BE49-F238E27FC236}">
                <a16:creationId xmlns:a16="http://schemas.microsoft.com/office/drawing/2014/main" id="{1494732C-A07D-4391-88A4-B8ADE313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38300"/>
            <a:ext cx="2905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BUSINESS A</a:t>
            </a:r>
          </a:p>
        </p:txBody>
      </p:sp>
      <p:sp>
        <p:nvSpPr>
          <p:cNvPr id="12" name="business_a_title">
            <a:extLst xmlns:a="http://schemas.openxmlformats.org/drawingml/2006/main">
              <a:ext uri="{FF2B5EF4-FFF2-40B4-BE49-F238E27FC236}">
                <a16:creationId xmlns:a16="http://schemas.microsoft.com/office/drawing/2014/main" id="{E21842C1-7438-472C-9A76-F98FF391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0500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核心业务</a:t>
            </a:r>
          </a:p>
        </p:txBody>
      </p:sp>
      <p:sp>
        <p:nvSpPr>
          <p:cNvPr id="13" name="business_a_body">
            <a:extLst xmlns:a="http://schemas.openxmlformats.org/drawingml/2006/main">
              <a:ext uri="{FF2B5EF4-FFF2-40B4-BE49-F238E27FC236}">
                <a16:creationId xmlns:a16="http://schemas.microsoft.com/office/drawing/2014/main" id="{0D91DA4D-AA3B-4B63-8AB0-266BA146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05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收入规模最大，贡献稳定现金流，是当前盈利基本盘。</a:t>
            </a:r>
          </a:p>
        </p:txBody>
      </p:sp>
      <p:sp>
        <p:nvSpPr>
          <p:cNvPr id="14" name="business_b_panel">
            <a:extLst xmlns:a="http://schemas.openxmlformats.org/drawingml/2006/main">
              <a:ext uri="{FF2B5EF4-FFF2-40B4-BE49-F238E27FC236}">
                <a16:creationId xmlns:a16="http://schemas.microsoft.com/office/drawing/2014/main" id="{C5E6F9C6-3FF7-4FB5-9BDC-389D7D9B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66850"/>
            <a:ext cx="3286125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business_b_kicker">
            <a:extLst xmlns:a="http://schemas.openxmlformats.org/drawingml/2006/main">
              <a:ext uri="{FF2B5EF4-FFF2-40B4-BE49-F238E27FC236}">
                <a16:creationId xmlns:a16="http://schemas.microsoft.com/office/drawing/2014/main" id="{EE8AFB08-B2C3-4E5C-895D-8CC28ABA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38300"/>
            <a:ext cx="2905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A3A5"/>
                </a:solidFill>
                <a:latin typeface="Microsoft YaHei"/>
                <a:ea typeface="Microsoft YaHei"/>
                <a:cs typeface="Microsoft YaHei"/>
              </a:rPr>
              <a:t>BUSINESS B</a:t>
            </a:r>
          </a:p>
        </p:txBody>
      </p:sp>
      <p:sp>
        <p:nvSpPr>
          <p:cNvPr id="16" name="business_b_title">
            <a:extLst xmlns:a="http://schemas.openxmlformats.org/drawingml/2006/main">
              <a:ext uri="{FF2B5EF4-FFF2-40B4-BE49-F238E27FC236}">
                <a16:creationId xmlns:a16="http://schemas.microsoft.com/office/drawing/2014/main" id="{2A7C3D12-243F-4166-839D-515C744E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0500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成长业务</a:t>
            </a:r>
          </a:p>
        </p:txBody>
      </p:sp>
      <p:sp>
        <p:nvSpPr>
          <p:cNvPr id="17" name="business_b_body">
            <a:extLst xmlns:a="http://schemas.openxmlformats.org/drawingml/2006/main">
              <a:ext uri="{FF2B5EF4-FFF2-40B4-BE49-F238E27FC236}">
                <a16:creationId xmlns:a16="http://schemas.microsoft.com/office/drawing/2014/main" id="{999A8DC3-F873-462B-90F7-ABC2EA9E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19350"/>
            <a:ext cx="2905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受行业景气或产品升级驱动，增长快于公司整体。</a:t>
            </a:r>
          </a:p>
        </p:txBody>
      </p:sp>
      <p:sp>
        <p:nvSpPr>
          <p:cNvPr id="18" name="business_c_panel">
            <a:extLst xmlns:a="http://schemas.openxmlformats.org/drawingml/2006/main">
              <a:ext uri="{FF2B5EF4-FFF2-40B4-BE49-F238E27FC236}">
                <a16:creationId xmlns:a16="http://schemas.microsoft.com/office/drawing/2014/main" id="{3E774FF0-C4E6-44DC-9A4E-DB366DAB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52800"/>
            <a:ext cx="3286125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business_c_kicker">
            <a:extLst xmlns:a="http://schemas.openxmlformats.org/drawingml/2006/main">
              <a:ext uri="{FF2B5EF4-FFF2-40B4-BE49-F238E27FC236}">
                <a16:creationId xmlns:a16="http://schemas.microsoft.com/office/drawing/2014/main" id="{A9FF9503-3A8B-486A-A4EF-41FC7FA3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24250"/>
            <a:ext cx="2905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BUSINESS C</a:t>
            </a:r>
          </a:p>
        </p:txBody>
      </p:sp>
      <p:sp>
        <p:nvSpPr>
          <p:cNvPr id="20" name="business_c_title">
            <a:extLst xmlns:a="http://schemas.openxmlformats.org/drawingml/2006/main">
              <a:ext uri="{FF2B5EF4-FFF2-40B4-BE49-F238E27FC236}">
                <a16:creationId xmlns:a16="http://schemas.microsoft.com/office/drawing/2014/main" id="{0D8B2393-B1E9-466C-B79D-1C54B76E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909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战略业务</a:t>
            </a:r>
          </a:p>
        </p:txBody>
      </p:sp>
      <p:sp>
        <p:nvSpPr>
          <p:cNvPr id="21" name="business_c_body">
            <a:extLst xmlns:a="http://schemas.openxmlformats.org/drawingml/2006/main">
              <a:ext uri="{FF2B5EF4-FFF2-40B4-BE49-F238E27FC236}">
                <a16:creationId xmlns:a16="http://schemas.microsoft.com/office/drawing/2014/main" id="{9E812279-75F6-4E1E-8960-543DFEC8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05300"/>
            <a:ext cx="2905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处于导入或产能爬坡阶段，承载中长期估值弹性。</a:t>
            </a:r>
          </a:p>
        </p:txBody>
      </p:sp>
      <p:sp>
        <p:nvSpPr>
          <p:cNvPr id="22" name="metric_年度营业收入_panel">
            <a:extLst xmlns:a="http://schemas.openxmlformats.org/drawingml/2006/main">
              <a:ext uri="{FF2B5EF4-FFF2-40B4-BE49-F238E27FC236}">
                <a16:creationId xmlns:a16="http://schemas.microsoft.com/office/drawing/2014/main" id="{008EA5BA-6687-4ABA-AA55-2ED162C8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52800"/>
            <a:ext cx="32861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metric_年度营业收入_accent">
            <a:extLst xmlns:a="http://schemas.openxmlformats.org/drawingml/2006/main">
              <a:ext uri="{FF2B5EF4-FFF2-40B4-BE49-F238E27FC236}">
                <a16:creationId xmlns:a16="http://schemas.microsoft.com/office/drawing/2014/main" id="{E5C60F17-1EC7-411E-88D1-E4090DB7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52800"/>
            <a:ext cx="66675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etric_年度营业收入_value">
            <a:extLst xmlns:a="http://schemas.openxmlformats.org/drawingml/2006/main">
              <a:ext uri="{FF2B5EF4-FFF2-40B4-BE49-F238E27FC236}">
                <a16:creationId xmlns:a16="http://schemas.microsoft.com/office/drawing/2014/main" id="{1E8DFD53-A651-4D79-ACCD-E48AA0C1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2425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[XX]亿元</a:t>
            </a:r>
          </a:p>
        </p:txBody>
      </p:sp>
      <p:sp>
        <p:nvSpPr>
          <p:cNvPr id="25" name="metric_年度营业收入_label">
            <a:extLst xmlns:a="http://schemas.openxmlformats.org/drawingml/2006/main">
              <a:ext uri="{FF2B5EF4-FFF2-40B4-BE49-F238E27FC236}">
                <a16:creationId xmlns:a16="http://schemas.microsoft.com/office/drawing/2014/main" id="{CBA7AEBC-11CC-4829-85A7-59BA9675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6240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年度营业收入</a:t>
            </a:r>
          </a:p>
        </p:txBody>
      </p:sp>
      <p:sp>
        <p:nvSpPr>
          <p:cNvPr id="26" name="metric_年度营业收入_note">
            <a:extLst xmlns:a="http://schemas.openxmlformats.org/drawingml/2006/main">
              <a:ext uri="{FF2B5EF4-FFF2-40B4-BE49-F238E27FC236}">
                <a16:creationId xmlns:a16="http://schemas.microsoft.com/office/drawing/2014/main" id="{FB54D2A9-E108-4B3D-B28A-583E247F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10050"/>
            <a:ext cx="2905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最近一个完整财年</a:t>
            </a:r>
          </a:p>
        </p:txBody>
      </p:sp>
      <p:sp>
        <p:nvSpPr>
          <p:cNvPr id="27" name="source">
            <a:extLst xmlns:a="http://schemas.openxmlformats.org/drawingml/2006/main">
              <a:ext uri="{FF2B5EF4-FFF2-40B4-BE49-F238E27FC236}">
                <a16:creationId xmlns:a16="http://schemas.microsoft.com/office/drawing/2014/main" id="{31BEC700-6CF4-469E-96A4-391BD350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建议字段：company_profile / business_segments / key_metrics / market_position / source_refs</a:t>
            </a:r>
          </a:p>
        </p:txBody>
      </p:sp>
    </p:spTree>
    <p:extLst>
      <p:ext uri="{BB962C8B-B14F-4D97-AF65-F5344CB8AC3E}">
        <p14:creationId xmlns:p14="http://schemas.microsoft.com/office/powerpoint/2010/main" val="1346002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ayout_label">
            <a:extLst xmlns:a="http://schemas.openxmlformats.org/drawingml/2006/main">
              <a:ext uri="{FF2B5EF4-FFF2-40B4-BE49-F238E27FC236}">
                <a16:creationId xmlns:a16="http://schemas.microsoft.com/office/drawing/2014/main" id="{A5D0C36E-BDF1-4C43-975D-FF0DE2DC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13A0122-0B38-41F0-A0EA-295A67C5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发展历程只保留改变公司增长曲线的关键节点</a:t>
            </a:r>
          </a:p>
        </p:txBody>
      </p:sp>
      <p:cxnSp>
        <p:nvCxnSpPr>
          <p:cNvPr id="26" name="header_rule"/>
          <p:cNvCxnSpPr/>
          <p:nvPr/>
        </p:nvCxn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 xmlns:a="http://schemas.openxmlformats.org/drawingml/2006/main">
              <a:ext uri="{FF2B5EF4-FFF2-40B4-BE49-F238E27FC236}">
                <a16:creationId xmlns:a16="http://schemas.microsoft.com/office/drawing/2014/main" id="{CAEE6875-A506-416E-A044-C9D07EF0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TIMELINE</a:t>
            </a:r>
          </a:p>
        </p:txBody>
      </p:sp>
      <p:sp>
        <p:nvSpPr>
          <p:cNvPr id="5" name="page_no">
            <a:extLst xmlns:a="http://schemas.openxmlformats.org/drawingml/2006/main">
              <a:ext uri="{FF2B5EF4-FFF2-40B4-BE49-F238E27FC236}">
                <a16:creationId xmlns:a16="http://schemas.microsoft.com/office/drawing/2014/main" id="{5A46B6AF-F845-49BF-BFB3-EFA51342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cxnSp>
        <p:nvCxnSpPr>
          <p:cNvPr id="29" name="timeline_line"/>
          <p:cNvCxnSpPr/>
          <p:nvPr/>
        </p:nvCxnSpPr>
        <p:spPr>
          <a:xfrm xmlns:a="http://schemas.openxmlformats.org/drawingml/2006/main">
            <a:off x="857250" y="342900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</a:ln>
        </p:spPr>
      </p:cxnSp>
      <p:sp>
        <p:nvSpPr>
          <p:cNvPr id="7" name="timeline_dot_1">
            <a:extLst xmlns:a="http://schemas.openxmlformats.org/drawingml/2006/main">
              <a:ext uri="{FF2B5EF4-FFF2-40B4-BE49-F238E27FC236}">
                <a16:creationId xmlns:a16="http://schemas.microsoft.com/office/drawing/2014/main" id="{CE7F47C1-BF6D-405C-A045-01B251DB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242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_stage_1">
            <a:extLst xmlns:a="http://schemas.openxmlformats.org/drawingml/2006/main">
              <a:ext uri="{FF2B5EF4-FFF2-40B4-BE49-F238E27FC236}">
                <a16:creationId xmlns:a16="http://schemas.microsoft.com/office/drawing/2014/main" id="{9D38ED63-B44C-48C1-8D0B-C725568D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阶段一</a:t>
            </a:r>
          </a:p>
        </p:txBody>
      </p:sp>
      <p:sp>
        <p:nvSpPr>
          <p:cNvPr id="9" name="timeline_title_1">
            <a:extLst xmlns:a="http://schemas.openxmlformats.org/drawingml/2006/main">
              <a:ext uri="{FF2B5EF4-FFF2-40B4-BE49-F238E27FC236}">
                <a16:creationId xmlns:a16="http://schemas.microsoft.com/office/drawing/2014/main" id="{04259CDA-927E-42D5-8987-968E0A00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创业与主业建立</a:t>
            </a:r>
          </a:p>
        </p:txBody>
      </p:sp>
      <p:sp>
        <p:nvSpPr>
          <p:cNvPr id="10" name="timeline_body_1">
            <a:extLst xmlns:a="http://schemas.openxmlformats.org/drawingml/2006/main">
              <a:ext uri="{FF2B5EF4-FFF2-40B4-BE49-F238E27FC236}">
                <a16:creationId xmlns:a16="http://schemas.microsoft.com/office/drawing/2014/main" id="{4F60C10D-C49F-490D-A48E-F92874FC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形成核心产品与基础客户</a:t>
            </a:r>
          </a:p>
        </p:txBody>
      </p:sp>
      <p:sp>
        <p:nvSpPr>
          <p:cNvPr id="11" name="timeline_dot_2">
            <a:extLst xmlns:a="http://schemas.openxmlformats.org/drawingml/2006/main">
              <a:ext uri="{FF2B5EF4-FFF2-40B4-BE49-F238E27FC236}">
                <a16:creationId xmlns:a16="http://schemas.microsoft.com/office/drawing/2014/main" id="{AD50A6D7-4E0F-4232-9F31-E1312DFA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242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_stage_2">
            <a:extLst xmlns:a="http://schemas.openxmlformats.org/drawingml/2006/main">
              <a:ext uri="{FF2B5EF4-FFF2-40B4-BE49-F238E27FC236}">
                <a16:creationId xmlns:a16="http://schemas.microsoft.com/office/drawing/2014/main" id="{071CD41F-D5C1-4CE3-B380-E104373B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阶段二</a:t>
            </a:r>
          </a:p>
        </p:txBody>
      </p:sp>
      <p:sp>
        <p:nvSpPr>
          <p:cNvPr id="13" name="timeline_title_2">
            <a:extLst xmlns:a="http://schemas.openxmlformats.org/drawingml/2006/main">
              <a:ext uri="{FF2B5EF4-FFF2-40B4-BE49-F238E27FC236}">
                <a16:creationId xmlns:a16="http://schemas.microsoft.com/office/drawing/2014/main" id="{6F328300-6640-4F98-9619-D404C6A9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29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业务扩张</a:t>
            </a:r>
          </a:p>
        </p:txBody>
      </p:sp>
      <p:sp>
        <p:nvSpPr>
          <p:cNvPr id="14" name="timeline_body_2">
            <a:extLst xmlns:a="http://schemas.openxmlformats.org/drawingml/2006/main">
              <a:ext uri="{FF2B5EF4-FFF2-40B4-BE49-F238E27FC236}">
                <a16:creationId xmlns:a16="http://schemas.microsoft.com/office/drawing/2014/main" id="{EC9BA6D2-9122-45B6-B03C-30B9590F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481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并购、品类或区域拓展</a:t>
            </a:r>
          </a:p>
        </p:txBody>
      </p:sp>
      <p:sp>
        <p:nvSpPr>
          <p:cNvPr id="15" name="timeline_dot_3">
            <a:extLst xmlns:a="http://schemas.openxmlformats.org/drawingml/2006/main">
              <a:ext uri="{FF2B5EF4-FFF2-40B4-BE49-F238E27FC236}">
                <a16:creationId xmlns:a16="http://schemas.microsoft.com/office/drawing/2014/main" id="{F6B524B7-E4DD-4E29-9E02-B9A4E586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242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eline_stage_3">
            <a:extLst xmlns:a="http://schemas.openxmlformats.org/drawingml/2006/main">
              <a:ext uri="{FF2B5EF4-FFF2-40B4-BE49-F238E27FC236}">
                <a16:creationId xmlns:a16="http://schemas.microsoft.com/office/drawing/2014/main" id="{0585894E-AC79-4F04-9018-49B23271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阶段三</a:t>
            </a:r>
          </a:p>
        </p:txBody>
      </p:sp>
      <p:sp>
        <p:nvSpPr>
          <p:cNvPr id="17" name="timeline_title_3">
            <a:extLst xmlns:a="http://schemas.openxmlformats.org/drawingml/2006/main">
              <a:ext uri="{FF2B5EF4-FFF2-40B4-BE49-F238E27FC236}">
                <a16:creationId xmlns:a16="http://schemas.microsoft.com/office/drawing/2014/main" id="{6D3B4A3A-5669-409D-97AD-EE1525F4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29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结构升级</a:t>
            </a:r>
          </a:p>
        </p:txBody>
      </p:sp>
      <p:sp>
        <p:nvSpPr>
          <p:cNvPr id="18" name="timeline_body_3">
            <a:extLst xmlns:a="http://schemas.openxmlformats.org/drawingml/2006/main">
              <a:ext uri="{FF2B5EF4-FFF2-40B4-BE49-F238E27FC236}">
                <a16:creationId xmlns:a16="http://schemas.microsoft.com/office/drawing/2014/main" id="{063A5E72-93C8-4BE8-90D2-84411E20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481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高毛利业务占比提升</a:t>
            </a:r>
          </a:p>
        </p:txBody>
      </p:sp>
      <p:sp>
        <p:nvSpPr>
          <p:cNvPr id="19" name="timeline_dot_4">
            <a:extLst xmlns:a="http://schemas.openxmlformats.org/drawingml/2006/main">
              <a:ext uri="{FF2B5EF4-FFF2-40B4-BE49-F238E27FC236}">
                <a16:creationId xmlns:a16="http://schemas.microsoft.com/office/drawing/2014/main" id="{57032A00-E6EF-49C9-AEB1-D1250C76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242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eline_stage_4">
            <a:extLst xmlns:a="http://schemas.openxmlformats.org/drawingml/2006/main">
              <a:ext uri="{FF2B5EF4-FFF2-40B4-BE49-F238E27FC236}">
                <a16:creationId xmlns:a16="http://schemas.microsoft.com/office/drawing/2014/main" id="{A380D438-C638-4AAA-B9FF-E8FB95A3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阶段四</a:t>
            </a:r>
          </a:p>
        </p:txBody>
      </p:sp>
      <p:sp>
        <p:nvSpPr>
          <p:cNvPr id="21" name="timeline_title_4">
            <a:extLst xmlns:a="http://schemas.openxmlformats.org/drawingml/2006/main">
              <a:ext uri="{FF2B5EF4-FFF2-40B4-BE49-F238E27FC236}">
                <a16:creationId xmlns:a16="http://schemas.microsoft.com/office/drawing/2014/main" id="{552E1ED2-9B74-4A75-B5EA-006EC3AC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29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第二增长曲线</a:t>
            </a:r>
          </a:p>
        </p:txBody>
      </p:sp>
      <p:sp>
        <p:nvSpPr>
          <p:cNvPr id="22" name="timeline_body_4">
            <a:extLst xmlns:a="http://schemas.openxmlformats.org/drawingml/2006/main">
              <a:ext uri="{FF2B5EF4-FFF2-40B4-BE49-F238E27FC236}">
                <a16:creationId xmlns:a16="http://schemas.microsoft.com/office/drawing/2014/main" id="{EF67E4D4-9B6B-4554-A3DE-053CF164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481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新业务进入兑现期</a:t>
            </a:r>
          </a:p>
        </p:txBody>
      </p:sp>
      <p:sp>
        <p:nvSpPr>
          <p:cNvPr id="23" name="timeline_takeaway">
            <a:extLst xmlns:a="http://schemas.openxmlformats.org/drawingml/2006/main">
              <a:ext uri="{FF2B5EF4-FFF2-40B4-BE49-F238E27FC236}">
                <a16:creationId xmlns:a16="http://schemas.microsoft.com/office/drawing/2014/main" id="{D8FCFF6B-2C1C-4E68-AA91-C23D3460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模板规则：每页建议保留3—5个节点；日期为辅助信息，战略含义才是主角。</a:t>
            </a:r>
          </a:p>
        </p:txBody>
      </p:sp>
    </p:spTree>
    <p:extLst>
      <p:ext uri="{BB962C8B-B14F-4D97-AF65-F5344CB8AC3E}">
        <p14:creationId xmlns:p14="http://schemas.microsoft.com/office/powerpoint/2010/main" val="17295448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ayout_label">
            <a:extLst xmlns:a="http://schemas.openxmlformats.org/drawingml/2006/main">
              <a:ext uri="{FF2B5EF4-FFF2-40B4-BE49-F238E27FC236}">
                <a16:creationId xmlns:a16="http://schemas.microsoft.com/office/drawing/2014/main" id="{CECBE0C8-30CB-4B89-A4AD-B9F11B07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02B0BE5-0BEC-4A68-8224-ABF4018D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收入由三大业务构成，利润贡献取决于规模与毛利率的组合</a:t>
            </a:r>
          </a:p>
        </p:txBody>
      </p:sp>
      <p:cxnSp>
        <p:nvCxnSpPr>
          <p:cNvPr id="15" name="header_rule"/>
          <p:cNvCxnSpPr/>
          <p:nvPr/>
        </p:nvCxn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 xmlns:a="http://schemas.openxmlformats.org/drawingml/2006/main">
              <a:ext uri="{FF2B5EF4-FFF2-40B4-BE49-F238E27FC236}">
                <a16:creationId xmlns:a16="http://schemas.microsoft.com/office/drawing/2014/main" id="{4036D69E-8B07-4490-A945-6C8B21C8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BUSINESS STRUCTURE</a:t>
            </a:r>
          </a:p>
        </p:txBody>
      </p:sp>
      <p:sp>
        <p:nvSpPr>
          <p:cNvPr id="5" name="page_no">
            <a:extLst xmlns:a="http://schemas.openxmlformats.org/drawingml/2006/main">
              <a:ext uri="{FF2B5EF4-FFF2-40B4-BE49-F238E27FC236}">
                <a16:creationId xmlns:a16="http://schemas.microsoft.com/office/drawing/2014/main" id="{C6BB5734-5727-41F2-A13C-9AD48844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chart_left_panel">
            <a:extLst xmlns:a="http://schemas.openxmlformats.org/drawingml/2006/main">
              <a:ext uri="{FF2B5EF4-FFF2-40B4-BE49-F238E27FC236}">
                <a16:creationId xmlns:a16="http://schemas.microsoft.com/office/drawing/2014/main" id="{4B119C63-DFD5-42EE-9435-6939FECA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387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chart_right_panel">
            <a:extLst xmlns:a="http://schemas.openxmlformats.org/drawingml/2006/main">
              <a:ext uri="{FF2B5EF4-FFF2-40B4-BE49-F238E27FC236}">
                <a16:creationId xmlns:a16="http://schemas.microsoft.com/office/drawing/2014/main" id="{1CC74FD7-CB59-4635-B45B-C221EDC7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153025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chart_left_title">
            <a:extLst xmlns:a="http://schemas.openxmlformats.org/drawingml/2006/main">
              <a:ext uri="{FF2B5EF4-FFF2-40B4-BE49-F238E27FC236}">
                <a16:creationId xmlns:a16="http://schemas.microsoft.com/office/drawing/2014/main" id="{045B816B-ACEC-43FA-8790-2D51901F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2024年分业务收入（亿元）</a:t>
            </a:r>
          </a:p>
        </p:txBody>
      </p:sp>
      <p:sp>
        <p:nvSpPr>
          <p:cNvPr id="9" name="chart_right_title">
            <a:extLst xmlns:a="http://schemas.openxmlformats.org/drawingml/2006/main">
              <a:ext uri="{FF2B5EF4-FFF2-40B4-BE49-F238E27FC236}">
                <a16:creationId xmlns:a16="http://schemas.microsoft.com/office/drawing/2014/main" id="{0742FE6E-8D25-4FD3-B367-F06B7E92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2024年分业务毛利率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819150" y="2057400"/>
          <a:ext xmlns:a="http://schemas.openxmlformats.org/drawingml/2006/main" cx="4762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e6d4a3cdf14607"/>
          </a:graphicData>
        </a:graphic>
      </p:graphicFrame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286500" y="2057400"/>
          <a:ext xmlns:a="http://schemas.openxmlformats.org/drawingml/2006/main" cx="46863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634692c5cb46d4"/>
          </a:graphicData>
        </a:graphic>
      </p:graphicFrame>
      <p:sp>
        <p:nvSpPr>
          <p:cNvPr id="12" name="source">
            <a:extLst xmlns:a="http://schemas.openxmlformats.org/drawingml/2006/main">
              <a:ext uri="{FF2B5EF4-FFF2-40B4-BE49-F238E27FC236}">
                <a16:creationId xmlns:a16="http://schemas.microsoft.com/office/drawing/2014/main" id="{E7550007-CCBA-45DA-AD5F-7BAF8FCB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示例数据：002444_2025-09-21.md；单位及百分比须从结构化数据显式传入。</a:t>
            </a:r>
          </a:p>
        </p:txBody>
      </p:sp>
    </p:spTree>
    <p:extLst>
      <p:ext uri="{BB962C8B-B14F-4D97-AF65-F5344CB8AC3E}">
        <p14:creationId xmlns:p14="http://schemas.microsoft.com/office/powerpoint/2010/main" val="18674602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ayout_label">
            <a:extLst xmlns:a="http://schemas.openxmlformats.org/drawingml/2006/main">
              <a:ext uri="{FF2B5EF4-FFF2-40B4-BE49-F238E27FC236}">
                <a16:creationId xmlns:a16="http://schemas.microsoft.com/office/drawing/2014/main" id="{2511E593-E75E-4558-B980-1A287AF3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79C353D-3FDF-41B6-856D-F219DF2A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行业空间页要把趋势与驱动因素连接起来，而不是只展示市场规模</a:t>
            </a:r>
          </a:p>
        </p:txBody>
      </p:sp>
      <p:cxnSp>
        <p:nvCxnSpPr>
          <p:cNvPr id="24" name="header_rule"/>
          <p:cNvCxnSpPr/>
          <p:nvPr/>
        </p:nvCxn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 xmlns:a="http://schemas.openxmlformats.org/drawingml/2006/main">
              <a:ext uri="{FF2B5EF4-FFF2-40B4-BE49-F238E27FC236}">
                <a16:creationId xmlns:a16="http://schemas.microsoft.com/office/drawing/2014/main" id="{BD762504-C570-4861-9206-4D25D3D5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INDUSTRY OUTLOOK</a:t>
            </a:r>
          </a:p>
        </p:txBody>
      </p:sp>
      <p:sp>
        <p:nvSpPr>
          <p:cNvPr id="5" name="page_no">
            <a:extLst xmlns:a="http://schemas.openxmlformats.org/drawingml/2006/main">
              <a:ext uri="{FF2B5EF4-FFF2-40B4-BE49-F238E27FC236}">
                <a16:creationId xmlns:a16="http://schemas.microsoft.com/office/drawing/2014/main" id="{BE213035-EEAD-4DA1-8771-43BD6A4D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industry_chart_panel">
            <a:extLst xmlns:a="http://schemas.openxmlformats.org/drawingml/2006/main">
              <a:ext uri="{FF2B5EF4-FFF2-40B4-BE49-F238E27FC236}">
                <a16:creationId xmlns:a16="http://schemas.microsoft.com/office/drawing/2014/main" id="{E88471D8-6BF8-4D93-8DB8-4FB4C4FD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334125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industry_chart_title">
            <a:extLst xmlns:a="http://schemas.openxmlformats.org/drawingml/2006/main">
              <a:ext uri="{FF2B5EF4-FFF2-40B4-BE49-F238E27FC236}">
                <a16:creationId xmlns:a16="http://schemas.microsoft.com/office/drawing/2014/main" id="{25DF816B-1A88-4EA1-8769-FD7A31CA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行业规模指数（示例）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819150" y="2095500"/>
          <a:ext xmlns:a="http://schemas.openxmlformats.org/drawingml/2006/main" cx="58674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24f04187af4bf4"/>
          </a:graphicData>
        </a:graphic>
      </p:graphicFrame>
      <p:sp>
        <p:nvSpPr>
          <p:cNvPr id="9" name="driver_1_panel">
            <a:extLst xmlns:a="http://schemas.openxmlformats.org/drawingml/2006/main">
              <a:ext uri="{FF2B5EF4-FFF2-40B4-BE49-F238E27FC236}">
                <a16:creationId xmlns:a16="http://schemas.microsoft.com/office/drawing/2014/main" id="{9917C85B-35A3-4405-9F85-6C47B277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466850"/>
            <a:ext cx="4000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driver_1_kicker">
            <a:extLst xmlns:a="http://schemas.openxmlformats.org/drawingml/2006/main">
              <a:ext uri="{FF2B5EF4-FFF2-40B4-BE49-F238E27FC236}">
                <a16:creationId xmlns:a16="http://schemas.microsoft.com/office/drawing/2014/main" id="{0CDCA5AD-1B82-4818-81EC-1ED200CB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6383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DRIVER 01</a:t>
            </a:r>
          </a:p>
        </p:txBody>
      </p:sp>
      <p:sp>
        <p:nvSpPr>
          <p:cNvPr id="11" name="driver_1_title">
            <a:extLst xmlns:a="http://schemas.openxmlformats.org/drawingml/2006/main">
              <a:ext uri="{FF2B5EF4-FFF2-40B4-BE49-F238E27FC236}">
                <a16:creationId xmlns:a16="http://schemas.microsoft.com/office/drawing/2014/main" id="{E71C5C91-0439-495B-8993-246EB700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9050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12" name="driver_1_body">
            <a:extLst xmlns:a="http://schemas.openxmlformats.org/drawingml/2006/main">
              <a:ext uri="{FF2B5EF4-FFF2-40B4-BE49-F238E27FC236}">
                <a16:creationId xmlns:a16="http://schemas.microsoft.com/office/drawing/2014/main" id="{9912295D-7205-4A15-9204-02DCAD5B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419350"/>
            <a:ext cx="3619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终端需求恢复或新场景扩容。</a:t>
            </a:r>
          </a:p>
        </p:txBody>
      </p:sp>
      <p:sp>
        <p:nvSpPr>
          <p:cNvPr id="13" name="driver_2_panel">
            <a:extLst xmlns:a="http://schemas.openxmlformats.org/drawingml/2006/main">
              <a:ext uri="{FF2B5EF4-FFF2-40B4-BE49-F238E27FC236}">
                <a16:creationId xmlns:a16="http://schemas.microsoft.com/office/drawing/2014/main" id="{40678E19-F8B3-4ADE-A8A7-BFC7B2DE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914650"/>
            <a:ext cx="4000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driver_2_kicker">
            <a:extLst xmlns:a="http://schemas.openxmlformats.org/drawingml/2006/main">
              <a:ext uri="{FF2B5EF4-FFF2-40B4-BE49-F238E27FC236}">
                <a16:creationId xmlns:a16="http://schemas.microsoft.com/office/drawing/2014/main" id="{021939ED-64D3-4219-B260-2FC56E34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0861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A3A5"/>
                </a:solidFill>
                <a:latin typeface="Microsoft YaHei"/>
                <a:ea typeface="Microsoft YaHei"/>
                <a:cs typeface="Microsoft YaHei"/>
              </a:rPr>
              <a:t>DRIVER 02</a:t>
            </a:r>
          </a:p>
        </p:txBody>
      </p:sp>
      <p:sp>
        <p:nvSpPr>
          <p:cNvPr id="15" name="driver_2_title">
            <a:extLst xmlns:a="http://schemas.openxmlformats.org/drawingml/2006/main">
              <a:ext uri="{FF2B5EF4-FFF2-40B4-BE49-F238E27FC236}">
                <a16:creationId xmlns:a16="http://schemas.microsoft.com/office/drawing/2014/main" id="{FA2DE271-60CD-4096-94F7-785F65CF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3528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</p:txBody>
      </p:sp>
      <p:sp>
        <p:nvSpPr>
          <p:cNvPr id="16" name="driver_2_body">
            <a:extLst xmlns:a="http://schemas.openxmlformats.org/drawingml/2006/main">
              <a:ext uri="{FF2B5EF4-FFF2-40B4-BE49-F238E27FC236}">
                <a16:creationId xmlns:a16="http://schemas.microsoft.com/office/drawing/2014/main" id="{C103E205-59C7-4718-A48D-9BD0CC64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867150"/>
            <a:ext cx="3619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产品升级带来渗透率与价值量提升。</a:t>
            </a:r>
          </a:p>
        </p:txBody>
      </p:sp>
      <p:sp>
        <p:nvSpPr>
          <p:cNvPr id="17" name="driver_3_panel">
            <a:extLst xmlns:a="http://schemas.openxmlformats.org/drawingml/2006/main">
              <a:ext uri="{FF2B5EF4-FFF2-40B4-BE49-F238E27FC236}">
                <a16:creationId xmlns:a16="http://schemas.microsoft.com/office/drawing/2014/main" id="{636B10DC-B8D0-42F7-8635-868CF1B2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362450"/>
            <a:ext cx="4000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driver_3_kicker">
            <a:extLst xmlns:a="http://schemas.openxmlformats.org/drawingml/2006/main">
              <a:ext uri="{FF2B5EF4-FFF2-40B4-BE49-F238E27FC236}">
                <a16:creationId xmlns:a16="http://schemas.microsoft.com/office/drawing/2014/main" id="{5B5F760D-47D5-4659-8F09-305107A1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5339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DRIVER 03</a:t>
            </a:r>
          </a:p>
        </p:txBody>
      </p:sp>
      <p:sp>
        <p:nvSpPr>
          <p:cNvPr id="19" name="driver_3_title">
            <a:extLst xmlns:a="http://schemas.openxmlformats.org/drawingml/2006/main">
              <a:ext uri="{FF2B5EF4-FFF2-40B4-BE49-F238E27FC236}">
                <a16:creationId xmlns:a16="http://schemas.microsoft.com/office/drawing/2014/main" id="{19A6C3F8-FB34-4F18-8263-3E94B8C2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8006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政策 / 周期</a:t>
            </a:r>
          </a:p>
        </p:txBody>
      </p:sp>
      <p:sp>
        <p:nvSpPr>
          <p:cNvPr id="20" name="driver_3_body">
            <a:extLst xmlns:a="http://schemas.openxmlformats.org/drawingml/2006/main">
              <a:ext uri="{FF2B5EF4-FFF2-40B4-BE49-F238E27FC236}">
                <a16:creationId xmlns:a16="http://schemas.microsoft.com/office/drawing/2014/main" id="{3D0BA9A2-4E61-4BBB-88EC-01BF8021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314950"/>
            <a:ext cx="3619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政策落地、库存周期或资本开支变化。</a:t>
            </a:r>
          </a:p>
        </p:txBody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A20A5CD1-8054-4A94-8459-3240299E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模板规则：主趋势图只承载一个核心指标；驱动因素控制在3项以内。</a:t>
            </a:r>
          </a:p>
        </p:txBody>
      </p:sp>
    </p:spTree>
    <p:extLst>
      <p:ext uri="{BB962C8B-B14F-4D97-AF65-F5344CB8AC3E}">
        <p14:creationId xmlns:p14="http://schemas.microsoft.com/office/powerpoint/2010/main" val="11165410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ayout_label">
            <a:extLst xmlns:a="http://schemas.openxmlformats.org/drawingml/2006/main">
              <a:ext uri="{FF2B5EF4-FFF2-40B4-BE49-F238E27FC236}">
                <a16:creationId xmlns:a16="http://schemas.microsoft.com/office/drawing/2014/main" id="{468B5591-05F8-4742-804A-D2DE5564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5BD1EDB-C611-4A35-95C8-8F039147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竞争优势来自能力组合，而不是单一指标领先</a:t>
            </a:r>
          </a:p>
        </p:txBody>
      </p:sp>
      <p:cxnSp>
        <p:nvCxnSpPr>
          <p:cNvPr id="34" name="header_rule"/>
          <p:cNvCxnSpPr/>
          <p:nvPr/>
        </p:nvCxn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 xmlns:a="http://schemas.openxmlformats.org/drawingml/2006/main">
              <a:ext uri="{FF2B5EF4-FFF2-40B4-BE49-F238E27FC236}">
                <a16:creationId xmlns:a16="http://schemas.microsoft.com/office/drawing/2014/main" id="{4CB605C6-0DE9-4FD7-9F5E-CDFDF86F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COMPETITIVE LANDSCAPE</a:t>
            </a:r>
          </a:p>
        </p:txBody>
      </p:sp>
      <p:sp>
        <p:nvSpPr>
          <p:cNvPr id="5" name="page_no">
            <a:extLst xmlns:a="http://schemas.openxmlformats.org/drawingml/2006/main">
              <a:ext uri="{FF2B5EF4-FFF2-40B4-BE49-F238E27FC236}">
                <a16:creationId xmlns:a16="http://schemas.microsoft.com/office/drawing/2014/main" id="{D0039276-2D7D-498D-BCA9-D5A0D6D1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matrix_panel">
            <a:extLst xmlns:a="http://schemas.openxmlformats.org/drawingml/2006/main">
              <a:ext uri="{FF2B5EF4-FFF2-40B4-BE49-F238E27FC236}">
                <a16:creationId xmlns:a16="http://schemas.microsoft.com/office/drawing/2014/main" id="{C8311209-5772-4983-A3B2-16B1A166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66750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cxnSp>
        <p:nvCxnSpPr>
          <p:cNvPr id="38" name="matrix_x"/>
          <p:cNvCxnSpPr/>
          <p:nvPr/>
        </p:nvCxnSpPr>
        <p:spPr>
          <a:xfrm xmlns:a="http://schemas.openxmlformats.org/drawingml/2006/main">
            <a:off x="1276350" y="500062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</a:ln>
        </p:spPr>
      </p:cxnSp>
      <p:cxnSp>
        <p:nvCxnSpPr>
          <p:cNvPr id="39" name="matrix_y"/>
          <p:cNvCxnSpPr/>
          <p:nvPr/>
        </p:nvCxnSpPr>
        <p:spPr>
          <a:xfrm xmlns:a="http://schemas.openxmlformats.org/drawingml/2006/main">
            <a:off x="1276350" y="2095500"/>
            <a:ext cx="0" cy="29051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</a:ln>
        </p:spPr>
      </p:cxnSp>
      <p:sp>
        <p:nvSpPr>
          <p:cNvPr id="9" name="matrix_x_label">
            <a:extLst xmlns:a="http://schemas.openxmlformats.org/drawingml/2006/main">
              <a:ext uri="{FF2B5EF4-FFF2-40B4-BE49-F238E27FC236}">
                <a16:creationId xmlns:a16="http://schemas.microsoft.com/office/drawing/2014/main" id="{6E99D22E-91E1-4F88-BFEC-94B1CC9B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19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业务覆盖广度 →</a:t>
            </a:r>
          </a:p>
        </p:txBody>
      </p:sp>
      <p:sp>
        <p:nvSpPr>
          <p:cNvPr id="10" name="matrix_y_label">
            <a:extLst xmlns:a="http://schemas.openxmlformats.org/drawingml/2006/main">
              <a:ext uri="{FF2B5EF4-FFF2-40B4-BE49-F238E27FC236}">
                <a16:creationId xmlns:a16="http://schemas.microsoft.com/office/drawing/2014/main" id="{094EFDF7-CA58-42D3-84EB-38F3F221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技术 / 渠道壁垒 ↑</a:t>
            </a:r>
          </a:p>
        </p:txBody>
      </p:sp>
      <p:sp>
        <p:nvSpPr>
          <p:cNvPr id="11" name="matrix_point_1">
            <a:extLst xmlns:a="http://schemas.openxmlformats.org/drawingml/2006/main">
              <a:ext uri="{FF2B5EF4-FFF2-40B4-BE49-F238E27FC236}">
                <a16:creationId xmlns:a16="http://schemas.microsoft.com/office/drawing/2014/main" id="{ADE598CF-17C3-43F2-A871-DC8ACCDE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95750"/>
            <a:ext cx="666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atrix_label_1">
            <a:extLst xmlns:a="http://schemas.openxmlformats.org/drawingml/2006/main">
              <a:ext uri="{FF2B5EF4-FFF2-40B4-BE49-F238E27FC236}">
                <a16:creationId xmlns:a16="http://schemas.microsoft.com/office/drawing/2014/main" id="{D0F29822-16B7-4629-BA79-71A55E6E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152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公司B</a:t>
            </a:r>
          </a:p>
        </p:txBody>
      </p:sp>
      <p:sp>
        <p:nvSpPr>
          <p:cNvPr id="13" name="matrix_point_2">
            <a:extLst xmlns:a="http://schemas.openxmlformats.org/drawingml/2006/main">
              <a:ext uri="{FF2B5EF4-FFF2-40B4-BE49-F238E27FC236}">
                <a16:creationId xmlns:a16="http://schemas.microsoft.com/office/drawing/2014/main" id="{29108712-2DAA-44F5-A1F2-83891C4B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76625"/>
            <a:ext cx="666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6A3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trix_label_2">
            <a:extLst xmlns:a="http://schemas.openxmlformats.org/drawingml/2006/main">
              <a:ext uri="{FF2B5EF4-FFF2-40B4-BE49-F238E27FC236}">
                <a16:creationId xmlns:a16="http://schemas.microsoft.com/office/drawing/2014/main" id="{523ABA59-841A-4105-BD19-31324649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337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公司C</a:t>
            </a:r>
          </a:p>
        </p:txBody>
      </p:sp>
      <p:sp>
        <p:nvSpPr>
          <p:cNvPr id="15" name="matrix_point_3">
            <a:extLst xmlns:a="http://schemas.openxmlformats.org/drawingml/2006/main">
              <a:ext uri="{FF2B5EF4-FFF2-40B4-BE49-F238E27FC236}">
                <a16:creationId xmlns:a16="http://schemas.microsoft.com/office/drawing/2014/main" id="{D4BA78A8-0089-4FE9-8C63-F746EE52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90800"/>
            <a:ext cx="876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atrix_label_3">
            <a:extLst xmlns:a="http://schemas.openxmlformats.org/drawingml/2006/main">
              <a:ext uri="{FF2B5EF4-FFF2-40B4-BE49-F238E27FC236}">
                <a16:creationId xmlns:a16="http://schemas.microsoft.com/office/drawing/2014/main" id="{38333B2C-30FA-4F6D-9FDC-21920298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479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目标公司</a:t>
            </a:r>
          </a:p>
        </p:txBody>
      </p:sp>
      <p:sp>
        <p:nvSpPr>
          <p:cNvPr id="17" name="matrix_point_4">
            <a:extLst xmlns:a="http://schemas.openxmlformats.org/drawingml/2006/main">
              <a:ext uri="{FF2B5EF4-FFF2-40B4-BE49-F238E27FC236}">
                <a16:creationId xmlns:a16="http://schemas.microsoft.com/office/drawing/2014/main" id="{83351A77-44D6-4BC1-9CF4-9EA64B84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9875"/>
            <a:ext cx="666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atrix_label_4">
            <a:extLst xmlns:a="http://schemas.openxmlformats.org/drawingml/2006/main">
              <a:ext uri="{FF2B5EF4-FFF2-40B4-BE49-F238E27FC236}">
                <a16:creationId xmlns:a16="http://schemas.microsoft.com/office/drawing/2014/main" id="{A290BA67-1B17-4D50-8935-1677A7F2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670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公司A</a:t>
            </a:r>
          </a:p>
        </p:txBody>
      </p:sp>
      <p:sp>
        <p:nvSpPr>
          <p:cNvPr id="19" name="moat_1_panel">
            <a:extLst xmlns:a="http://schemas.openxmlformats.org/drawingml/2006/main">
              <a:ext uri="{FF2B5EF4-FFF2-40B4-BE49-F238E27FC236}">
                <a16:creationId xmlns:a16="http://schemas.microsoft.com/office/drawing/2014/main" id="{EC14A3CF-8769-4B3C-BD0F-C4FB062E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466850"/>
            <a:ext cx="366712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moat_1_kicker">
            <a:extLst xmlns:a="http://schemas.openxmlformats.org/drawingml/2006/main">
              <a:ext uri="{FF2B5EF4-FFF2-40B4-BE49-F238E27FC236}">
                <a16:creationId xmlns:a16="http://schemas.microsoft.com/office/drawing/2014/main" id="{62A0433A-39F1-4676-90F0-3D360B49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38300"/>
            <a:ext cx="328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MOAT 01</a:t>
            </a:r>
          </a:p>
        </p:txBody>
      </p:sp>
      <p:sp>
        <p:nvSpPr>
          <p:cNvPr id="21" name="moat_1_title">
            <a:extLst xmlns:a="http://schemas.openxmlformats.org/drawingml/2006/main">
              <a:ext uri="{FF2B5EF4-FFF2-40B4-BE49-F238E27FC236}">
                <a16:creationId xmlns:a16="http://schemas.microsoft.com/office/drawing/2014/main" id="{F93A4AF0-0E0C-453C-988E-88432B4B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05000"/>
            <a:ext cx="328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客户与渠道</a:t>
            </a:r>
          </a:p>
        </p:txBody>
      </p:sp>
      <p:sp>
        <p:nvSpPr>
          <p:cNvPr id="22" name="moat_1_body">
            <a:extLst xmlns:a="http://schemas.openxmlformats.org/drawingml/2006/main">
              <a:ext uri="{FF2B5EF4-FFF2-40B4-BE49-F238E27FC236}">
                <a16:creationId xmlns:a16="http://schemas.microsoft.com/office/drawing/2014/main" id="{5F1D1A25-219F-4E74-8094-6893301F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19350"/>
            <a:ext cx="32861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长期合作关系与全球渠道形成进入壁垒。</a:t>
            </a:r>
          </a:p>
        </p:txBody>
      </p:sp>
      <p:sp>
        <p:nvSpPr>
          <p:cNvPr id="23" name="moat_2_panel">
            <a:extLst xmlns:a="http://schemas.openxmlformats.org/drawingml/2006/main">
              <a:ext uri="{FF2B5EF4-FFF2-40B4-BE49-F238E27FC236}">
                <a16:creationId xmlns:a16="http://schemas.microsoft.com/office/drawing/2014/main" id="{D54F06C1-F33A-4487-A4E6-03148456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95600"/>
            <a:ext cx="366712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moat_2_kicker">
            <a:extLst xmlns:a="http://schemas.openxmlformats.org/drawingml/2006/main">
              <a:ext uri="{FF2B5EF4-FFF2-40B4-BE49-F238E27FC236}">
                <a16:creationId xmlns:a16="http://schemas.microsoft.com/office/drawing/2014/main" id="{9818FF00-2E76-4A24-8C60-C64B39AB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67050"/>
            <a:ext cx="328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A3A5"/>
                </a:solidFill>
                <a:latin typeface="Microsoft YaHei"/>
                <a:ea typeface="Microsoft YaHei"/>
                <a:cs typeface="Microsoft YaHei"/>
              </a:rPr>
              <a:t>MOAT 02</a:t>
            </a:r>
          </a:p>
        </p:txBody>
      </p:sp>
      <p:sp>
        <p:nvSpPr>
          <p:cNvPr id="25" name="moat_2_title">
            <a:extLst xmlns:a="http://schemas.openxmlformats.org/drawingml/2006/main">
              <a:ext uri="{FF2B5EF4-FFF2-40B4-BE49-F238E27FC236}">
                <a16:creationId xmlns:a16="http://schemas.microsoft.com/office/drawing/2014/main" id="{B0051D6F-5A5C-419B-BF72-CAEC3902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33750"/>
            <a:ext cx="328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技术与资质</a:t>
            </a:r>
          </a:p>
        </p:txBody>
      </p:sp>
      <p:sp>
        <p:nvSpPr>
          <p:cNvPr id="26" name="moat_2_body">
            <a:extLst xmlns:a="http://schemas.openxmlformats.org/drawingml/2006/main">
              <a:ext uri="{FF2B5EF4-FFF2-40B4-BE49-F238E27FC236}">
                <a16:creationId xmlns:a16="http://schemas.microsoft.com/office/drawing/2014/main" id="{24A37F77-4361-4719-A80C-C6DFA4B3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48100"/>
            <a:ext cx="32861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研发、认证和交付能力决定高价值项目获取。</a:t>
            </a:r>
          </a:p>
        </p:txBody>
      </p:sp>
      <p:sp>
        <p:nvSpPr>
          <p:cNvPr id="27" name="moat_3_panel">
            <a:extLst xmlns:a="http://schemas.openxmlformats.org/drawingml/2006/main">
              <a:ext uri="{FF2B5EF4-FFF2-40B4-BE49-F238E27FC236}">
                <a16:creationId xmlns:a16="http://schemas.microsoft.com/office/drawing/2014/main" id="{88DBA0AB-A1FF-4761-BEBC-CA19E49E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324350"/>
            <a:ext cx="366712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moat_3_kicker">
            <a:extLst xmlns:a="http://schemas.openxmlformats.org/drawingml/2006/main">
              <a:ext uri="{FF2B5EF4-FFF2-40B4-BE49-F238E27FC236}">
                <a16:creationId xmlns:a16="http://schemas.microsoft.com/office/drawing/2014/main" id="{C89E4B59-83F4-441F-867D-9D7FCDF1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95800"/>
            <a:ext cx="328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MOAT 03</a:t>
            </a:r>
          </a:p>
        </p:txBody>
      </p:sp>
      <p:sp>
        <p:nvSpPr>
          <p:cNvPr id="29" name="moat_3_title">
            <a:extLst xmlns:a="http://schemas.openxmlformats.org/drawingml/2006/main">
              <a:ext uri="{FF2B5EF4-FFF2-40B4-BE49-F238E27FC236}">
                <a16:creationId xmlns:a16="http://schemas.microsoft.com/office/drawing/2014/main" id="{CDA21202-2B43-41F9-918B-BE7704F4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62500"/>
            <a:ext cx="328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规模与协同</a:t>
            </a:r>
          </a:p>
        </p:txBody>
      </p:sp>
      <p:sp>
        <p:nvSpPr>
          <p:cNvPr id="30" name="moat_3_body">
            <a:extLst xmlns:a="http://schemas.openxmlformats.org/drawingml/2006/main">
              <a:ext uri="{FF2B5EF4-FFF2-40B4-BE49-F238E27FC236}">
                <a16:creationId xmlns:a16="http://schemas.microsoft.com/office/drawing/2014/main" id="{A9D7A3ED-A4D4-4F57-8ADD-47AC2BEE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276850"/>
            <a:ext cx="32861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多业务协同和供应链效率支撑盈利韧性。</a:t>
            </a:r>
          </a:p>
        </p:txBody>
      </p:sp>
      <p:sp>
        <p:nvSpPr>
          <p:cNvPr id="31" name="source">
            <a:extLst xmlns:a="http://schemas.openxmlformats.org/drawingml/2006/main">
              <a:ext uri="{FF2B5EF4-FFF2-40B4-BE49-F238E27FC236}">
                <a16:creationId xmlns:a16="http://schemas.microsoft.com/office/drawing/2014/main" id="{ABBB89DF-8B5C-48F7-AA4F-BA435AB3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说明：矩阵维度应依据行业特征动态替换，避免跨行业套用同一评价体系。</a:t>
            </a:r>
          </a:p>
        </p:txBody>
      </p:sp>
    </p:spTree>
    <p:extLst>
      <p:ext uri="{BB962C8B-B14F-4D97-AF65-F5344CB8AC3E}">
        <p14:creationId xmlns:p14="http://schemas.microsoft.com/office/powerpoint/2010/main" val="8538143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ayout_label">
            <a:extLst xmlns:a="http://schemas.openxmlformats.org/drawingml/2006/main">
              <a:ext uri="{FF2B5EF4-FFF2-40B4-BE49-F238E27FC236}">
                <a16:creationId xmlns:a16="http://schemas.microsoft.com/office/drawing/2014/main" id="{6BF8D349-F4BB-4AAA-BDA9-3619488C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35BEA9-FADD-45AC-8F74-3521FD11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品牌业务占比提升，推动收入韧性和利润结构改善</a:t>
            </a:r>
          </a:p>
        </p:txBody>
      </p:sp>
      <p:cxnSp>
        <p:nvCxnSpPr>
          <p:cNvPr id="17" name="header_rule"/>
          <p:cNvCxnSpPr/>
          <p:nvPr/>
        </p:nvCxn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 xmlns:a="http://schemas.openxmlformats.org/drawingml/2006/main">
              <a:ext uri="{FF2B5EF4-FFF2-40B4-BE49-F238E27FC236}">
                <a16:creationId xmlns:a16="http://schemas.microsoft.com/office/drawing/2014/main" id="{56F42EB4-36EC-4574-B038-E6E9E70F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CORE THESIS / CHART + TEXT</a:t>
            </a:r>
          </a:p>
        </p:txBody>
      </p:sp>
      <p:sp>
        <p:nvSpPr>
          <p:cNvPr id="5" name="page_no">
            <a:extLst xmlns:a="http://schemas.openxmlformats.org/drawingml/2006/main">
              <a:ext uri="{FF2B5EF4-FFF2-40B4-BE49-F238E27FC236}">
                <a16:creationId xmlns:a16="http://schemas.microsoft.com/office/drawing/2014/main" id="{35205F20-CFDB-4012-9122-9D42722C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logic_chart_panel">
            <a:extLst xmlns:a="http://schemas.openxmlformats.org/drawingml/2006/main">
              <a:ext uri="{FF2B5EF4-FFF2-40B4-BE49-F238E27FC236}">
                <a16:creationId xmlns:a16="http://schemas.microsoft.com/office/drawing/2014/main" id="{E8999193-B266-4FFF-9328-6429B5BC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19125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logic_chart_title">
            <a:extLst xmlns:a="http://schemas.openxmlformats.org/drawingml/2006/main">
              <a:ext uri="{FF2B5EF4-FFF2-40B4-BE49-F238E27FC236}">
                <a16:creationId xmlns:a16="http://schemas.microsoft.com/office/drawing/2014/main" id="{C025A199-AFBE-412F-B701-6C92F6C1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OBM收入占比持续提升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838200" y="2095500"/>
          <a:ext xmlns:a="http://schemas.openxmlformats.org/drawingml/2006/main" cx="56769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eed711adc1469f"/>
          </a:graphicData>
        </a:graphic>
      </p:graphicFrame>
      <p:sp>
        <p:nvSpPr>
          <p:cNvPr id="9" name="logic_takeaway">
            <a:extLst xmlns:a="http://schemas.openxmlformats.org/drawingml/2006/main">
              <a:ext uri="{FF2B5EF4-FFF2-40B4-BE49-F238E27FC236}">
                <a16:creationId xmlns:a16="http://schemas.microsoft.com/office/drawing/2014/main" id="{44BFF711-1E55-4818-B956-FB3A4CEA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81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0" name="logic_main_point">
            <a:extLst xmlns:a="http://schemas.openxmlformats.org/drawingml/2006/main">
              <a:ext uri="{FF2B5EF4-FFF2-40B4-BE49-F238E27FC236}">
                <a16:creationId xmlns:a16="http://schemas.microsoft.com/office/drawing/2014/main" id="{1A165CFD-129D-4E50-937B-9193731E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431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结构升级比单纯规模扩张更重要</a:t>
            </a:r>
          </a:p>
        </p:txBody>
      </p:sp>
      <p:sp>
        <p:nvSpPr>
          <p:cNvPr id="11" name="logic_bullets">
            <a:extLst xmlns:a="http://schemas.openxmlformats.org/drawingml/2006/main">
              <a:ext uri="{FF2B5EF4-FFF2-40B4-BE49-F238E27FC236}">
                <a16:creationId xmlns:a16="http://schemas.microsoft.com/office/drawing/2014/main" id="{D7E6BB7A-C1BC-425C-8140-E9F9F384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95600"/>
            <a:ext cx="39052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自有品牌提升定价权与客户黏性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收入波动小于传统代工业务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品牌、产品与渠道形成协同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占比提升有望带动盈利中枢上移</a:t>
            </a:r>
          </a:p>
        </p:txBody>
      </p:sp>
      <p:sp>
        <p:nvSpPr>
          <p:cNvPr id="12" name="logic_conclusion">
            <a:extLst xmlns:a="http://schemas.openxmlformats.org/drawingml/2006/main">
              <a:ext uri="{FF2B5EF4-FFF2-40B4-BE49-F238E27FC236}">
                <a16:creationId xmlns:a16="http://schemas.microsoft.com/office/drawing/2014/main" id="{D9ED89F5-615A-4ACB-80C8-2773D9D7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81600"/>
            <a:ext cx="3905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ogic_conclusion_text">
            <a:extLst xmlns:a="http://schemas.openxmlformats.org/drawingml/2006/main">
              <a:ext uri="{FF2B5EF4-FFF2-40B4-BE49-F238E27FC236}">
                <a16:creationId xmlns:a16="http://schemas.microsoft.com/office/drawing/2014/main" id="{BCB76FDE-B1F3-40B8-9B4D-83315EEB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53050"/>
            <a:ext cx="3486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一句结论：结构变化正在转化为盈利质量改善</a:t>
            </a:r>
          </a:p>
        </p:txBody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E8636757-24FD-4A71-92CC-0CBB90E3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示例数据与观点参考：002444_2025-09-21.md</a:t>
            </a:r>
          </a:p>
        </p:txBody>
      </p:sp>
    </p:spTree>
    <p:extLst>
      <p:ext uri="{BB962C8B-B14F-4D97-AF65-F5344CB8AC3E}">
        <p14:creationId xmlns:p14="http://schemas.microsoft.com/office/powerpoint/2010/main" val="11258330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ayout_label">
            <a:extLst xmlns:a="http://schemas.openxmlformats.org/drawingml/2006/main">
              <a:ext uri="{FF2B5EF4-FFF2-40B4-BE49-F238E27FC236}">
                <a16:creationId xmlns:a16="http://schemas.microsoft.com/office/drawing/2014/main" id="{51715F37-96C6-4B74-99A2-6D2FE329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DAE95EB-70CA-45FE-BE53-D3A2A3C8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增长与盈利同步改善，才能验证业务拐点的质量</a:t>
            </a:r>
          </a:p>
        </p:txBody>
      </p:sp>
      <p:cxnSp>
        <p:nvCxnSpPr>
          <p:cNvPr id="16" name="header_rule"/>
          <p:cNvCxnSpPr/>
          <p:nvPr/>
        </p:nvCxn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 xmlns:a="http://schemas.openxmlformats.org/drawingml/2006/main">
              <a:ext uri="{FF2B5EF4-FFF2-40B4-BE49-F238E27FC236}">
                <a16:creationId xmlns:a16="http://schemas.microsoft.com/office/drawing/2014/main" id="{786E3E93-41CB-441C-8A17-62322A21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CORE THESIS / TWO CHARTS</a:t>
            </a:r>
          </a:p>
        </p:txBody>
      </p:sp>
      <p:sp>
        <p:nvSpPr>
          <p:cNvPr id="5" name="page_no">
            <a:extLst xmlns:a="http://schemas.openxmlformats.org/drawingml/2006/main">
              <a:ext uri="{FF2B5EF4-FFF2-40B4-BE49-F238E27FC236}">
                <a16:creationId xmlns:a16="http://schemas.microsoft.com/office/drawing/2014/main" id="{52769AF9-D737-438B-A2A1-DEF3BAAA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two_chart_left">
            <a:extLst xmlns:a="http://schemas.openxmlformats.org/drawingml/2006/main">
              <a:ext uri="{FF2B5EF4-FFF2-40B4-BE49-F238E27FC236}">
                <a16:creationId xmlns:a16="http://schemas.microsoft.com/office/drawing/2014/main" id="{BDE27D00-3BF3-4193-96E0-7D017700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38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two_chart_right">
            <a:extLst xmlns:a="http://schemas.openxmlformats.org/drawingml/2006/main">
              <a:ext uri="{FF2B5EF4-FFF2-40B4-BE49-F238E27FC236}">
                <a16:creationId xmlns:a16="http://schemas.microsoft.com/office/drawing/2014/main" id="{EAB85BB8-7BF5-4C9A-83A4-37F9B492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153025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two_chart_left_title">
            <a:extLst xmlns:a="http://schemas.openxmlformats.org/drawingml/2006/main">
              <a:ext uri="{FF2B5EF4-FFF2-40B4-BE49-F238E27FC236}">
                <a16:creationId xmlns:a16="http://schemas.microsoft.com/office/drawing/2014/main" id="{B9B6D208-51CF-46FE-9AA0-871AF406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分业务收入增速</a:t>
            </a:r>
          </a:p>
        </p:txBody>
      </p:sp>
      <p:sp>
        <p:nvSpPr>
          <p:cNvPr id="9" name="two_chart_right_title">
            <a:extLst xmlns:a="http://schemas.openxmlformats.org/drawingml/2006/main">
              <a:ext uri="{FF2B5EF4-FFF2-40B4-BE49-F238E27FC236}">
                <a16:creationId xmlns:a16="http://schemas.microsoft.com/office/drawing/2014/main" id="{EF5F8D99-1635-44FB-AED7-028CBD08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分业务毛利率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819150" y="2076450"/>
          <a:ext xmlns:a="http://schemas.openxmlformats.org/drawingml/2006/main" cx="4762500" cy="2914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2d1d74f4704ca2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86500" y="2076450"/>
          <a:ext xmlns:a="http://schemas.openxmlformats.org/drawingml/2006/main" cx="4686300" cy="2914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ddc257393c4093"/>
          </a:graphicData>
        </a:graphic>
      </p:graphicFrame>
      <p:sp>
        <p:nvSpPr>
          <p:cNvPr id="12" name="two_chart_conclusion">
            <a:extLst xmlns:a="http://schemas.openxmlformats.org/drawingml/2006/main">
              <a:ext uri="{FF2B5EF4-FFF2-40B4-BE49-F238E27FC236}">
                <a16:creationId xmlns:a16="http://schemas.microsoft.com/office/drawing/2014/main" id="{D1458BF4-4735-4EBF-8049-00BCF067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模板用法：左图解释增长来源，右图验证盈利质量；两张图必须服务同一个结论。</a:t>
            </a:r>
          </a:p>
        </p:txBody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7FF2B61C-31E8-4C77-8360-5CEF2E65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示例数据：002444_2025-09-21.md</a:t>
            </a:r>
          </a:p>
        </p:txBody>
      </p:sp>
    </p:spTree>
    <p:extLst>
      <p:ext uri="{BB962C8B-B14F-4D97-AF65-F5344CB8AC3E}">
        <p14:creationId xmlns:p14="http://schemas.microsoft.com/office/powerpoint/2010/main" val="13878482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ayout_label">
            <a:extLst xmlns:a="http://schemas.openxmlformats.org/drawingml/2006/main">
              <a:ext uri="{FF2B5EF4-FFF2-40B4-BE49-F238E27FC236}">
                <a16:creationId xmlns:a16="http://schemas.microsoft.com/office/drawing/2014/main" id="{6ECD7312-1BD9-455E-9C75-5EB51C6B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08F6E6-38B6-4EBE-8B72-93383FFC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第二增长曲线需要用能力、进展和兑现路径共同证明</a:t>
            </a:r>
          </a:p>
        </p:txBody>
      </p:sp>
      <p:cxnSp>
        <p:nvCxnSpPr>
          <p:cNvPr id="24" name="header_rule"/>
          <p:cNvCxnSpPr/>
          <p:nvPr/>
        </p:nvCxn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 xmlns:a="http://schemas.openxmlformats.org/drawingml/2006/main">
              <a:ext uri="{FF2B5EF4-FFF2-40B4-BE49-F238E27FC236}">
                <a16:creationId xmlns:a16="http://schemas.microsoft.com/office/drawing/2014/main" id="{7E1AB7D0-F259-4A9E-9379-2041512E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CORE THESIS / CAPABILITY MAP</a:t>
            </a:r>
          </a:p>
        </p:txBody>
      </p:sp>
      <p:sp>
        <p:nvSpPr>
          <p:cNvPr id="5" name="page_no">
            <a:extLst xmlns:a="http://schemas.openxmlformats.org/drawingml/2006/main">
              <a:ext uri="{FF2B5EF4-FFF2-40B4-BE49-F238E27FC236}">
                <a16:creationId xmlns:a16="http://schemas.microsoft.com/office/drawing/2014/main" id="{FCEE242A-748D-405F-BDE2-2980080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capability_1_panel">
            <a:extLst xmlns:a="http://schemas.openxmlformats.org/drawingml/2006/main">
              <a:ext uri="{FF2B5EF4-FFF2-40B4-BE49-F238E27FC236}">
                <a16:creationId xmlns:a16="http://schemas.microsoft.com/office/drawing/2014/main" id="{7E9E4BB5-D923-437E-8406-C6E070BF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3337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capability_1_kicker">
            <a:extLst xmlns:a="http://schemas.openxmlformats.org/drawingml/2006/main">
              <a:ext uri="{FF2B5EF4-FFF2-40B4-BE49-F238E27FC236}">
                <a16:creationId xmlns:a16="http://schemas.microsoft.com/office/drawing/2014/main" id="{4E376B9F-99E8-419D-B0A4-C0F6F32A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CAPABILITY</a:t>
            </a:r>
          </a:p>
        </p:txBody>
      </p:sp>
      <p:sp>
        <p:nvSpPr>
          <p:cNvPr id="8" name="capability_1_title">
            <a:extLst xmlns:a="http://schemas.openxmlformats.org/drawingml/2006/main">
              <a:ext uri="{FF2B5EF4-FFF2-40B4-BE49-F238E27FC236}">
                <a16:creationId xmlns:a16="http://schemas.microsoft.com/office/drawing/2014/main" id="{875984F3-879B-4EF1-AEC5-EA159EB1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研发与产品</a:t>
            </a:r>
          </a:p>
        </p:txBody>
      </p:sp>
      <p:sp>
        <p:nvSpPr>
          <p:cNvPr id="9" name="capability_1_body">
            <a:extLst xmlns:a="http://schemas.openxmlformats.org/drawingml/2006/main">
              <a:ext uri="{FF2B5EF4-FFF2-40B4-BE49-F238E27FC236}">
                <a16:creationId xmlns:a16="http://schemas.microsoft.com/office/drawing/2014/main" id="{271EE033-7381-4341-AD7C-96AB57D1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技术平台、产品矩阵与认证体系构成进入新市场的基础。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展示内容：研发投入、专利、产品管线。</a:t>
            </a:r>
          </a:p>
        </p:txBody>
      </p:sp>
      <p:sp>
        <p:nvSpPr>
          <p:cNvPr id="10" name="capability_2_panel">
            <a:extLst xmlns:a="http://schemas.openxmlformats.org/drawingml/2006/main">
              <a:ext uri="{FF2B5EF4-FFF2-40B4-BE49-F238E27FC236}">
                <a16:creationId xmlns:a16="http://schemas.microsoft.com/office/drawing/2014/main" id="{283B8D80-3CFE-47B7-9488-EE948F7C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43050"/>
            <a:ext cx="33337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capability_2_kicker">
            <a:extLst xmlns:a="http://schemas.openxmlformats.org/drawingml/2006/main">
              <a:ext uri="{FF2B5EF4-FFF2-40B4-BE49-F238E27FC236}">
                <a16:creationId xmlns:a16="http://schemas.microsoft.com/office/drawing/2014/main" id="{EDD3D92F-6D79-4300-8644-04AFE8BE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145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A3A5"/>
                </a:solidFill>
                <a:latin typeface="Microsoft YaHei"/>
                <a:ea typeface="Microsoft YaHei"/>
                <a:cs typeface="Microsoft YaHei"/>
              </a:rPr>
              <a:t>PROGRESS</a:t>
            </a:r>
          </a:p>
        </p:txBody>
      </p:sp>
      <p:sp>
        <p:nvSpPr>
          <p:cNvPr id="12" name="capability_2_title">
            <a:extLst xmlns:a="http://schemas.openxmlformats.org/drawingml/2006/main">
              <a:ext uri="{FF2B5EF4-FFF2-40B4-BE49-F238E27FC236}">
                <a16:creationId xmlns:a16="http://schemas.microsoft.com/office/drawing/2014/main" id="{F4F39BC1-A8EA-4E15-B423-CFE18A21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项目与订单</a:t>
            </a:r>
          </a:p>
        </p:txBody>
      </p:sp>
      <p:sp>
        <p:nvSpPr>
          <p:cNvPr id="13" name="capability_2_body">
            <a:extLst xmlns:a="http://schemas.openxmlformats.org/drawingml/2006/main">
              <a:ext uri="{FF2B5EF4-FFF2-40B4-BE49-F238E27FC236}">
                <a16:creationId xmlns:a16="http://schemas.microsoft.com/office/drawing/2014/main" id="{CA5E139E-EDDB-477E-AC30-D48FBAE9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955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在手订单、重点项目和客户验证反映业务从投入走向产出。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展示内容：订单、客户、项目阶段。</a:t>
            </a:r>
          </a:p>
        </p:txBody>
      </p:sp>
      <p:sp>
        <p:nvSpPr>
          <p:cNvPr id="14" name="capability_3_panel">
            <a:extLst xmlns:a="http://schemas.openxmlformats.org/drawingml/2006/main">
              <a:ext uri="{FF2B5EF4-FFF2-40B4-BE49-F238E27FC236}">
                <a16:creationId xmlns:a16="http://schemas.microsoft.com/office/drawing/2014/main" id="{BCCD93CF-249B-41D2-A0E3-77FED67B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43050"/>
            <a:ext cx="3381375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capability_3_kicker">
            <a:extLst xmlns:a="http://schemas.openxmlformats.org/drawingml/2006/main">
              <a:ext uri="{FF2B5EF4-FFF2-40B4-BE49-F238E27FC236}">
                <a16:creationId xmlns:a16="http://schemas.microsoft.com/office/drawing/2014/main" id="{D8A87842-1B63-4EF3-A1AA-5256CF76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MONETIZATION</a:t>
            </a:r>
          </a:p>
        </p:txBody>
      </p:sp>
      <p:sp>
        <p:nvSpPr>
          <p:cNvPr id="16" name="capability_3_title">
            <a:extLst xmlns:a="http://schemas.openxmlformats.org/drawingml/2006/main">
              <a:ext uri="{FF2B5EF4-FFF2-40B4-BE49-F238E27FC236}">
                <a16:creationId xmlns:a16="http://schemas.microsoft.com/office/drawing/2014/main" id="{10E57568-78E1-41F0-BE34-00C43495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8120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产能与收入</a:t>
            </a:r>
          </a:p>
        </p:txBody>
      </p:sp>
      <p:sp>
        <p:nvSpPr>
          <p:cNvPr id="17" name="capability_3_body">
            <a:extLst xmlns:a="http://schemas.openxmlformats.org/drawingml/2006/main">
              <a:ext uri="{FF2B5EF4-FFF2-40B4-BE49-F238E27FC236}">
                <a16:creationId xmlns:a16="http://schemas.microsoft.com/office/drawing/2014/main" id="{5B006E6D-300A-4750-8E91-B861C96F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3000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产能投放和收入确认节奏决定利润弹性何时出现。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展示内容：产能、利用率、收入贡献。</a:t>
            </a:r>
          </a:p>
        </p:txBody>
      </p:sp>
      <p:sp>
        <p:nvSpPr>
          <p:cNvPr id="18" name="catalyst_strip">
            <a:extLst xmlns:a="http://schemas.openxmlformats.org/drawingml/2006/main">
              <a:ext uri="{FF2B5EF4-FFF2-40B4-BE49-F238E27FC236}">
                <a16:creationId xmlns:a16="http://schemas.microsoft.com/office/drawing/2014/main" id="{876E9D73-03DB-4636-8367-94AC93B6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2037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talyst_strip_title">
            <a:extLst xmlns:a="http://schemas.openxmlformats.org/drawingml/2006/main">
              <a:ext uri="{FF2B5EF4-FFF2-40B4-BE49-F238E27FC236}">
                <a16:creationId xmlns:a16="http://schemas.microsoft.com/office/drawing/2014/main" id="{6FED2F28-E98D-441A-A8D4-28068A9B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rPr>
              <a:t>关键催化</a:t>
            </a:r>
          </a:p>
        </p:txBody>
      </p:sp>
      <p:sp>
        <p:nvSpPr>
          <p:cNvPr id="20" name="catalyst_strip_body">
            <a:extLst xmlns:a="http://schemas.openxmlformats.org/drawingml/2006/main">
              <a:ext uri="{FF2B5EF4-FFF2-40B4-BE49-F238E27FC236}">
                <a16:creationId xmlns:a16="http://schemas.microsoft.com/office/drawing/2014/main" id="{52C122D3-FC48-4E9A-9A32-4C3CFE96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客户验证完成  →  重点订单落地  →  产能爬坡  →  收入与利润兑现</a:t>
            </a:r>
          </a:p>
        </p:txBody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383A508C-0F20-4609-A7AF-3B83AF0A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适用场景：卫星互联网、医药CDMO、新产品、新品牌、新区域等成长逻辑。</a:t>
            </a:r>
          </a:p>
        </p:txBody>
      </p:sp>
    </p:spTree>
    <p:extLst>
      <p:ext uri="{BB962C8B-B14F-4D97-AF65-F5344CB8AC3E}">
        <p14:creationId xmlns:p14="http://schemas.microsoft.com/office/powerpoint/2010/main" val="21306011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ayout_label">
            <a:extLst xmlns:a="http://schemas.openxmlformats.org/drawingml/2006/main">
              <a:ext uri="{FF2B5EF4-FFF2-40B4-BE49-F238E27FC236}">
                <a16:creationId xmlns:a16="http://schemas.microsoft.com/office/drawing/2014/main" id="{E9275455-A60B-4A7D-A3A1-6283D060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12B672C-C2A5-40C0-A77F-EEE7E4DD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收入恢复只是起点，利润率和现金流决定增长质量</a:t>
            </a:r>
          </a:p>
        </p:txBody>
      </p:sp>
      <p:cxnSp>
        <p:nvCxnSpPr>
          <p:cNvPr id="27" name="header_rule"/>
          <p:cNvCxnSpPr/>
          <p:nvPr/>
        </p:nvCxn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 xmlns:a="http://schemas.openxmlformats.org/drawingml/2006/main">
              <a:ext uri="{FF2B5EF4-FFF2-40B4-BE49-F238E27FC236}">
                <a16:creationId xmlns:a16="http://schemas.microsoft.com/office/drawing/2014/main" id="{EFDD256A-F92D-4C59-8A3C-CC3E8975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FINANCIAL REVIEW</a:t>
            </a:r>
          </a:p>
        </p:txBody>
      </p:sp>
      <p:sp>
        <p:nvSpPr>
          <p:cNvPr id="5" name="page_no">
            <a:extLst xmlns:a="http://schemas.openxmlformats.org/drawingml/2006/main">
              <a:ext uri="{FF2B5EF4-FFF2-40B4-BE49-F238E27FC236}">
                <a16:creationId xmlns:a16="http://schemas.microsoft.com/office/drawing/2014/main" id="{A08F0488-BB0E-4110-97B7-EB5C1FB6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financial_chart_panel">
            <a:extLst xmlns:a="http://schemas.openxmlformats.org/drawingml/2006/main">
              <a:ext uri="{FF2B5EF4-FFF2-40B4-BE49-F238E27FC236}">
                <a16:creationId xmlns:a16="http://schemas.microsoft.com/office/drawing/2014/main" id="{3D3BADC2-D242-43EA-BB95-F8C91F48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667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financial_chart_title">
            <a:extLst xmlns:a="http://schemas.openxmlformats.org/drawingml/2006/main">
              <a:ext uri="{FF2B5EF4-FFF2-40B4-BE49-F238E27FC236}">
                <a16:creationId xmlns:a16="http://schemas.microsoft.com/office/drawing/2014/main" id="{589F8EEC-FAC9-4033-B66B-EB41EE1B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收入与归母净利润趋势（示例）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819150" y="2095500"/>
          <a:ext xmlns:a="http://schemas.openxmlformats.org/drawingml/2006/main" cx="6191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9d1af4c1324b50"/>
          </a:graphicData>
        </a:graphic>
      </p:graphicFrame>
      <p:sp>
        <p:nvSpPr>
          <p:cNvPr id="9" name="metric_2024A毛利率_panel">
            <a:extLst xmlns:a="http://schemas.openxmlformats.org/drawingml/2006/main">
              <a:ext uri="{FF2B5EF4-FFF2-40B4-BE49-F238E27FC236}">
                <a16:creationId xmlns:a16="http://schemas.microsoft.com/office/drawing/2014/main" id="{8F509BFA-26AC-4649-AD48-E0C69F0E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466850"/>
            <a:ext cx="36671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metric_2024A毛利率_accent">
            <a:extLst xmlns:a="http://schemas.openxmlformats.org/drawingml/2006/main">
              <a:ext uri="{FF2B5EF4-FFF2-40B4-BE49-F238E27FC236}">
                <a16:creationId xmlns:a16="http://schemas.microsoft.com/office/drawing/2014/main" id="{720A9450-3DAB-4CD6-947D-2AC2E5ED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466850"/>
            <a:ext cx="66675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_2024A毛利率_value">
            <a:extLst xmlns:a="http://schemas.openxmlformats.org/drawingml/2006/main">
              <a:ext uri="{FF2B5EF4-FFF2-40B4-BE49-F238E27FC236}">
                <a16:creationId xmlns:a16="http://schemas.microsoft.com/office/drawing/2014/main" id="{5E50EEEE-D49A-4887-9A8F-4521A8FF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38300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32.0%</a:t>
            </a:r>
          </a:p>
        </p:txBody>
      </p:sp>
      <p:sp>
        <p:nvSpPr>
          <p:cNvPr id="12" name="metric_2024A毛利率_label">
            <a:extLst xmlns:a="http://schemas.openxmlformats.org/drawingml/2006/main">
              <a:ext uri="{FF2B5EF4-FFF2-40B4-BE49-F238E27FC236}">
                <a16:creationId xmlns:a16="http://schemas.microsoft.com/office/drawing/2014/main" id="{02DA2EE4-BF5B-4081-BBA8-5010F93F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76450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2024A毛利率</a:t>
            </a:r>
          </a:p>
        </p:txBody>
      </p:sp>
      <p:sp>
        <p:nvSpPr>
          <p:cNvPr id="13" name="metric_2024A毛利率_note">
            <a:extLst xmlns:a="http://schemas.openxmlformats.org/drawingml/2006/main">
              <a:ext uri="{FF2B5EF4-FFF2-40B4-BE49-F238E27FC236}">
                <a16:creationId xmlns:a16="http://schemas.microsoft.com/office/drawing/2014/main" id="{D6CB174F-FC35-4537-89DD-40C64EA6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24100"/>
            <a:ext cx="3286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结构与成本共同影响</a:t>
            </a:r>
          </a:p>
        </p:txBody>
      </p:sp>
      <p:sp>
        <p:nvSpPr>
          <p:cNvPr id="14" name="metric_真实净利率中枢_panel">
            <a:extLst xmlns:a="http://schemas.openxmlformats.org/drawingml/2006/main">
              <a:ext uri="{FF2B5EF4-FFF2-40B4-BE49-F238E27FC236}">
                <a16:creationId xmlns:a16="http://schemas.microsoft.com/office/drawing/2014/main" id="{36BCD352-5299-433E-B73E-8EBD6796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81300"/>
            <a:ext cx="36671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metric_真实净利率中枢_accent">
            <a:extLst xmlns:a="http://schemas.openxmlformats.org/drawingml/2006/main">
              <a:ext uri="{FF2B5EF4-FFF2-40B4-BE49-F238E27FC236}">
                <a16:creationId xmlns:a16="http://schemas.microsoft.com/office/drawing/2014/main" id="{95BA6095-E17E-4DF9-AFBC-45A302D8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81300"/>
            <a:ext cx="66675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_真实净利率中枢_value">
            <a:extLst xmlns:a="http://schemas.openxmlformats.org/drawingml/2006/main">
              <a:ext uri="{FF2B5EF4-FFF2-40B4-BE49-F238E27FC236}">
                <a16:creationId xmlns:a16="http://schemas.microsoft.com/office/drawing/2014/main" id="{A3909573-5548-4C6B-B050-C3CC7696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52750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11.8%</a:t>
            </a:r>
          </a:p>
        </p:txBody>
      </p:sp>
      <p:sp>
        <p:nvSpPr>
          <p:cNvPr id="17" name="metric_真实净利率中枢_label">
            <a:extLst xmlns:a="http://schemas.openxmlformats.org/drawingml/2006/main">
              <a:ext uri="{FF2B5EF4-FFF2-40B4-BE49-F238E27FC236}">
                <a16:creationId xmlns:a16="http://schemas.microsoft.com/office/drawing/2014/main" id="{04D99957-54A9-43F8-B74D-D2A91FDC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90900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真实净利率中枢</a:t>
            </a:r>
          </a:p>
        </p:txBody>
      </p:sp>
      <p:sp>
        <p:nvSpPr>
          <p:cNvPr id="18" name="metric_真实净利率中枢_note">
            <a:extLst xmlns:a="http://schemas.openxmlformats.org/drawingml/2006/main">
              <a:ext uri="{FF2B5EF4-FFF2-40B4-BE49-F238E27FC236}">
                <a16:creationId xmlns:a16="http://schemas.microsoft.com/office/drawing/2014/main" id="{1E374BFC-1B4B-45CC-8667-F043746A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38550"/>
            <a:ext cx="3286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剔除非经常项目后观察</a:t>
            </a:r>
          </a:p>
        </p:txBody>
      </p:sp>
      <p:sp>
        <p:nvSpPr>
          <p:cNvPr id="19" name="metric_经营现金流_panel">
            <a:extLst xmlns:a="http://schemas.openxmlformats.org/drawingml/2006/main">
              <a:ext uri="{FF2B5EF4-FFF2-40B4-BE49-F238E27FC236}">
                <a16:creationId xmlns:a16="http://schemas.microsoft.com/office/drawing/2014/main" id="{E14C88EE-3AA1-4D77-A8DD-D9C8C68F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95750"/>
            <a:ext cx="36671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metric_经营现金流_accent">
            <a:extLst xmlns:a="http://schemas.openxmlformats.org/drawingml/2006/main">
              <a:ext uri="{FF2B5EF4-FFF2-40B4-BE49-F238E27FC236}">
                <a16:creationId xmlns:a16="http://schemas.microsoft.com/office/drawing/2014/main" id="{253E8798-6C95-4EEA-B87F-31704E36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95750"/>
            <a:ext cx="66675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metric_经营现金流_value">
            <a:extLst xmlns:a="http://schemas.openxmlformats.org/drawingml/2006/main">
              <a:ext uri="{FF2B5EF4-FFF2-40B4-BE49-F238E27FC236}">
                <a16:creationId xmlns:a16="http://schemas.microsoft.com/office/drawing/2014/main" id="{7ADB6932-2A64-48A6-9802-6579D83E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67200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改善中</a:t>
            </a:r>
          </a:p>
        </p:txBody>
      </p:sp>
      <p:sp>
        <p:nvSpPr>
          <p:cNvPr id="22" name="metric_经营现金流_label">
            <a:extLst xmlns:a="http://schemas.openxmlformats.org/drawingml/2006/main">
              <a:ext uri="{FF2B5EF4-FFF2-40B4-BE49-F238E27FC236}">
                <a16:creationId xmlns:a16="http://schemas.microsoft.com/office/drawing/2014/main" id="{D15E7601-1F2F-49F4-8679-5D83DBCA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05350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经营现金流</a:t>
            </a:r>
          </a:p>
        </p:txBody>
      </p:sp>
      <p:sp>
        <p:nvSpPr>
          <p:cNvPr id="23" name="metric_经营现金流_note">
            <a:extLst xmlns:a="http://schemas.openxmlformats.org/drawingml/2006/main">
              <a:ext uri="{FF2B5EF4-FFF2-40B4-BE49-F238E27FC236}">
                <a16:creationId xmlns:a16="http://schemas.microsoft.com/office/drawing/2014/main" id="{2577AC31-F5EA-4A80-BF9A-CCCD3942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53000"/>
            <a:ext cx="3286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需与利润增速交叉验证</a:t>
            </a:r>
          </a:p>
        </p:txBody>
      </p:sp>
      <p:sp>
        <p:nvSpPr>
          <p:cNvPr id="24" name="source">
            <a:extLst xmlns:a="http://schemas.openxmlformats.org/drawingml/2006/main">
              <a:ext uri="{FF2B5EF4-FFF2-40B4-BE49-F238E27FC236}">
                <a16:creationId xmlns:a16="http://schemas.microsoft.com/office/drawing/2014/main" id="{7016267F-940F-41E7-A8FE-087F2800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说明：示例指数用于展示版式；正式生成时应传入原始数值、单位和统计口径。</a:t>
            </a:r>
          </a:p>
        </p:txBody>
      </p:sp>
    </p:spTree>
    <p:extLst>
      <p:ext uri="{BB962C8B-B14F-4D97-AF65-F5344CB8AC3E}">
        <p14:creationId xmlns:p14="http://schemas.microsoft.com/office/powerpoint/2010/main" val="13229296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ayout_label">
            <a:extLst xmlns:a="http://schemas.openxmlformats.org/drawingml/2006/main">
              <a:ext uri="{FF2B5EF4-FFF2-40B4-BE49-F238E27FC236}">
                <a16:creationId xmlns:a16="http://schemas.microsoft.com/office/drawing/2014/main" id="{C830AAAC-3F79-4DC2-B4EF-0A3B96C6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9EBB855-61DF-4BE2-B6F7-60446128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分业务假设决定总量预测，预测表必须可追溯到经营逻辑</a:t>
            </a:r>
          </a:p>
        </p:txBody>
      </p:sp>
      <p:cxnSp>
        <p:nvCxnSpPr>
          <p:cNvPr id="15" name="header_rule"/>
          <p:cNvCxnSpPr/>
          <p:nvPr/>
        </p:nvCxn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 xmlns:a="http://schemas.openxmlformats.org/drawingml/2006/main">
              <a:ext uri="{FF2B5EF4-FFF2-40B4-BE49-F238E27FC236}">
                <a16:creationId xmlns:a16="http://schemas.microsoft.com/office/drawing/2014/main" id="{0881AD76-6353-40A6-B253-F3C27611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EARNINGS FORECAST</a:t>
            </a:r>
          </a:p>
        </p:txBody>
      </p:sp>
      <p:sp>
        <p:nvSpPr>
          <p:cNvPr id="5" name="page_no">
            <a:extLst xmlns:a="http://schemas.openxmlformats.org/drawingml/2006/main">
              <a:ext uri="{FF2B5EF4-FFF2-40B4-BE49-F238E27FC236}">
                <a16:creationId xmlns:a16="http://schemas.microsoft.com/office/drawing/2014/main" id="{F03A2C62-D21C-48ED-ABC5-E6845F99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forecast_note">
            <a:extLst xmlns:a="http://schemas.openxmlformats.org/drawingml/2006/main">
              <a:ext uri="{FF2B5EF4-FFF2-40B4-BE49-F238E27FC236}">
                <a16:creationId xmlns:a16="http://schemas.microsoft.com/office/drawing/2014/main" id="{29B0F472-FAD8-4C10-B748-C8ABE6E4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示例：收入单位为亿元；A=实际值，E=预测值</a:t>
            </a:r>
          </a:p>
        </p:txBody>
      </p:sp>
      <p:graphicFrame>
        <p:nvGraphicFramePr>
          <p:cNvPr id="19" name="forecast_table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79057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381125"/>
                <a:gridCol w="1381125"/>
                <a:gridCol w="1381125"/>
                <a:gridCol w="1381125"/>
              </a:tblGrid>
              <a:tr h="489857">
                <a:tc>
                  <a:txBody>
                    <a:bodyPr/>
                    <a:lstStyle/>
                    <a:p>
                      <a:r>
                        <a:t>项目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2024A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2025E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2026E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2027E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手工具收入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100.7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110.8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130.7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151.6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电动工具收入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16.5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21.5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26.9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工业工具收入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32.3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34.6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39.4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43.7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营业收入合计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148.0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162.5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192.4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223.1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收入同比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35.4%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9.9%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18.4%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16.0%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综合毛利率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32.0%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30.2%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31.7%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32.6%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forecast_chart_panel">
            <a:extLst xmlns:a="http://schemas.openxmlformats.org/drawingml/2006/main">
              <a:ext uri="{FF2B5EF4-FFF2-40B4-BE49-F238E27FC236}">
                <a16:creationId xmlns:a16="http://schemas.microsoft.com/office/drawing/2014/main" id="{8D8810E9-0028-47E3-95A2-7B591557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52600"/>
            <a:ext cx="2447925" cy="3429000"/>
          </a:xfrm>
          <a:prstGeom xmlns:a="http://schemas.openxmlformats.org/drawingml/2006/main" prst="roundRect">
            <a:avLst>
              <a:gd name="adj" fmla="val 46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forecast_chart_title">
            <a:extLst xmlns:a="http://schemas.openxmlformats.org/drawingml/2006/main">
              <a:ext uri="{FF2B5EF4-FFF2-40B4-BE49-F238E27FC236}">
                <a16:creationId xmlns:a16="http://schemas.microsoft.com/office/drawing/2014/main" id="{18812156-2994-4272-9254-AA1A23F6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431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收入趋势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8915400" y="2324100"/>
          <a:ext xmlns:a="http://schemas.openxmlformats.org/drawingml/2006/main" cx="215265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217a68a443479f"/>
          </a:graphicData>
        </a:graphic>
      </p:graphicFrame>
      <p:sp>
        <p:nvSpPr>
          <p:cNvPr id="11" name="forecast_assumption">
            <a:extLst xmlns:a="http://schemas.openxmlformats.org/drawingml/2006/main">
              <a:ext uri="{FF2B5EF4-FFF2-40B4-BE49-F238E27FC236}">
                <a16:creationId xmlns:a16="http://schemas.microsoft.com/office/drawing/2014/main" id="{9BBB7ACF-653D-4BAE-90F0-D7F3C551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核心假设：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手工具需求修复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电动工具持续放量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毛利率逐步回升</a:t>
            </a:r>
          </a:p>
        </p:txBody>
      </p:sp>
      <p:sp>
        <p:nvSpPr>
          <p:cNvPr id="12" name="source">
            <a:extLst xmlns:a="http://schemas.openxmlformats.org/drawingml/2006/main">
              <a:ext uri="{FF2B5EF4-FFF2-40B4-BE49-F238E27FC236}">
                <a16:creationId xmlns:a16="http://schemas.microsoft.com/office/drawing/2014/main" id="{04AE12F8-9CE9-4676-B19F-4C150449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示例数据：002444_2025-09-21.md</a:t>
            </a:r>
          </a:p>
        </p:txBody>
      </p:sp>
    </p:spTree>
    <p:extLst>
      <p:ext uri="{BB962C8B-B14F-4D97-AF65-F5344CB8AC3E}">
        <p14:creationId xmlns:p14="http://schemas.microsoft.com/office/powerpoint/2010/main" val="1645251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ayout_label">
            <a:extLst xmlns:a="http://schemas.openxmlformats.org/drawingml/2006/main">
              <a:ext uri="{FF2B5EF4-FFF2-40B4-BE49-F238E27FC236}">
                <a16:creationId xmlns:a16="http://schemas.microsoft.com/office/drawing/2014/main" id="{F9B1541A-147A-45D8-B364-5AECC4F0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063888-BF77-4826-813E-FCB60626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估值结论要同时回答相对位置、增长匹配度与安全边际</a:t>
            </a:r>
          </a:p>
        </p:txBody>
      </p:sp>
      <p:cxnSp>
        <p:nvCxnSpPr>
          <p:cNvPr id="17" name="header_rule"/>
          <p:cNvCxnSpPr/>
          <p:nvPr/>
        </p:nvCxn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 xmlns:a="http://schemas.openxmlformats.org/drawingml/2006/main">
              <a:ext uri="{FF2B5EF4-FFF2-40B4-BE49-F238E27FC236}">
                <a16:creationId xmlns:a16="http://schemas.microsoft.com/office/drawing/2014/main" id="{4AC139E4-0C65-46A5-A5CE-C0402FE7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VALUATION</a:t>
            </a:r>
          </a:p>
        </p:txBody>
      </p:sp>
      <p:sp>
        <p:nvSpPr>
          <p:cNvPr id="5" name="page_no">
            <a:extLst xmlns:a="http://schemas.openxmlformats.org/drawingml/2006/main">
              <a:ext uri="{FF2B5EF4-FFF2-40B4-BE49-F238E27FC236}">
                <a16:creationId xmlns:a16="http://schemas.microsoft.com/office/drawing/2014/main" id="{929F28F3-A38B-4EC8-BE3E-06AC7836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valuation_chart_panel">
            <a:extLst xmlns:a="http://schemas.openxmlformats.org/drawingml/2006/main">
              <a:ext uri="{FF2B5EF4-FFF2-40B4-BE49-F238E27FC236}">
                <a16:creationId xmlns:a16="http://schemas.microsoft.com/office/drawing/2014/main" id="{6E51DFFF-03D2-48E1-9992-F321BDA7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191250" cy="42291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valuation_chart_title">
            <a:extLst xmlns:a="http://schemas.openxmlformats.org/drawingml/2006/main">
              <a:ext uri="{FF2B5EF4-FFF2-40B4-BE49-F238E27FC236}">
                <a16:creationId xmlns:a16="http://schemas.microsoft.com/office/drawing/2014/main" id="{A1BA1D38-A85E-469E-B1F9-9DF57B67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2026E PE对比（倍）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838200" y="2095500"/>
          <a:ext xmlns:a="http://schemas.openxmlformats.org/drawingml/2006/main" cx="5676900" cy="3086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281e729ca849af"/>
          </a:graphicData>
        </a:graphic>
      </p:graphicFrame>
      <p:sp>
        <p:nvSpPr>
          <p:cNvPr id="9" name="valuation_question">
            <a:extLst xmlns:a="http://schemas.openxmlformats.org/drawingml/2006/main">
              <a:ext uri="{FF2B5EF4-FFF2-40B4-BE49-F238E27FC236}">
                <a16:creationId xmlns:a16="http://schemas.microsoft.com/office/drawing/2014/main" id="{55E8C4F0-3239-4ABD-B4C7-4F240F4F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43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估值判断</a:t>
            </a:r>
          </a:p>
        </p:txBody>
      </p:sp>
      <p:sp>
        <p:nvSpPr>
          <p:cNvPr id="10" name="valuation_headline">
            <a:extLst xmlns:a="http://schemas.openxmlformats.org/drawingml/2006/main">
              <a:ext uri="{FF2B5EF4-FFF2-40B4-BE49-F238E27FC236}">
                <a16:creationId xmlns:a16="http://schemas.microsoft.com/office/drawing/2014/main" id="{A0EDEE7B-FC15-4397-A501-17C0C889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43100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估值接近可比均值，增长兑现决定上行空间</a:t>
            </a:r>
          </a:p>
        </p:txBody>
      </p:sp>
      <p:sp>
        <p:nvSpPr>
          <p:cNvPr id="11" name="valuation_bullets">
            <a:extLst xmlns:a="http://schemas.openxmlformats.org/drawingml/2006/main">
              <a:ext uri="{FF2B5EF4-FFF2-40B4-BE49-F238E27FC236}">
                <a16:creationId xmlns:a16="http://schemas.microsoft.com/office/drawing/2014/main" id="{28E18CEF-18EB-45FB-92CE-762DC9D5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90850"/>
            <a:ext cx="3905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比较口径：统一预测年度与盈利口径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结合历史区间判断当前位置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用利润增速验证估值是否匹配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明确目标价或仅给出区间判断</a:t>
            </a:r>
          </a:p>
        </p:txBody>
      </p:sp>
      <p:sp>
        <p:nvSpPr>
          <p:cNvPr id="12" name="valuation_conclusion">
            <a:extLst xmlns:a="http://schemas.openxmlformats.org/drawingml/2006/main">
              <a:ext uri="{FF2B5EF4-FFF2-40B4-BE49-F238E27FC236}">
                <a16:creationId xmlns:a16="http://schemas.microsoft.com/office/drawing/2014/main" id="{1DFCFEA6-A445-4403-81B1-100CB97E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86350"/>
            <a:ext cx="3905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ation_conclusion_text">
            <a:extLst xmlns:a="http://schemas.openxmlformats.org/drawingml/2006/main">
              <a:ext uri="{FF2B5EF4-FFF2-40B4-BE49-F238E27FC236}">
                <a16:creationId xmlns:a16="http://schemas.microsoft.com/office/drawing/2014/main" id="{83D4A0FC-F9EF-4169-8CAE-6B6B346D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267325"/>
            <a:ext cx="350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结论字段：[评级 / 合理估值区间 / 目标价]</a:t>
            </a:r>
          </a:p>
        </p:txBody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453D4BC4-053F-44C2-952C-019712A4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示例数据：002444_2025-09-21.md；实际估值须注明股价基准日。</a:t>
            </a:r>
          </a:p>
        </p:txBody>
      </p:sp>
    </p:spTree>
    <p:extLst>
      <p:ext uri="{BB962C8B-B14F-4D97-AF65-F5344CB8AC3E}">
        <p14:creationId xmlns:p14="http://schemas.microsoft.com/office/powerpoint/2010/main" val="12261957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ayout_label">
            <a:extLst xmlns:a="http://schemas.openxmlformats.org/drawingml/2006/main">
              <a:ext uri="{FF2B5EF4-FFF2-40B4-BE49-F238E27FC236}">
                <a16:creationId xmlns:a16="http://schemas.microsoft.com/office/drawing/2014/main" id="{6E1337EF-E120-41D2-891B-4EBC9559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7A8D6F-650F-4FE9-8152-2F86A46C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催化剂决定上行节奏，风险项界定结论失效条件</a:t>
            </a:r>
          </a:p>
        </p:txBody>
      </p:sp>
      <p:cxnSp>
        <p:nvCxnSpPr>
          <p:cNvPr id="37" name="header_rule"/>
          <p:cNvCxnSpPr/>
          <p:nvPr/>
        </p:nvCxn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 xmlns:a="http://schemas.openxmlformats.org/drawingml/2006/main">
              <a:ext uri="{FF2B5EF4-FFF2-40B4-BE49-F238E27FC236}">
                <a16:creationId xmlns:a16="http://schemas.microsoft.com/office/drawing/2014/main" id="{7F1593EB-C979-4397-B3FD-B84661E6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CATALYSTS &amp; RISKS</a:t>
            </a:r>
          </a:p>
        </p:txBody>
      </p:sp>
      <p:sp>
        <p:nvSpPr>
          <p:cNvPr id="5" name="page_no">
            <a:extLst xmlns:a="http://schemas.openxmlformats.org/drawingml/2006/main">
              <a:ext uri="{FF2B5EF4-FFF2-40B4-BE49-F238E27FC236}">
                <a16:creationId xmlns:a16="http://schemas.microsoft.com/office/drawing/2014/main" id="{E000138B-40E6-4958-88DD-33CD16F2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catalyst_panel">
            <a:extLst xmlns:a="http://schemas.openxmlformats.org/drawingml/2006/main">
              <a:ext uri="{FF2B5EF4-FFF2-40B4-BE49-F238E27FC236}">
                <a16:creationId xmlns:a16="http://schemas.microsoft.com/office/drawing/2014/main" id="{66A0AB2F-A11E-4FDE-8EE0-199B4952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3875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risk_panel">
            <a:extLst xmlns:a="http://schemas.openxmlformats.org/drawingml/2006/main">
              <a:ext uri="{FF2B5EF4-FFF2-40B4-BE49-F238E27FC236}">
                <a16:creationId xmlns:a16="http://schemas.microsoft.com/office/drawing/2014/main" id="{13F809A2-20AC-4AE7-B755-E8DABAE0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153025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catalyst_title">
            <a:extLst xmlns:a="http://schemas.openxmlformats.org/drawingml/2006/main">
              <a:ext uri="{FF2B5EF4-FFF2-40B4-BE49-F238E27FC236}">
                <a16:creationId xmlns:a16="http://schemas.microsoft.com/office/drawing/2014/main" id="{878708A2-CC93-4A84-BFB4-51C5ECF8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9D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E9D67"/>
                </a:solidFill>
                <a:latin typeface="Microsoft YaHei"/>
                <a:ea typeface="Microsoft YaHei"/>
                <a:cs typeface="Microsoft YaHei"/>
              </a:rPr>
              <a:t>潜在催化剂</a:t>
            </a:r>
          </a:p>
        </p:txBody>
      </p:sp>
      <p:sp>
        <p:nvSpPr>
          <p:cNvPr id="9" name="risk_title">
            <a:extLst xmlns:a="http://schemas.openxmlformats.org/drawingml/2006/main">
              <a:ext uri="{FF2B5EF4-FFF2-40B4-BE49-F238E27FC236}">
                <a16:creationId xmlns:a16="http://schemas.microsoft.com/office/drawing/2014/main" id="{D473BF68-96D5-4761-AE63-BA04D646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33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主要风险</a:t>
            </a:r>
          </a:p>
        </p:txBody>
      </p:sp>
      <p:sp>
        <p:nvSpPr>
          <p:cNvPr id="10" name="catalyst_num_1">
            <a:extLst xmlns:a="http://schemas.openxmlformats.org/drawingml/2006/main">
              <a:ext uri="{FF2B5EF4-FFF2-40B4-BE49-F238E27FC236}">
                <a16:creationId xmlns:a16="http://schemas.microsoft.com/office/drawing/2014/main" id="{8F358D50-9157-4F0C-8B90-890E23FD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9D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9D6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catalyst_item_1">
            <a:extLst xmlns:a="http://schemas.openxmlformats.org/drawingml/2006/main">
              <a:ext uri="{FF2B5EF4-FFF2-40B4-BE49-F238E27FC236}">
                <a16:creationId xmlns:a16="http://schemas.microsoft.com/office/drawing/2014/main" id="{C28A357D-67AA-4022-B754-81A7E55C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241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重点订单或客户验证落地</a:t>
            </a:r>
          </a:p>
        </p:txBody>
      </p:sp>
      <p:cxnSp>
        <p:nvCxnSpPr>
          <p:cNvPr id="46" name="catalyst_rule_1"/>
          <p:cNvCxnSpPr/>
          <p:nvPr/>
        </p:nvCxnSpPr>
        <p:spPr>
          <a:xfrm xmlns:a="http://schemas.openxmlformats.org/drawingml/2006/main">
            <a:off x="876300" y="276225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13" name="risk_num_1">
            <a:extLst xmlns:a="http://schemas.openxmlformats.org/drawingml/2006/main">
              <a:ext uri="{FF2B5EF4-FFF2-40B4-BE49-F238E27FC236}">
                <a16:creationId xmlns:a16="http://schemas.microsoft.com/office/drawing/2014/main" id="{7065E4FB-AD77-47ED-8D64-94FEC82C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risk_item_1">
            <a:extLst xmlns:a="http://schemas.openxmlformats.org/drawingml/2006/main">
              <a:ext uri="{FF2B5EF4-FFF2-40B4-BE49-F238E27FC236}">
                <a16:creationId xmlns:a16="http://schemas.microsoft.com/office/drawing/2014/main" id="{B65CE5C0-ABCD-447A-80AB-20A556D0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市场需求恢复不及预期</a:t>
            </a:r>
          </a:p>
        </p:txBody>
      </p:sp>
      <p:cxnSp>
        <p:nvCxnSpPr>
          <p:cNvPr id="49" name="risk_rule_1"/>
          <p:cNvCxnSpPr/>
          <p:nvPr/>
        </p:nvCxnSpPr>
        <p:spPr>
          <a:xfrm xmlns:a="http://schemas.openxmlformats.org/drawingml/2006/main">
            <a:off x="6343650" y="2762250"/>
            <a:ext cx="44386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16" name="catalyst_num_2">
            <a:extLst xmlns:a="http://schemas.openxmlformats.org/drawingml/2006/main">
              <a:ext uri="{FF2B5EF4-FFF2-40B4-BE49-F238E27FC236}">
                <a16:creationId xmlns:a16="http://schemas.microsoft.com/office/drawing/2014/main" id="{ADFF79EE-E43C-4149-8081-9FA287E8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9D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9D6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catalyst_item_2">
            <a:extLst xmlns:a="http://schemas.openxmlformats.org/drawingml/2006/main">
              <a:ext uri="{FF2B5EF4-FFF2-40B4-BE49-F238E27FC236}">
                <a16:creationId xmlns:a16="http://schemas.microsoft.com/office/drawing/2014/main" id="{68D728D2-A0A6-4C2E-A79B-0D65A35F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480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行业需求与库存周期改善</a:t>
            </a:r>
          </a:p>
        </p:txBody>
      </p:sp>
      <p:cxnSp>
        <p:nvCxnSpPr>
          <p:cNvPr id="52" name="catalyst_rule_2"/>
          <p:cNvCxnSpPr/>
          <p:nvPr/>
        </p:nvCxnSpPr>
        <p:spPr>
          <a:xfrm xmlns:a="http://schemas.openxmlformats.org/drawingml/2006/main">
            <a:off x="876300" y="348615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19" name="risk_num_2">
            <a:extLst xmlns:a="http://schemas.openxmlformats.org/drawingml/2006/main">
              <a:ext uri="{FF2B5EF4-FFF2-40B4-BE49-F238E27FC236}">
                <a16:creationId xmlns:a16="http://schemas.microsoft.com/office/drawing/2014/main" id="{A8B6ACA3-12BD-4DA7-8FB1-A589CA57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670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risk_item_2">
            <a:extLst xmlns:a="http://schemas.openxmlformats.org/drawingml/2006/main">
              <a:ext uri="{FF2B5EF4-FFF2-40B4-BE49-F238E27FC236}">
                <a16:creationId xmlns:a16="http://schemas.microsoft.com/office/drawing/2014/main" id="{231E183D-1EAB-464D-8C37-DFA57EA8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480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行业竞争加剧与价格压力</a:t>
            </a:r>
          </a:p>
        </p:txBody>
      </p:sp>
      <p:cxnSp>
        <p:nvCxnSpPr>
          <p:cNvPr id="55" name="risk_rule_2"/>
          <p:cNvCxnSpPr/>
          <p:nvPr/>
        </p:nvCxnSpPr>
        <p:spPr>
          <a:xfrm xmlns:a="http://schemas.openxmlformats.org/drawingml/2006/main">
            <a:off x="6343650" y="3486150"/>
            <a:ext cx="44386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22" name="catalyst_num_3">
            <a:extLst xmlns:a="http://schemas.openxmlformats.org/drawingml/2006/main">
              <a:ext uri="{FF2B5EF4-FFF2-40B4-BE49-F238E27FC236}">
                <a16:creationId xmlns:a16="http://schemas.microsoft.com/office/drawing/2014/main" id="{6A2B7247-B3B9-4568-83C9-92B390D2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9D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9D6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catalyst_item_3">
            <a:extLst xmlns:a="http://schemas.openxmlformats.org/drawingml/2006/main">
              <a:ext uri="{FF2B5EF4-FFF2-40B4-BE49-F238E27FC236}">
                <a16:creationId xmlns:a16="http://schemas.microsoft.com/office/drawing/2014/main" id="{B99D0601-035E-40E4-8D9C-6925B437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新产能投放与利用率提升</a:t>
            </a:r>
          </a:p>
        </p:txBody>
      </p:sp>
      <p:cxnSp>
        <p:nvCxnSpPr>
          <p:cNvPr id="58" name="catalyst_rule_3"/>
          <p:cNvCxnSpPr/>
          <p:nvPr/>
        </p:nvCxnSpPr>
        <p:spPr>
          <a:xfrm xmlns:a="http://schemas.openxmlformats.org/drawingml/2006/main">
            <a:off x="876300" y="421005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25" name="risk_num_3">
            <a:extLst xmlns:a="http://schemas.openxmlformats.org/drawingml/2006/main">
              <a:ext uri="{FF2B5EF4-FFF2-40B4-BE49-F238E27FC236}">
                <a16:creationId xmlns:a16="http://schemas.microsoft.com/office/drawing/2014/main" id="{BB4ACD99-FABC-4DC4-AE67-81367F2A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909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" name="risk_item_3">
            <a:extLst xmlns:a="http://schemas.openxmlformats.org/drawingml/2006/main">
              <a:ext uri="{FF2B5EF4-FFF2-40B4-BE49-F238E27FC236}">
                <a16:creationId xmlns:a16="http://schemas.microsoft.com/office/drawing/2014/main" id="{EEDD05E1-D75E-4E21-A61D-FE941BAE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719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新业务进度或产能爬坡不及预期</a:t>
            </a:r>
          </a:p>
        </p:txBody>
      </p:sp>
      <p:cxnSp>
        <p:nvCxnSpPr>
          <p:cNvPr id="61" name="risk_rule_3"/>
          <p:cNvCxnSpPr/>
          <p:nvPr/>
        </p:nvCxnSpPr>
        <p:spPr>
          <a:xfrm xmlns:a="http://schemas.openxmlformats.org/drawingml/2006/main">
            <a:off x="6343650" y="4210050"/>
            <a:ext cx="44386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28" name="catalyst_num_4">
            <a:extLst xmlns:a="http://schemas.openxmlformats.org/drawingml/2006/main">
              <a:ext uri="{FF2B5EF4-FFF2-40B4-BE49-F238E27FC236}">
                <a16:creationId xmlns:a16="http://schemas.microsoft.com/office/drawing/2014/main" id="{699E12E8-1D0E-44DB-8BF6-2ECEFC3B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9D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9D6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catalyst_item_4">
            <a:extLst xmlns:a="http://schemas.openxmlformats.org/drawingml/2006/main">
              <a:ext uri="{FF2B5EF4-FFF2-40B4-BE49-F238E27FC236}">
                <a16:creationId xmlns:a16="http://schemas.microsoft.com/office/drawing/2014/main" id="{B0BA5B3A-0FC7-4B3B-9EBA-6BFA0F72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958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新产品 / 新区域贡献收入</a:t>
            </a:r>
          </a:p>
        </p:txBody>
      </p:sp>
      <p:cxnSp>
        <p:nvCxnSpPr>
          <p:cNvPr id="64" name="catalyst_rule_4"/>
          <p:cNvCxnSpPr/>
          <p:nvPr/>
        </p:nvCxnSpPr>
        <p:spPr>
          <a:xfrm xmlns:a="http://schemas.openxmlformats.org/drawingml/2006/main">
            <a:off x="876300" y="493395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31" name="risk_num_4">
            <a:extLst xmlns:a="http://schemas.openxmlformats.org/drawingml/2006/main">
              <a:ext uri="{FF2B5EF4-FFF2-40B4-BE49-F238E27FC236}">
                <a16:creationId xmlns:a16="http://schemas.microsoft.com/office/drawing/2014/main" id="{29C40D24-D296-4B6A-A9FE-92B4B68C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14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risk_item_4">
            <a:extLst xmlns:a="http://schemas.openxmlformats.org/drawingml/2006/main">
              <a:ext uri="{FF2B5EF4-FFF2-40B4-BE49-F238E27FC236}">
                <a16:creationId xmlns:a16="http://schemas.microsoft.com/office/drawing/2014/main" id="{C254BE17-67F5-4196-84B3-FDDF1BA0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958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汇率、贸易与地缘政治风险</a:t>
            </a:r>
          </a:p>
        </p:txBody>
      </p:sp>
      <p:cxnSp>
        <p:nvCxnSpPr>
          <p:cNvPr id="67" name="risk_rule_4"/>
          <p:cNvCxnSpPr/>
          <p:nvPr/>
        </p:nvCxnSpPr>
        <p:spPr>
          <a:xfrm xmlns:a="http://schemas.openxmlformats.org/drawingml/2006/main">
            <a:off x="6343650" y="4933950"/>
            <a:ext cx="44386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34" name="source">
            <a:extLst xmlns:a="http://schemas.openxmlformats.org/drawingml/2006/main">
              <a:ext uri="{FF2B5EF4-FFF2-40B4-BE49-F238E27FC236}">
                <a16:creationId xmlns:a16="http://schemas.microsoft.com/office/drawing/2014/main" id="{6CC8243D-6290-4D99-B1E4-8CEC8931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模板规则：风险必须具体到可能影响的业务或指标，避免只列通用风险词条。</a:t>
            </a:r>
          </a:p>
        </p:txBody>
      </p:sp>
    </p:spTree>
    <p:extLst>
      <p:ext uri="{BB962C8B-B14F-4D97-AF65-F5344CB8AC3E}">
        <p14:creationId xmlns:p14="http://schemas.microsoft.com/office/powerpoint/2010/main" val="18730863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ayout_label">
            <a:extLst xmlns:a="http://schemas.openxmlformats.org/drawingml/2006/main">
              <a:ext uri="{FF2B5EF4-FFF2-40B4-BE49-F238E27FC236}">
                <a16:creationId xmlns:a16="http://schemas.microsoft.com/office/drawing/2014/main" id="{DC5460BE-B96A-4681-9A3E-4A8AE8E6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E914B8E-9577-469E-8F57-5E5D9BFD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附录承载详细财务数据、口径说明与来源，不挤占核心叙事</a:t>
            </a:r>
          </a:p>
        </p:txBody>
      </p:sp>
      <p:cxnSp>
        <p:nvCxnSpPr>
          <p:cNvPr id="12" name="header_rule"/>
          <p:cNvCxnSpPr/>
          <p:nvPr/>
        </p:nvCxn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 xmlns:a="http://schemas.openxmlformats.org/drawingml/2006/main">
              <a:ext uri="{FF2B5EF4-FFF2-40B4-BE49-F238E27FC236}">
                <a16:creationId xmlns:a16="http://schemas.microsoft.com/office/drawing/2014/main" id="{E67FACF3-56C0-45B0-B32E-DF218451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APPENDIX</a:t>
            </a:r>
          </a:p>
        </p:txBody>
      </p:sp>
      <p:sp>
        <p:nvSpPr>
          <p:cNvPr id="5" name="page_no">
            <a:extLst xmlns:a="http://schemas.openxmlformats.org/drawingml/2006/main">
              <a:ext uri="{FF2B5EF4-FFF2-40B4-BE49-F238E27FC236}">
                <a16:creationId xmlns:a16="http://schemas.microsoft.com/office/drawing/2014/main" id="{CA78244C-9B47-4E9E-9167-BE69C84B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15" name="appendix_financial_table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668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952625"/>
                <a:gridCol w="1952625"/>
                <a:gridCol w="1952625"/>
                <a:gridCol w="1952625"/>
              </a:tblGrid>
              <a:tr h="412750">
                <a:tc>
                  <a:txBody>
                    <a:bodyPr/>
                    <a:lstStyle/>
                    <a:p>
                      <a:r>
                        <a:t>主要指标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2024A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2025E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2026E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2027E</a:t>
                      </a:r>
                    </a:p>
                  </a:txBody>
                  <a:tcPr marL="91440" marR="91440" marT="45720" marB="45720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t>营业收入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148.0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162.5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192.4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223.1</a:t>
                      </a:r>
                    </a:p>
                  </a:txBody>
                  <a:tcPr marL="91440" marR="91440" marT="45720" marB="45720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t>同比增速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35.4%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9.9%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18.4%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16.0%</a:t>
                      </a:r>
                    </a:p>
                  </a:txBody>
                  <a:tcPr marL="91440" marR="91440" marT="45720" marB="45720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t>综合毛利率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32.0%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30.2%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31.7%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32.6%</a:t>
                      </a:r>
                    </a:p>
                  </a:txBody>
                  <a:tcPr marL="91440" marR="91440" marT="45720" marB="45720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t>归母净利润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示例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示例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示例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示例</a:t>
                      </a:r>
                    </a:p>
                  </a:txBody>
                  <a:tcPr marL="91440" marR="91440" marT="45720" marB="45720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t>净利率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示例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示例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示例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示例</a:t>
                      </a:r>
                    </a:p>
                  </a:txBody>
                  <a:tcPr marL="91440" marR="91440" marT="45720" marB="45720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t>经营现金流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示例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示例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示例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示例</a:t>
                      </a:r>
                    </a:p>
                  </a:txBody>
                  <a:tcPr marL="91440" marR="91440" marT="45720" marB="45720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t>ROE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示例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示例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示例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示例</a:t>
                      </a:r>
                    </a:p>
                  </a:txBody>
                  <a:tcPr marL="91440" marR="91440" marT="45720" marB="45720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t>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示例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示例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9.7×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示例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appendix_sources_title">
            <a:extLst xmlns:a="http://schemas.openxmlformats.org/drawingml/2006/main">
              <a:ext uri="{FF2B5EF4-FFF2-40B4-BE49-F238E27FC236}">
                <a16:creationId xmlns:a16="http://schemas.microsoft.com/office/drawing/2014/main" id="{6F8E44CC-ABD8-4A94-95F5-55AC07E4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数据与引用规范</a:t>
            </a:r>
          </a:p>
        </p:txBody>
      </p:sp>
      <p:sp>
        <p:nvSpPr>
          <p:cNvPr id="8" name="appendix_sources">
            <a:extLst xmlns:a="http://schemas.openxmlformats.org/drawingml/2006/main">
              <a:ext uri="{FF2B5EF4-FFF2-40B4-BE49-F238E27FC236}">
                <a16:creationId xmlns:a16="http://schemas.microsoft.com/office/drawing/2014/main" id="{1C669A3A-92D7-4B5D-8A2C-76D5A163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5054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每项数据需保留：指标名称、数值、单位、期间、A/E属性、原文片段和source_ref。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11F867B7-56E9-4B87-9E66-7F65FEB9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示例来源：002444_2025-09-21.md；本页数据仅用于模板版式测试。</a:t>
            </a:r>
          </a:p>
        </p:txBody>
      </p:sp>
    </p:spTree>
    <p:extLst>
      <p:ext uri="{BB962C8B-B14F-4D97-AF65-F5344CB8AC3E}">
        <p14:creationId xmlns:p14="http://schemas.microsoft.com/office/powerpoint/2010/main" val="18661331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2026-07-17T16:12:03.6290000Z</dcterms:created>
  <dcterms:modified xsi:type="dcterms:W3CDTF">2026-07-17T16:12:03.6290000Z</dcterms:modified>
</coreProperties>
</file>