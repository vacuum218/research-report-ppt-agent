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ln w="28575">
              <a:solidFill>
                <a:srgbClr val="2F75B5"/>
              </a:solidFill>
            </a:ln>
          </c:spPr>
          <c:marker>
            <c:symbol val="circle"/>
            <c:size val="6"/>
            <c:spPr>
              <a:solidFill>
                <a:srgbClr val="2F75B5"/>
              </a:solidFill>
              <a:ln>
                <a:solidFill>
                  <a:srgbClr val="2F75B5"/>
                </a:solidFill>
              </a:ln>
            </c:spPr>
          </c:marker>
          <c:dPt>
            <c:idx val="2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2F75B5"/>
                  </a:solidFill>
                </a:ln>
              </c:spPr>
            </c:marker>
          </c:dPt>
          <c:dPt>
            <c:idx val="3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2F75B5"/>
                  </a:solidFill>
                </a:ln>
              </c:spPr>
            </c:marker>
          </c:dPt>
          <c:dPt>
            <c:idx val="4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2F75B5"/>
                  </a:solidFill>
                </a:ln>
              </c:spPr>
            </c:marker>
          </c:dPt>
          <c:cat>
            <c:strRef>
              <c:f>Sheet1!$A$2:$A$6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7168</c:v>
                </c:pt>
                <c:pt idx="1">
                  <c:v>10069</c:v>
                </c:pt>
                <c:pt idx="2">
                  <c:v>11076</c:v>
                </c:pt>
                <c:pt idx="3">
                  <c:v>13070</c:v>
                </c:pt>
                <c:pt idx="4">
                  <c:v>15161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收入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6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dPt>
            <c:idx val="2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ED7D31"/>
                  </a:solidFill>
                </a:ln>
              </c:spPr>
            </c:marker>
          </c:dPt>
          <c:dPt>
            <c:idx val="3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ED7D31"/>
                  </a:solidFill>
                </a:ln>
              </c:spPr>
            </c:marker>
          </c:dPt>
          <c:dPt>
            <c:idx val="4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ED7D31"/>
                  </a:solidFill>
                </a:ln>
              </c:spPr>
            </c:marker>
          </c:dPt>
          <c:cat>
            <c:strRef>
              <c:f>Sheet1!$A$2:$A$6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1053</c:v>
                </c:pt>
                <c:pt idx="1">
                  <c:v>1438</c:v>
                </c:pt>
                <c:pt idx="2">
                  <c:v>1654</c:v>
                </c:pt>
                <c:pt idx="3">
                  <c:v>2150</c:v>
                </c:pt>
                <c:pt idx="4">
                  <c:v>2688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收入</c:v>
                </c:pt>
              </c:strCache>
            </c:strRef>
          </c:tx>
          <c:spPr>
            <a:ln w="28575">
              <a:solidFill>
                <a:srgbClr val="70AD47"/>
              </a:solidFill>
            </a:ln>
          </c:spPr>
          <c:marker>
            <c:symbol val="circle"/>
            <c:size val="6"/>
            <c:spPr>
              <a:solidFill>
                <a:srgbClr val="70AD47"/>
              </a:solidFill>
              <a:ln>
                <a:solidFill>
                  <a:srgbClr val="70AD47"/>
                </a:solidFill>
              </a:ln>
            </c:spPr>
          </c:marker>
          <c:dPt>
            <c:idx val="2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70AD47"/>
                  </a:solidFill>
                </a:ln>
              </c:spPr>
            </c:marker>
          </c:dPt>
          <c:dPt>
            <c:idx val="3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70AD47"/>
                  </a:solidFill>
                </a:ln>
              </c:spPr>
            </c:marker>
          </c:dPt>
          <c:dPt>
            <c:idx val="4"/>
            <c:marker>
              <c:symbol val="circle"/>
              <c:size val="6"/>
              <c:spPr>
                <a:solidFill>
                  <a:srgbClr val="FFFFFF"/>
                </a:solidFill>
                <a:ln>
                  <a:solidFill>
                    <a:srgbClr val="70AD47"/>
                  </a:solidFill>
                </a:ln>
              </c:spPr>
            </c:marker>
          </c:dPt>
          <c:cat>
            <c:strRef>
              <c:f>Sheet1!$A$2:$A$6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2644</c:v>
                </c:pt>
                <c:pt idx="1">
                  <c:v>3229</c:v>
                </c:pt>
                <c:pt idx="2">
                  <c:v>3455</c:v>
                </c:pt>
                <c:pt idx="3">
                  <c:v>3939</c:v>
                </c:pt>
                <c:pt idx="4">
                  <c:v>4372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4748B"/>
              </a:solidFill>
              <a:latin typeface="Microsoft YaHei"/>
            </a:defRPr>
          </a:pPr>
        </a:p>
      </c:txPr>
    </c:legend>
    <c:plotVisOnly val="1"/>
    <c:dispBlanksAs val="span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巨星科技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巨星科技（002444）深度研究报告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002444  |  2025-09-21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/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巨星科技：品牌化转型驱动盈利改善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国内手工具龙头，全球工具出海领先者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巨星科技是国内手工具行业规模最大、渠道优势最强的龙头之一，也是亚洲乃至全球领先的工具出海企业。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•国内手工具行业规模最大、渠道最强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•亚洲乃至全球领先的工具出海企业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OBM战略跃迁，构建17个工具品牌矩阵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第三阶段（此后至今）OBM战略跃迁，通过自主培育与外延并购双轮驱动构建全球化品牌矩阵，目前已拥有17个工具行业品牌。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•自主培育与外延并购双轮驱动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•全球化品牌矩阵已拥有17个工具品牌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手工具现金牛稳固，工业工具高毛利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649"/>
                <a:gridCol w="867175"/>
                <a:gridCol w="867175"/>
                <a:gridCol w="867175"/>
                <a:gridCol w="867175"/>
                <a:gridCol w="86718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业务板块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2024年收入(亿元)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2024年收入占比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2025H1收入(亿元)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2025H1收入占比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手工具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100.69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68.05%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32.09%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46.2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65.74%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工业工具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32.29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21.82%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35.57%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16.32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23.23%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电动工具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14.38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9.72%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23.83%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10.56%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2024年手工具收入100.69亿元，占比68.05%，毛利率32.09%；工业工具收入32.29亿元，占比21.82%，毛利率35.57%；电动工具收入14.38亿元，占比9.72%，毛利率23.83%。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•工业工具毛利率最高达35.57%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•电动工具蓄势待发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工具行业：景气底部，龙头份额待提升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6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全球工具市场超千亿美元，CAGR 5.8%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全球工具行业2022年市场规模突破千亿美元至1030亿美元，2017-2022年CAGR约为5.8%。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•2022年规模达1030亿美元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•2017-2022年CAGR约5.8%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美国渠道去库近尾声，补库周期有望开启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2024年美国家居批发商库存同比-7.7%和零售库存同比-7.4%降幅均明显收窄，渠道去库已接近尾声。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•家居批发商库存降幅收窄至-7.7%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•零售库存降幅收窄至-7.4%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•去库进程接近尾声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竞争格局：ODM重渠道，OBM重品牌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9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北美零售双寡头垄断，合计份额近六成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家得宝与劳氏合计占据北美家居零售市场份额约59.1%，在动力工具品类中家得宝市占率30%，劳氏19%。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•家得宝与劳氏合计市占率59.1%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•动力工具品类：家得宝30%，劳氏19%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渠道+生产+品牌：三大壁垒构筑全球资源配置护城河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公司在渠道、生产、品牌三大维度形成系统性竞争壁垒，成为集“欧美本土服务、亚洲产业链制造、中国管理研发”于一体的全球资源配置型公司。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•渠道：深度绑定欧美零售巨头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•生产：全球化产能布局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•品牌：矩阵覆盖多品类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OBM收入占比近半，净利润CAGR达22.7%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OBM收入占比已从2016年的不足10%跃升至2024年的约47.9%，2017-2024年收入CAGR达19.4%，净利润CAGR达22.7%。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•2016年OBM占比不足10%，2024年跃至47.9%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•2017-2024年收入CAGR 19.4%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•净利润CAGR 22.7%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盈利预测：先抑后扬，2026年迎拐点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13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电动工具锂电突破，获年不少于3000万美元大订单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电动工具2024年20V锂电产品线实现关键突破，2025年7月获得国际大型零售公司每年不少于3000万美元订单，指定越南交付。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•20V锂电产品线关键突破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•获国际大型零售公司每年不少于3000万美元订单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•指定越南交付规避关税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2026年盈利拐点：收入增速18.4%，利润增速24.4%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08760"/>
          <a:ext cx="5242529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整体2025年毛利率阶段性回落至30.2%，2026年起收入增速回升至18.4%/16.0%，毛利率修复至31.7%/32.6%，归母净利润增速24.4%/22.2%。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•2025年毛利率暂降至30.2%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•2026年收入增速回升至18.4%，毛利率修复至31.7%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估值：目标价32.8元，首次覆盖“买入”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基于2026年EPS 2.52元，给予13倍PE，对应12个月目标价32.8元，首次覆盖给予“买入”评级。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•2026年EPS 2.52元，13倍PE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•12个月目标价32.8元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•首次覆盖给予“买入”评级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高关税风险：对华累计79%，东南亚产能同样受压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2025年美国对华关税累计达79%，公司越南、泰国、柬埔寨产能分别面临46%、36%、49%关税，OBM业务涨价传导效果不确定。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•对华关税累计79%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•越南、泰国、柬埔寨产能关税46%/36%/49%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•OBM涨价传导不确定性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感谢阅读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结束演示，感谢观看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