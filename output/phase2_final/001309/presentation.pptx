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a05a5dd0ed546a8" Type="http://schemas.openxmlformats.org/officeDocument/2006/relationships/officeDocument" Target="ppt/presentation.xml"/><Relationship Id="R7d9962a69e594f96" Type="http://schemas.openxmlformats.org/officeDocument/2006/relationships/extended-properties" Target="docProps/app.xml"/><Relationship Id="R822d5ee7c418413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33bf1e5b4c43dd"/>
  </p:sldMasterIdLst>
  <p:notesMasterIdLst>
    <p:notesMasterId xmlns:r="http://schemas.openxmlformats.org/officeDocument/2006/relationships" r:id="R84014388d7aa421f"/>
  </p:notesMasterIdLst>
  <p:sldIdLst>
    <p:sldId xmlns:ns0="http://schemas.openxmlformats.org/officeDocument/2006/relationships" id="272" ns0:id="rId22"/>
    <p:sldId xmlns:ns0="http://schemas.openxmlformats.org/officeDocument/2006/relationships" id="273" ns0:id="rId23"/>
    <p:sldId xmlns:ns0="http://schemas.openxmlformats.org/officeDocument/2006/relationships" id="274" ns0:id="rId24"/>
    <p:sldId xmlns:ns0="http://schemas.openxmlformats.org/officeDocument/2006/relationships" id="275" ns0:id="rId25"/>
    <p:sldId xmlns:ns0="http://schemas.openxmlformats.org/officeDocument/2006/relationships" id="276" ns0:id="rId26"/>
    <p:sldId xmlns:ns0="http://schemas.openxmlformats.org/officeDocument/2006/relationships" id="277" ns0:id="rId27"/>
    <p:sldId xmlns:ns0="http://schemas.openxmlformats.org/officeDocument/2006/relationships" id="278" ns0:id="rId28"/>
    <p:sldId xmlns:ns0="http://schemas.openxmlformats.org/officeDocument/2006/relationships" id="279" ns0:id="rId29"/>
    <p:sldId xmlns:ns0="http://schemas.openxmlformats.org/officeDocument/2006/relationships" id="280" ns0:id="rId30"/>
    <p:sldId xmlns:ns0="http://schemas.openxmlformats.org/officeDocument/2006/relationships" id="281" ns0:id="rId31"/>
    <p:sldId xmlns:ns0="http://schemas.openxmlformats.org/officeDocument/2006/relationships" id="282" ns0:id="rId32"/>
    <p:sldId xmlns:ns0="http://schemas.openxmlformats.org/officeDocument/2006/relationships" id="283" ns0:id="rId33"/>
    <p:sldId xmlns:ns0="http://schemas.openxmlformats.org/officeDocument/2006/relationships" id="284" ns0:id="rId34"/>
    <p:sldId xmlns:ns0="http://schemas.openxmlformats.org/officeDocument/2006/relationships" id="285" ns0:id="rId35"/>
    <p:sldId xmlns:ns0="http://schemas.openxmlformats.org/officeDocument/2006/relationships" id="286" ns0:id="rId36"/>
    <p:sldId xmlns:ns0="http://schemas.openxmlformats.org/officeDocument/2006/relationships" id="287" ns0:id="rId37"/>
    <p:sldId xmlns:ns0="http://schemas.openxmlformats.org/officeDocument/2006/relationships" id="288" ns0:id="rId38"/>
    <p:sldId xmlns:ns0="http://schemas.openxmlformats.org/officeDocument/2006/relationships" id="289" ns0:id="rId39"/>
    <p:sldId xmlns:ns0="http://schemas.openxmlformats.org/officeDocument/2006/relationships" id="290" ns0:id="rId40"/>
    <p:sldId xmlns:ns0="http://schemas.openxmlformats.org/officeDocument/2006/relationships" id="291" ns0:id="rId41"/>
    <p:sldId xmlns:ns0="http://schemas.openxmlformats.org/officeDocument/2006/relationships" id="292" ns0:id="rId42"/>
    <p:sldId xmlns:ns0="http://schemas.openxmlformats.org/officeDocument/2006/relationships" id="293" ns0:id="rId43"/>
    <p:sldId xmlns:ns0="http://schemas.openxmlformats.org/officeDocument/2006/relationships" id="294" ns0:id="rId44"/>
    <p:sldId xmlns:ns0="http://schemas.openxmlformats.org/officeDocument/2006/relationships" id="295" ns0:id="rId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33bf1e5b4c43dd" Type="http://schemas.openxmlformats.org/officeDocument/2006/relationships/slideMaster" Target="slideMasters/slideMaster1.xml"/><Relationship Id="R5e0171a3e283454a" Type="http://schemas.openxmlformats.org/officeDocument/2006/relationships/theme" Target="theme/theme1.xml"/><Relationship Id="R7c708c09f70944af" Type="http://schemas.openxmlformats.org/officeDocument/2006/relationships/tableStyles" Target="tableStyles.xml"/><Relationship Id="R84014388d7aa421f" Type="http://schemas.openxmlformats.org/officeDocument/2006/relationships/notesMaster" Target="notesMasters/notesMaster1.xml"/><Relationship Id="Rc3973d8dc3b8405d" Type="http://schemas.openxmlformats.org/officeDocument/2006/relationships/presProps" Target="presProps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5a67eb1a75f5475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<?xml version='1.0' encoding='UTF-8' standalone='yes'?>
<Relationships xmlns="http://schemas.openxmlformats.org/package/2006/relationships"><Relationship Id="Rae10f3aae0704bd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591e5772ae94391" Type="http://schemas.openxmlformats.org/officeDocument/2006/relationships/slideLayout" Target="../slideLayouts/slideLayout1.xml"/><Relationship Id="R0dd04bbc73a54fc7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91e5772ae943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/>
      <p:sp>
        <p:nvSpPr>
          <p:cNvPr id="1" name="cover_accent">
            <a:extLst>
              <a:ext uri="{FF2B5EF4-FFF2-40B4-BE49-F238E27FC236}">
                <a16:creationId xmlns:a16="http://schemas.microsoft.com/office/drawing/2014/main" id="{16E1F1E0-0FA3-4CD2-882C-B613B78F79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6FED"/>
          </a:solidFill>
          <a:ln w="0">
            <a:noFill/>
            <a:prstDash val="solid"/>
          </a:ln>
        </p:spPr>
      </p:sp>
      <p:sp>
        <p:nvSpPr>
          <p:cNvPr id="2" name="cover_eyebrow">
            <a:extLst>
              <a:ext uri="{FF2B5EF4-FFF2-40B4-BE49-F238E27FC236}">
                <a16:creationId xmlns:a16="http://schemas.microsoft.com/office/drawing/2014/main" id="{6D37FB5B-67AF-4B58-90FB-59F460CD0985}"/>
              </a:ext>
            </a:extLst>
          </p:cNvPr>
          <p:cNvSpPr>
            <a:spLocks noGrp="1"/>
          </p:cNvSpPr>
          <p:nvPr/>
        </p:nvSpPr>
        <p:spPr>
          <a:xfrm>
            <a:off x="704850" y="5905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rPr>
              <a:t>FINANCIAL RESEARCH PRESENTATION</a:t>
            </a:r>
          </a:p>
        </p:txBody>
      </p:sp>
      <p:sp>
        <p:nvSpPr>
          <p:cNvPr id="3" name="cover_title">
            <a:extLst>
              <a:ext uri="{FF2B5EF4-FFF2-40B4-BE49-F238E27FC236}">
                <a16:creationId xmlns:a16="http://schemas.microsoft.com/office/drawing/2014/main" id="{A05A7682-4EB2-4CA7-9462-D999697F1B0A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7239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德明利</a:t>
            </a:r>
          </a:p>
        </p:txBody>
      </p:sp>
      <p:sp>
        <p:nvSpPr>
          <p:cNvPr id="4" name="cover_subtitle">
            <a:extLst>
              <a:ext uri="{FF2B5EF4-FFF2-40B4-BE49-F238E27FC236}">
                <a16:creationId xmlns:a16="http://schemas.microsoft.com/office/drawing/2014/main" id="{72E62B7C-084B-4FA6-8E96-15968EFB6670}"/>
              </a:ext>
            </a:extLst>
          </p:cNvPr>
          <p:cNvSpPr>
            <a:spLocks noGrp="1"/>
          </p:cNvSpPr>
          <p:nvPr/>
        </p:nvSpPr>
        <p:spPr>
          <a:xfrm>
            <a:off x="704850" y="27241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德明利（001309）深度研究报告</a:t>
            </a:r>
          </a:p>
        </p:txBody>
      </p:sp>
      <p:cxnSp>
        <p:nvCxnSpPr>
          <p:cNvPr id="17" name="cover_rule"/>
          <p:cNvCxnSpPr/>
          <p:nvPr/>
        </p:nvCxnSpPr>
        <p:spPr>
          <a:xfrm>
            <a:off x="704850" y="3638550"/>
            <a:ext cx="7239000" cy="0"/>
          </a:xfrm>
          <a:prstGeom prst="straightConnector1">
            <a:avLst/>
          </a:prstGeom>
          <a:ln w="9525">
            <a:solidFill>
              <a:srgbClr val="4A6782"/>
            </a:solidFill>
            <a:prstDash val="solid"/>
          </a:ln>
        </p:spPr>
      </p:cxnSp>
      <p:sp>
        <p:nvSpPr>
          <p:cNvPr id="6" name="cover_meta">
            <a:extLst>
              <a:ext uri="{FF2B5EF4-FFF2-40B4-BE49-F238E27FC236}">
                <a16:creationId xmlns:a16="http://schemas.microsoft.com/office/drawing/2014/main" id="{AD715C60-A248-401B-BE71-5D747A151ED2}"/>
              </a:ext>
            </a:extLst>
          </p:cNvPr>
          <p:cNvSpPr>
            <a:spLocks noGrp="1"/>
          </p:cNvSpPr>
          <p:nvPr/>
        </p:nvSpPr>
        <p:spPr>
          <a:xfrm>
            <a:off x="704850" y="38862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001309  |  2025-10-28</a:t>
            </a:r>
          </a:p>
        </p:txBody>
      </p:sp>
      <p:sp>
        <p:nvSpPr>
          <p:cNvPr id="7" name="cover_tag">
            <a:extLst>
              <a:ext uri="{FF2B5EF4-FFF2-40B4-BE49-F238E27FC236}">
                <a16:creationId xmlns:a16="http://schemas.microsoft.com/office/drawing/2014/main" id="{EC65AA1E-28A8-44A0-91B1-7AE276164E1E}"/>
              </a:ext>
            </a:extLst>
          </p:cNvPr>
          <p:cNvSpPr>
            <a:spLocks noGrp="1"/>
          </p:cNvSpPr>
          <p:nvPr/>
        </p:nvSpPr>
        <p:spPr>
          <a:xfrm>
            <a:off x="704850" y="58864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/>
        </p:txBody>
      </p:sp>
      <p:sp>
        <p:nvSpPr>
          <p:cNvPr id="8" name="cover_bar_1">
            <a:extLst>
              <a:ext uri="{FF2B5EF4-FFF2-40B4-BE49-F238E27FC236}">
                <a16:creationId xmlns:a16="http://schemas.microsoft.com/office/drawing/2014/main" id="{14E6FB72-A0C1-480E-B218-742E7149257C}"/>
              </a:ext>
            </a:extLst>
          </p:cNvPr>
          <p:cNvSpPr>
            <a:spLocks noGrp="1"/>
          </p:cNvSpPr>
          <p:nvPr/>
        </p:nvSpPr>
        <p:spPr>
          <a:xfrm>
            <a:off x="8858250" y="4495800"/>
            <a:ext cx="304800" cy="83820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9" name="cover_bar_2">
            <a:extLst>
              <a:ext uri="{FF2B5EF4-FFF2-40B4-BE49-F238E27FC236}">
                <a16:creationId xmlns:a16="http://schemas.microsoft.com/office/drawing/2014/main" id="{83EB1AB3-A0E7-4383-93F9-132CD0BDE717}"/>
              </a:ext>
            </a:extLst>
          </p:cNvPr>
          <p:cNvSpPr>
            <a:spLocks noGrp="1"/>
          </p:cNvSpPr>
          <p:nvPr/>
        </p:nvSpPr>
        <p:spPr>
          <a:xfrm>
            <a:off x="9448800" y="3981450"/>
            <a:ext cx="304800" cy="135255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10" name="cover_bar_3">
            <a:extLst>
              <a:ext uri="{FF2B5EF4-FFF2-40B4-BE49-F238E27FC236}">
                <a16:creationId xmlns:a16="http://schemas.microsoft.com/office/drawing/2014/main" id="{A3935099-EF09-4C80-A8BB-4E4F41C147BB}"/>
              </a:ext>
            </a:extLst>
          </p:cNvPr>
          <p:cNvSpPr>
            <a:spLocks noGrp="1"/>
          </p:cNvSpPr>
          <p:nvPr/>
        </p:nvSpPr>
        <p:spPr>
          <a:xfrm>
            <a:off x="10039350" y="3371850"/>
            <a:ext cx="304800" cy="196215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11" name="cover_bar_4">
            <a:extLst>
              <a:ext uri="{FF2B5EF4-FFF2-40B4-BE49-F238E27FC236}">
                <a16:creationId xmlns:a16="http://schemas.microsoft.com/office/drawing/2014/main" id="{C40C0491-CB72-4723-B6FD-2749DE037F6A}"/>
              </a:ext>
            </a:extLst>
          </p:cNvPr>
          <p:cNvSpPr>
            <a:spLocks noGrp="1"/>
          </p:cNvSpPr>
          <p:nvPr/>
        </p:nvSpPr>
        <p:spPr>
          <a:xfrm>
            <a:off x="10629900" y="2609850"/>
            <a:ext cx="304800" cy="2724150"/>
          </a:xfrm>
          <a:prstGeom prst="rect">
            <a:avLst/>
          </a:prstGeom>
          <a:solidFill>
            <a:srgbClr val="78C8E8"/>
          </a:solidFill>
          <a:ln w="0">
            <a:noFill/>
            <a:prstDash val="solid"/>
          </a:ln>
        </p:spPr>
      </p:sp>
      <p:sp>
        <p:nvSpPr>
          <p:cNvPr id="12" name="cover_marker">
            <a:extLst>
              <a:ext uri="{FF2B5EF4-FFF2-40B4-BE49-F238E27FC236}">
                <a16:creationId xmlns:a16="http://schemas.microsoft.com/office/drawing/2014/main" id="{C461E8C0-903C-441C-9B13-DF6596890E7F}"/>
              </a:ext>
            </a:extLst>
          </p:cNvPr>
          <p:cNvSpPr>
            <a:spLocks noGrp="1"/>
          </p:cNvSpPr>
          <p:nvPr/>
        </p:nvSpPr>
        <p:spPr>
          <a:xfrm>
            <a:off x="9906000" y="61531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825" b="1">
                <a:solidFill>
                  <a:srgbClr val="7FA2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FA2BF"/>
                </a:solidFill>
                <a:latin typeface="Microsoft YaHei"/>
                <a:ea typeface="Microsoft YaHei"/>
                <a:cs typeface="Microsoft YaHei"/>
              </a:rPr>
              <a:t>01 / COVER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自研主控驱动跃迁，存储周期与产品放量共振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2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自研9颗主控芯片，加速向高价值领域拓展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公司已积累9颗自研主控芯片，覆盖移动存储与SATA SSD，并加速向PCIe SSD、嵌入式及企业级存储拓展。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•覆盖移动存储与SATA SSD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•延伸至PCIe SSD、嵌入式及企业级存储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Q3单季营收25.5亿元，净利润同比增166.8%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2025年Q3单季营收25.5亿元（同比+79.47%），净利润9087万元（同比+166.80%）。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•营收同比+79.47%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•净利润同比+166.80%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预计2024-2026年归母净利润分别为3.97/6.57/10.08亿元，对应增速1489%/65%/53%。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预计2024-2026年归母净利润分别为3.97/6.57/10.08亿元，对应增速1489%/65%/53%。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•2024年归母净利润3.97亿元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•2025年6.57亿元，2026年10.08亿元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维持买入评级，2026E PE仅16.64倍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维持“买入”评级，基于2026年预期EPS 6.23元，当前股价对应16.64倍PE。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•基于2026E EPS 6.23元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•当前股价对应16.64倍PE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自研主控芯片构筑核心壁垒，四大产品线协同打开成长空间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7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9颗自研主控芯片覆盖数据中心、AI和车载电子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公司已自主研发9颗主控芯片，产品覆盖数据中心、AI、车载电子等领域。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•产品覆盖数据中心、AI、车载电子等高端领域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移动存储、SSD、嵌入式、内存条四大产品线协同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形成移动存储、固态硬盘、嵌入式存储和内存条四大产品线。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•覆盖消费级与企业级市场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前四大股东持股47.61%，李虎持股超后三大股东之和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前四大股东合计持股约47.61%，李虎一人持股超后三大股东之和。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•李虎持股集中，治理结构稳定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募投近12亿元，加码PCIe SSD与嵌入式存储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2023年募投项目合计投资近12亿元，其中PCIe SSD项目投资约4.99亿元，嵌入式项目投资约6.67亿元。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•PCIe SSD项目投资4.99亿元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•嵌入式项目投资6.67亿元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财务与经营分析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12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移动存储占比从58.3%降至13.06%，产品结构优化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传统移动存储营收从2023年10.35亿元降至2025H1的5.37亿元，占比从58.3%降至13.06%。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•嵌入式与SSD成为主力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销售费用率仅0.85%，显著低于同行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2024年销售费用率0.85%，远低于江波龙4.42%和佰维存储3.79%。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•江波龙4.42%，佰维存储3.79%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2024年净利率7.35%，超越江波龙、佰维存储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2024年全年销售净利率7.35%，高于江波龙2.89%、佰维存储2.02%、朗科科技-13.17%。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•江波龙2.89%，佰维存储2.02%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•自研主控与成本管控构筑优势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已量产8款闪存主控芯片，制程突破22nm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公司已量产8款闪存主控芯片，主控技术突破至22nm及以下。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•技术领先，支撑高附加值产品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闪存行业市场广阔，模组+主控模式大有可为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17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2025年NAND Flash市场规模约870亿美元，同比+29%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TrendForce预测2025年全球NAND Flash市场规模约870亿美元，同比增长约29%。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•AI与服务器需求驱动增长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服务器NAND容量同比增长108%，企业级需求爆发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2024年服务器NAND容量同比暴增108%。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•eSSD占比持续提升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AI服务器采购企业级SSD超45EB，年增60%以上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2024年AI服务器客户对企业级SSD采购容量突破45EB，市场年增长率超60%。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•AI推理驱动高容量存储需求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中国大陆闪存模组厂合计市占率34%，国产替代加速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2023年前十大闪存模组厂中中国大陆模组厂合计市占率34%。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•德明利等国产厂商份额持续提升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估值高于可比均值，2025E/2026E PE 37.4x/28.6x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可比公司2025E/2026E平均PE分别为37.4倍/28.6倍，德明利当前估值高于均值。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•成长性支撑估值溢价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经营现金流2026年转正，后续大幅改善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经营活动现金流2023-2025年持续为负，预计2026年转正至-2.41亿元，2027-2028年分别达到10.00亿和18.00亿元。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•2026E -2.41亿元，2027E 10亿元，2028E 18亿元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90" y="685800"/>
            <a:ext cx="10241280" cy="1371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德明利：自研主控+全品类布局，成长路径清晰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2331720"/>
            <a:ext cx="9753539" cy="10972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结束页，总结投资观点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703320"/>
            <a:ext cx="9265889" cy="21945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•买入评级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•存储周期上行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2026-07-17T16:12:03.6290000Z</dcterms:created>
  <dcterms:modified xsi:type="dcterms:W3CDTF">2026-07-17T16:12:03.6290000Z</dcterms:modified>
</coreProperties>
</file>