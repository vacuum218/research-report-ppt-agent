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a05a5dd0ed546a8" Type="http://schemas.openxmlformats.org/officeDocument/2006/relationships/officeDocument" Target="ppt/presentation.xml"/><Relationship Id="R7d9962a69e594f96" Type="http://schemas.openxmlformats.org/officeDocument/2006/relationships/extended-properties" Target="docProps/app.xml"/><Relationship Id="R822d5ee7c418413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3bf1e5b4c43dd"/>
  </p:sldMasterIdLst>
  <p:notesMasterIdLst>
    <p:notesMasterId xmlns:r="http://schemas.openxmlformats.org/officeDocument/2006/relationships" r:id="R84014388d7aa421f"/>
  </p:notesMasterIdLst>
  <p:sldIdLst>
    <p:sldId xmlns:ns0="http://schemas.openxmlformats.org/officeDocument/2006/relationships" id="272" ns0:id="rId22"/>
    <p:sldId xmlns:ns0="http://schemas.openxmlformats.org/officeDocument/2006/relationships" id="273" ns0:id="rId23"/>
    <p:sldId xmlns:ns0="http://schemas.openxmlformats.org/officeDocument/2006/relationships" id="274" ns0:id="rId24"/>
    <p:sldId xmlns:ns0="http://schemas.openxmlformats.org/officeDocument/2006/relationships" id="275" ns0:id="rId25"/>
    <p:sldId xmlns:ns0="http://schemas.openxmlformats.org/officeDocument/2006/relationships" id="276" ns0:id="rId26"/>
    <p:sldId xmlns:ns0="http://schemas.openxmlformats.org/officeDocument/2006/relationships" id="277" ns0:id="rId27"/>
    <p:sldId xmlns:ns0="http://schemas.openxmlformats.org/officeDocument/2006/relationships" id="278" ns0:id="rId28"/>
    <p:sldId xmlns:ns0="http://schemas.openxmlformats.org/officeDocument/2006/relationships" id="279" ns0:id="rId29"/>
    <p:sldId xmlns:ns0="http://schemas.openxmlformats.org/officeDocument/2006/relationships" id="280" ns0:id="rId30"/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  <p:sldId xmlns:ns0="http://schemas.openxmlformats.org/officeDocument/2006/relationships" id="286" ns0:id="rId36"/>
    <p:sldId xmlns:ns0="http://schemas.openxmlformats.org/officeDocument/2006/relationships" id="287" ns0:id="rId37"/>
    <p:sldId xmlns:ns0="http://schemas.openxmlformats.org/officeDocument/2006/relationships" id="288" ns0:id="rId38"/>
    <p:sldId xmlns:ns0="http://schemas.openxmlformats.org/officeDocument/2006/relationships" id="289" ns0:id="rId39"/>
    <p:sldId xmlns:ns0="http://schemas.openxmlformats.org/officeDocument/2006/relationships" id="290" ns0:id="rId40"/>
    <p:sldId xmlns:ns0="http://schemas.openxmlformats.org/officeDocument/2006/relationships" id="291" ns0:id="rId41"/>
    <p:sldId xmlns:ns0="http://schemas.openxmlformats.org/officeDocument/2006/relationships" id="292" ns0:id="rId42"/>
    <p:sldId xmlns:ns0="http://schemas.openxmlformats.org/officeDocument/2006/relationships" id="293" ns0:id="rId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33bf1e5b4c43dd" Type="http://schemas.openxmlformats.org/officeDocument/2006/relationships/slideMaster" Target="slideMasters/slideMaster1.xml"/><Relationship Id="R5e0171a3e283454a" Type="http://schemas.openxmlformats.org/officeDocument/2006/relationships/theme" Target="theme/theme1.xml"/><Relationship Id="R7c708c09f70944af" Type="http://schemas.openxmlformats.org/officeDocument/2006/relationships/tableStyles" Target="tableStyles.xml"/><Relationship Id="R84014388d7aa421f" Type="http://schemas.openxmlformats.org/officeDocument/2006/relationships/notesMaster" Target="notesMasters/notesMaster1.xml"/><Relationship Id="Rc3973d8dc3b8405d" Type="http://schemas.openxmlformats.org/officeDocument/2006/relationships/presProps" Target="presProps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5a67eb1a75f5475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ae10f3aae0704bd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591e5772ae94391" Type="http://schemas.openxmlformats.org/officeDocument/2006/relationships/slideLayout" Target="../slideLayouts/slideLayout1.xml"/><Relationship Id="R0dd04bbc73a54fc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1e5772ae9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/>
      <p:sp>
        <p:nvSpPr>
          <p:cNvPr id="1" name="cover_accent">
            <a:extLst>
              <a:ext uri="{FF2B5EF4-FFF2-40B4-BE49-F238E27FC236}">
                <a16:creationId xmlns:a16="http://schemas.microsoft.com/office/drawing/2014/main" id="{16E1F1E0-0FA3-4CD2-882C-B613B78F79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2" name="cover_eyebrow">
            <a:extLst>
              <a:ext uri="{FF2B5EF4-FFF2-40B4-BE49-F238E27FC236}">
                <a16:creationId xmlns:a16="http://schemas.microsoft.com/office/drawing/2014/main" id="{6D37FB5B-67AF-4B58-90FB-59F460CD0985}"/>
              </a:ext>
            </a:extLst>
          </p:cNvPr>
          <p:cNvSpPr>
            <a:spLocks noGrp="1"/>
          </p:cNvSpPr>
          <p:nvPr/>
        </p:nvSpPr>
        <p:spPr>
          <a:xfrm>
            <a:off x="704850" y="5905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rPr>
              <a:t>FINANCIAL RESEARCH PRESENTATION</a:t>
            </a:r>
          </a:p>
        </p:txBody>
      </p:sp>
      <p:sp>
        <p:nvSpPr>
          <p:cNvPr id="3" name="cover_title">
            <a:extLst>
              <a:ext uri="{FF2B5EF4-FFF2-40B4-BE49-F238E27FC236}">
                <a16:creationId xmlns:a16="http://schemas.microsoft.com/office/drawing/2014/main" id="{A05A7682-4EB2-4CA7-9462-D999697F1B0A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7239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普天科技</a:t>
            </a:r>
          </a:p>
        </p:txBody>
      </p:sp>
      <p:sp>
        <p:nvSpPr>
          <p:cNvPr id="4" name="cover_subtitle">
            <a:extLst>
              <a:ext uri="{FF2B5EF4-FFF2-40B4-BE49-F238E27FC236}">
                <a16:creationId xmlns:a16="http://schemas.microsoft.com/office/drawing/2014/main" id="{72E62B7C-084B-4FA6-8E96-15968EFB6670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普天科技（002544）深度研究报告</a:t>
            </a:r>
          </a:p>
        </p:txBody>
      </p:sp>
      <p:cxnSp>
        <p:nvCxnSpPr>
          <p:cNvPr id="17" name="cover_rule"/>
          <p:cNvCxnSpPr/>
          <p:nvPr/>
        </p:nvCxnSpPr>
        <p:spPr>
          <a:xfrm>
            <a:off x="704850" y="3638550"/>
            <a:ext cx="7239000" cy="0"/>
          </a:xfrm>
          <a:prstGeom prst="straightConnector1">
            <a:avLst/>
          </a:prstGeom>
          <a:ln w="9525">
            <a:solidFill>
              <a:srgbClr val="4A6782"/>
            </a:solidFill>
            <a:prstDash val="solid"/>
          </a:ln>
        </p:spPr>
      </p:cxnSp>
      <p:sp>
        <p:nvSpPr>
          <p:cNvPr id="6" name="cover_meta">
            <a:extLst>
              <a:ext uri="{FF2B5EF4-FFF2-40B4-BE49-F238E27FC236}">
                <a16:creationId xmlns:a16="http://schemas.microsoft.com/office/drawing/2014/main" id="{AD715C60-A248-401B-BE71-5D747A151ED2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002544  |  2025-10-28</a:t>
            </a:r>
          </a:p>
        </p:txBody>
      </p:sp>
      <p:sp>
        <p:nvSpPr>
          <p:cNvPr id="7" name="cover_tag">
            <a:extLst>
              <a:ext uri="{FF2B5EF4-FFF2-40B4-BE49-F238E27FC236}">
                <a16:creationId xmlns:a16="http://schemas.microsoft.com/office/drawing/2014/main" id="{EC65AA1E-28A8-44A0-91B1-7AE276164E1E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信息通信</a:t>
            </a:r>
          </a:p>
        </p:txBody>
      </p:sp>
      <p:sp>
        <p:nvSpPr>
          <p:cNvPr id="8" name="cover_bar_1">
            <a:extLst>
              <a:ext uri="{FF2B5EF4-FFF2-40B4-BE49-F238E27FC236}">
                <a16:creationId xmlns:a16="http://schemas.microsoft.com/office/drawing/2014/main" id="{14E6FB72-A0C1-480E-B218-742E7149257C}"/>
              </a:ext>
            </a:extLst>
          </p:cNvPr>
          <p:cNvSpPr>
            <a:spLocks noGrp="1"/>
          </p:cNvSpPr>
          <p:nvPr/>
        </p:nvSpPr>
        <p:spPr>
          <a:xfrm>
            <a:off x="8858250" y="4495800"/>
            <a:ext cx="304800" cy="83820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9" name="cover_bar_2">
            <a:extLst>
              <a:ext uri="{FF2B5EF4-FFF2-40B4-BE49-F238E27FC236}">
                <a16:creationId xmlns:a16="http://schemas.microsoft.com/office/drawing/2014/main" id="{83EB1AB3-A0E7-4383-93F9-132CD0BDE717}"/>
              </a:ext>
            </a:extLst>
          </p:cNvPr>
          <p:cNvSpPr>
            <a:spLocks noGrp="1"/>
          </p:cNvSpPr>
          <p:nvPr/>
        </p:nvSpPr>
        <p:spPr>
          <a:xfrm>
            <a:off x="9448800" y="3981450"/>
            <a:ext cx="304800" cy="13525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0" name="cover_bar_3">
            <a:extLst>
              <a:ext uri="{FF2B5EF4-FFF2-40B4-BE49-F238E27FC236}">
                <a16:creationId xmlns:a16="http://schemas.microsoft.com/office/drawing/2014/main" id="{A3935099-EF09-4C80-A8BB-4E4F41C147BB}"/>
              </a:ext>
            </a:extLst>
          </p:cNvPr>
          <p:cNvSpPr>
            <a:spLocks noGrp="1"/>
          </p:cNvSpPr>
          <p:nvPr/>
        </p:nvSpPr>
        <p:spPr>
          <a:xfrm>
            <a:off x="10039350" y="3371850"/>
            <a:ext cx="304800" cy="19621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1" name="cover_bar_4">
            <a:extLst>
              <a:ext uri="{FF2B5EF4-FFF2-40B4-BE49-F238E27FC236}">
                <a16:creationId xmlns:a16="http://schemas.microsoft.com/office/drawing/2014/main" id="{C40C0491-CB72-4723-B6FD-2749DE037F6A}"/>
              </a:ext>
            </a:extLst>
          </p:cNvPr>
          <p:cNvSpPr>
            <a:spLocks noGrp="1"/>
          </p:cNvSpPr>
          <p:nvPr/>
        </p:nvSpPr>
        <p:spPr>
          <a:xfrm>
            <a:off x="10629900" y="2609850"/>
            <a:ext cx="304800" cy="2724150"/>
          </a:xfrm>
          <a:prstGeom prst="rect">
            <a:avLst/>
          </a:prstGeom>
          <a:solidFill>
            <a:srgbClr val="78C8E8"/>
          </a:solidFill>
          <a:ln w="0">
            <a:noFill/>
            <a:prstDash val="solid"/>
          </a:ln>
        </p:spPr>
      </p:sp>
      <p:sp>
        <p:nvSpPr>
          <p:cNvPr id="12" name="cover_marker">
            <a:extLst>
              <a:ext uri="{FF2B5EF4-FFF2-40B4-BE49-F238E27FC236}">
                <a16:creationId xmlns:a16="http://schemas.microsoft.com/office/drawing/2014/main" id="{C461E8C0-903C-441C-9B13-DF6596890E7F}"/>
              </a:ext>
            </a:extLst>
          </p:cNvPr>
          <p:cNvSpPr>
            <a:spLocks noGrp="1"/>
          </p:cNvSpPr>
          <p:nvPr/>
        </p:nvSpPr>
        <p:spPr>
          <a:xfrm>
            <a:off x="9906000" y="61531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rPr>
              <a:t>01 / COVER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战略升维与结构重塑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2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普天科技：从研究所民品部门到深交所上市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普天科技前身为中国电子科技集团公司第七研究所民品部门，于2000年转制组建为有限责任公司，2011年1月在深交所上市（股票代码：002544）。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•定位为集团在粤港澳大湾区的核心上市平台。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2024年三大业务板块收入与毛利率分化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170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160"/>
                <a:gridCol w="880492"/>
                <a:gridCol w="637945"/>
                <a:gridCol w="880492"/>
                <a:gridCol w="637945"/>
                <a:gridCol w="880495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业务板块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2022年收入（亿元）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占比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2023年收入（亿元）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占比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2024年收入（亿元）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专网通信与智慧应用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41.59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58.78%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27.71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50.73%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22.42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公网通信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15.11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21.35%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14.92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27.31%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15.81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智能制造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14.06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19.87%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21.96%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11.49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70.76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54.63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49.73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2024年，专网通信与智慧应用收入22.42亿元（占比45.08%，毛利率18.60%），公网通信收入15.81亿元（占比31.80%，毛利率10.62%），智能制造收入11.49亿元（占比23.11%，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•毛利率23.26%）。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股东赋能与全链闭环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5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中国电科：14个国家级重点实验室助力普天科技卡位卫星互联网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中国电子科技集团是中央直接管理的国有骨干企业，拥有14个国家级重点实验室与12个国家级质量检测机构。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•普天科技定位为集团粤港澳大湾区核心上市平台，中标青海ICT一体化等重大项目。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参与CCSA标准制定，完成手持机直连卫星样机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公司积极参与CCSA空天地协同组网标准制定，已完成“无信关站”手持机直连低轨卫星通信样机研制。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组网加速与政策闭环共振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8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卫星互联网市场2025年预计达376亿元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2024年卫星互联网行业市场规模为353.3亿元，预计2025年增至376亿元，近五年复合增速为6.71%。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“无信关站”手持机直连卫星样机研制完成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普天科技在手OR“无信关站”手持机直连低轨卫星通信技术已完成样机研制。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•PDT星通站实现二合一集成。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•与氦星光联等成立空天智算联合研发中心。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盈利预测：三大业务分化修复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11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2025年收入触底回升，增速达10%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7623"/>
                <a:gridCol w="1118406"/>
                <a:gridCol w="818832"/>
                <a:gridCol w="818832"/>
                <a:gridCol w="818836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收入（亿元）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2024年（近一年）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2026E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2027E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公网通信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15.81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18.19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20.91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24.05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10.62%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11%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11%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11%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专网通信与智慧应用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22.42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23.54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24.72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25.95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18.60%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智能制造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11.49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13.22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15.2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17.48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公司整体收入预计2025年触底回升，2025-2027年收入增速分别为10%、11%、11%，毛利率稳定在17%左右。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•销售、管理、研发费用率逐年下降。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盈利拐点确立，现金流改善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13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预计公司归母净利润从2024年的0.11亿元升至2025年的0.97亿元，经营现金流净额从0.56亿元改善至2.27亿元。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217"/>
                <a:gridCol w="903328"/>
                <a:gridCol w="903328"/>
                <a:gridCol w="903328"/>
                <a:gridCol w="903328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2024A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2026E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2027E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营业总收入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49.73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56.07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63.33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71.08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营业总成本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50.02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55.06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61.22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67.80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其中：营业成本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41.20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45.98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51.61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57.57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税金及附加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0.20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0.17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0.19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0.21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销售费用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1.97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2.13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2.34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2.56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管理费用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2.21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2.35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2.53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2.77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研发费用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2.52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2.69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2.91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3.20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财务费用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-0.03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0.06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0.06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0.07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预计公司归母净利润从2024年的0.11亿元升至2025年的0.97亿元，经营现金流净额从0.56亿元改善至2.27亿元。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2025年PE 159.8倍，2027年收窄至59.4倍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555"/>
                <a:gridCol w="1479558"/>
                <a:gridCol w="687353"/>
                <a:gridCol w="687353"/>
                <a:gridCol w="687353"/>
                <a:gridCol w="687357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指标类别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指标名称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2024A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2026E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2027E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成长能力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营收同比增速（%）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-8.98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12.75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12.95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12.24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归母净利润同比增速（%）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-68.56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781.82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94.85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38.10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盈利能力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销售毛利率（%）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17.15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18.00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18.50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19.00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归母净利率（%）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0.22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1.73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2.98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3.67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加权平均ROE（%）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0.30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2.60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4.95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6.53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基本每股收益（元）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0.02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0.29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0.37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0.38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每股净资产（元）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5.49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5.61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5.87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6.23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运营能力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应收账款周转率（次）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1.14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1.20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1.25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1.30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以最新市值约155亿元计算，公司2025-2027年对应PE分别为159.8倍、82.0倍和59.4倍，PB分别为4.06倍、3.88倍和3.65倍。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估值失真与价值洼地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16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普天科技当前PE(TTM)约1,588倍，处于利润低谷期，2025年第三季度单季归母净利润已回升至3,836万元，同比+282.07%。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44"/>
                <a:gridCol w="1344354"/>
                <a:gridCol w="958957"/>
                <a:gridCol w="1652674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公司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业务定位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PE(TTM，倍）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国博电子(688375)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卫星核心元器件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42.4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盈利稳定，估值合理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中国卫通(601698)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卫星运营服务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193.42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亚洲第二大固网卫星运营商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北斗星通(002151)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导航定位产品与服务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193.9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北斗产业链首家上市公司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海格通信(002465)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导航芯片、地面设备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527.79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2024年净利润同比降92.44%致PE走高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中国卫星(600118)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宇航制造与卫星应用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负值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微利/亏损，PE为负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航天宏图(688066)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卫星遥感与全产业链布局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负值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亏损状态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上海瀚讯(300762)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卫星通信设备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负值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亏损状态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震有科技(688418)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卫星通信设备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负值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亏损状态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普天科技当前PE(TTM)约1,588倍，处于利润低谷期，2025年第三季度单季归母净利润已回升至3,836万元，同比+282.07%。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推荐评级：2025年PE 143X，远低于可比均值465X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维持普天科技“推荐”评级，当前2025年PE约143X，显著低于可比公司均值465X。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风险因素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19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低轨卫星建设进度或低于预期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国内低轨卫星互联网系统仍处于规划、研发与验证阶段，建设进度可能低于预期，影响公司业务增量兑现。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•卫星互联网业务尚未形成独立收入，存在投入产出不确定性。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•手持机直连卫星大规模商用时间表不确定。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智能制造板块毛利率从2022年的36.10%降至2024年的23.26%，预测2025年可能进一步降至20.67%，竞争加剧导致盈利能力承压。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智能制造板块毛利率从2022年的36.10%降至2024年的23.26%，预测2025年可能进一步降至20.67%，竞争加剧导致盈利能力承压。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•运营商订单季节性波动可能放大短期业绩波动。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90" y="685800"/>
            <a:ext cx="102412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普天科技：卫星互联网国家队，盈利拐点初现，维持“推荐”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2331720"/>
            <a:ext cx="9753539" cy="10972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Summarize investment thesis and rating.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703320"/>
            <a:ext cx="9265889" cy="21945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•中国电科控股，全链条资质与标准制定卡位。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•2025年收入触底回升，归母净利润大幅改善。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•当前估值失真，2025年PE 143X远低于可比均值。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•风险关注卫星互联网建设进度及竞争加剧。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2026-07-17T16:12:03.6290000Z</dcterms:created>
  <dcterms:modified xsi:type="dcterms:W3CDTF">2026-07-17T16:12:03.6290000Z</dcterms:modified>
</coreProperties>
</file>