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a05a5dd0ed546a8" Type="http://schemas.openxmlformats.org/officeDocument/2006/relationships/officeDocument" Target="ppt/presentation.xml"/><Relationship Id="R7d9962a69e594f96" Type="http://schemas.openxmlformats.org/officeDocument/2006/relationships/extended-properties" Target="docProps/app.xml"/><Relationship Id="R822d5ee7c418413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3bf1e5b4c43dd"/>
  </p:sldMasterIdLst>
  <p:notesMasterIdLst>
    <p:notesMasterId xmlns:r="http://schemas.openxmlformats.org/officeDocument/2006/relationships" r:id="R84014388d7aa421f"/>
  </p:notesMasterIdLst>
  <p:sldIdLst>
    <p:sldId xmlns:ns0="http://schemas.openxmlformats.org/officeDocument/2006/relationships" id="272" ns0:id="rId22"/>
    <p:sldId xmlns:ns0="http://schemas.openxmlformats.org/officeDocument/2006/relationships" id="273" ns0:id="rId23"/>
    <p:sldId xmlns:ns0="http://schemas.openxmlformats.org/officeDocument/2006/relationships" id="274" ns0:id="rId24"/>
    <p:sldId xmlns:ns0="http://schemas.openxmlformats.org/officeDocument/2006/relationships" id="275" ns0:id="rId25"/>
    <p:sldId xmlns:ns0="http://schemas.openxmlformats.org/officeDocument/2006/relationships" id="276" ns0:id="rId26"/>
    <p:sldId xmlns:ns0="http://schemas.openxmlformats.org/officeDocument/2006/relationships" id="277" ns0:id="rId27"/>
    <p:sldId xmlns:ns0="http://schemas.openxmlformats.org/officeDocument/2006/relationships" id="278" ns0:id="rId28"/>
    <p:sldId xmlns:ns0="http://schemas.openxmlformats.org/officeDocument/2006/relationships" id="279" ns0:id="rId29"/>
    <p:sldId xmlns:ns0="http://schemas.openxmlformats.org/officeDocument/2006/relationships" id="280" ns0:id="rId30"/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  <p:sldId xmlns:ns0="http://schemas.openxmlformats.org/officeDocument/2006/relationships" id="290" ns0:id="rId40"/>
    <p:sldId xmlns:ns0="http://schemas.openxmlformats.org/officeDocument/2006/relationships" id="291" ns0:id="rId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33bf1e5b4c43dd" Type="http://schemas.openxmlformats.org/officeDocument/2006/relationships/slideMaster" Target="slideMasters/slideMaster1.xml"/><Relationship Id="R5e0171a3e283454a" Type="http://schemas.openxmlformats.org/officeDocument/2006/relationships/theme" Target="theme/theme1.xml"/><Relationship Id="R7c708c09f70944af" Type="http://schemas.openxmlformats.org/officeDocument/2006/relationships/tableStyles" Target="tableStyles.xml"/><Relationship Id="R84014388d7aa421f" Type="http://schemas.openxmlformats.org/officeDocument/2006/relationships/notesMaster" Target="notesMasters/notesMaster1.xml"/><Relationship Id="Rc3973d8dc3b8405d" Type="http://schemas.openxmlformats.org/officeDocument/2006/relationships/presProps" Target="presProps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5a67eb1a75f5475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e10f3aae0704bd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591e5772ae94391" Type="http://schemas.openxmlformats.org/officeDocument/2006/relationships/slideLayout" Target="../slideLayouts/slideLayout1.xml"/><Relationship Id="R0dd04bbc73a54fc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1e5772ae9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/>
      <p:sp>
        <p:nvSpPr>
          <p:cNvPr id="1" name="cover_accent">
            <a:extLst>
              <a:ext uri="{FF2B5EF4-FFF2-40B4-BE49-F238E27FC236}">
                <a16:creationId xmlns:a16="http://schemas.microsoft.com/office/drawing/2014/main" id="{16E1F1E0-0FA3-4CD2-882C-B613B78F79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2" name="cover_eyebrow">
            <a:extLst>
              <a:ext uri="{FF2B5EF4-FFF2-40B4-BE49-F238E27FC236}">
                <a16:creationId xmlns:a16="http://schemas.microsoft.com/office/drawing/2014/main" id="{6D37FB5B-67AF-4B58-90FB-59F460CD0985}"/>
              </a:ext>
            </a:extLst>
          </p:cNvPr>
          <p:cNvSpPr>
            <a:spLocks noGrp="1"/>
          </p:cNvSpPr>
          <p:nvPr/>
        </p:nvSpPr>
        <p:spPr>
          <a:xfrm>
            <a:off x="704850" y="590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FINANCIAL RESEARCH PRESENTATION</a:t>
            </a:r>
          </a:p>
        </p:txBody>
      </p:sp>
      <p:sp>
        <p:nvSpPr>
          <p:cNvPr id="3" name="cover_title">
            <a:extLst>
              <a:ext uri="{FF2B5EF4-FFF2-40B4-BE49-F238E27FC236}">
                <a16:creationId xmlns:a16="http://schemas.microsoft.com/office/drawing/2014/main" id="{A05A7682-4EB2-4CA7-9462-D999697F1B0A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723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凯莱英</a:t>
            </a:r>
          </a:p>
        </p:txBody>
      </p:sp>
      <p:sp>
        <p:nvSpPr>
          <p:cNvPr id="4" name="cover_subtitle">
            <a:extLst>
              <a:ext uri="{FF2B5EF4-FFF2-40B4-BE49-F238E27FC236}">
                <a16:creationId xmlns:a16="http://schemas.microsoft.com/office/drawing/2014/main" id="{72E62B7C-084B-4FA6-8E96-15968EFB6670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凯莱英（002821）深度研究报告</a:t>
            </a:r>
          </a:p>
        </p:txBody>
      </p:sp>
      <p:cxnSp>
        <p:nvCxnSpPr>
          <p:cNvPr id="17" name="cover_rule"/>
          <p:cNvCxnSpPr/>
          <p:nvPr/>
        </p:nvCxnSpPr>
        <p:spPr>
          <a:xfrm>
            <a:off x="704850" y="3638550"/>
            <a:ext cx="7239000" cy="0"/>
          </a:xfrm>
          <a:prstGeom prst="straightConnector1">
            <a:avLst/>
          </a:prstGeom>
          <a:ln w="9525">
            <a:solidFill>
              <a:srgbClr val="4A6782"/>
            </a:solidFill>
            <a:prstDash val="solid"/>
          </a:ln>
        </p:spPr>
      </p:cxnSp>
      <p:sp>
        <p:nvSpPr>
          <p:cNvPr id="6" name="cover_meta">
            <a:extLst>
              <a:ext uri="{FF2B5EF4-FFF2-40B4-BE49-F238E27FC236}">
                <a16:creationId xmlns:a16="http://schemas.microsoft.com/office/drawing/2014/main" id="{AD715C60-A248-401B-BE71-5D747A151ED2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002821  |  2025-09-11</a:t>
            </a:r>
          </a:p>
        </p:txBody>
      </p:sp>
      <p:sp>
        <p:nvSpPr>
          <p:cNvPr id="7" name="cover_tag">
            <a:extLst>
              <a:ext uri="{FF2B5EF4-FFF2-40B4-BE49-F238E27FC236}">
                <a16:creationId xmlns:a16="http://schemas.microsoft.com/office/drawing/2014/main" id="{EC65AA1E-28A8-44A0-91B1-7AE276164E1E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/>
        </p:txBody>
      </p:sp>
      <p:sp>
        <p:nvSpPr>
          <p:cNvPr id="8" name="cover_bar_1">
            <a:extLst>
              <a:ext uri="{FF2B5EF4-FFF2-40B4-BE49-F238E27FC236}">
                <a16:creationId xmlns:a16="http://schemas.microsoft.com/office/drawing/2014/main" id="{14E6FB72-A0C1-480E-B218-742E7149257C}"/>
              </a:ext>
            </a:extLst>
          </p:cNvPr>
          <p:cNvSpPr>
            <a:spLocks noGrp="1"/>
          </p:cNvSpPr>
          <p:nvPr/>
        </p:nvSpPr>
        <p:spPr>
          <a:xfrm>
            <a:off x="8858250" y="4495800"/>
            <a:ext cx="304800" cy="83820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9" name="cover_bar_2">
            <a:extLst>
              <a:ext uri="{FF2B5EF4-FFF2-40B4-BE49-F238E27FC236}">
                <a16:creationId xmlns:a16="http://schemas.microsoft.com/office/drawing/2014/main" id="{83EB1AB3-A0E7-4383-93F9-132CD0BDE717}"/>
              </a:ext>
            </a:extLst>
          </p:cNvPr>
          <p:cNvSpPr>
            <a:spLocks noGrp="1"/>
          </p:cNvSpPr>
          <p:nvPr/>
        </p:nvSpPr>
        <p:spPr>
          <a:xfrm>
            <a:off x="9448800" y="3981450"/>
            <a:ext cx="304800" cy="13525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0" name="cover_bar_3">
            <a:extLst>
              <a:ext uri="{FF2B5EF4-FFF2-40B4-BE49-F238E27FC236}">
                <a16:creationId xmlns:a16="http://schemas.microsoft.com/office/drawing/2014/main" id="{A3935099-EF09-4C80-A8BB-4E4F41C147BB}"/>
              </a:ext>
            </a:extLst>
          </p:cNvPr>
          <p:cNvSpPr>
            <a:spLocks noGrp="1"/>
          </p:cNvSpPr>
          <p:nvPr/>
        </p:nvSpPr>
        <p:spPr>
          <a:xfrm>
            <a:off x="10039350" y="3371850"/>
            <a:ext cx="304800" cy="19621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1" name="cover_bar_4">
            <a:extLst>
              <a:ext uri="{FF2B5EF4-FFF2-40B4-BE49-F238E27FC236}">
                <a16:creationId xmlns:a16="http://schemas.microsoft.com/office/drawing/2014/main" id="{C40C0491-CB72-4723-B6FD-2749DE037F6A}"/>
              </a:ext>
            </a:extLst>
          </p:cNvPr>
          <p:cNvSpPr>
            <a:spLocks noGrp="1"/>
          </p:cNvSpPr>
          <p:nvPr/>
        </p:nvSpPr>
        <p:spPr>
          <a:xfrm>
            <a:off x="10629900" y="2609850"/>
            <a:ext cx="304800" cy="2724150"/>
          </a:xfrm>
          <a:prstGeom prst="rect">
            <a:avLst/>
          </a:prstGeom>
          <a:solidFill>
            <a:srgbClr val="78C8E8"/>
          </a:solidFill>
          <a:ln w="0">
            <a:noFill/>
            <a:prstDash val="solid"/>
          </a:ln>
        </p:spPr>
      </p:sp>
      <p:sp>
        <p:nvSpPr>
          <p:cNvPr id="12" name="cover_marker">
            <a:extLst>
              <a:ext uri="{FF2B5EF4-FFF2-40B4-BE49-F238E27FC236}">
                <a16:creationId xmlns:a16="http://schemas.microsoft.com/office/drawing/2014/main" id="{C461E8C0-903C-441C-9B13-DF6596890E7F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rPr>
              <a:t>01 / COVER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凯莱英：小分子CDMO龙头深度剖析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2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全球小分子CDMO市场有望增长至1067亿美元，CAGR 15.5%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全球小分子CDMO市场2023年规模为519亿美元，预计以15.5%的CAGR增长至2028年的1067亿美元。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•2023年市场规模519亿美元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•预计2028年增至1067亿美元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•复合年增长率15.5%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凯莱英：管理层深度绑定与平台化护城河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4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凯莱英服务全球超1100家客户，构建一体化服务生态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公司是全球领先的CDMO一站式综合服务商，服务全球超1100家客户，已形成创新药一体化服务生态。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•全球领先的CDMO一站式综合服务商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•服务覆盖超过1100家客户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•创新药一体化服务生态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CDMO行业供需格局迎拐点：研发增长与出海共振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6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中国创新药出海加速：2024年License-out达94笔，总金额519亿美元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2024年中国创新药License-out交易达94笔，总金额约519亿美元，出海加速提升产业链景气度。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•2024年交易数量94笔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•总金额约519亿美元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•出海加速提升产业链景气度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守正出奇：小分子基本盘稳固，新兴疗法开辟第二曲线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8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2025H1公司新兴业务收入7.56亿元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2025H1公司新兴业务收入7.56亿元，同比增长51.22%，毛利率同比提升9.5pct，多肽和ADC项目驱动增长。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•2025年上半年收入7.56亿元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•同比增长51.22%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•毛利率同比提升9.5个百分点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•多肽和ADC项目驱动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大订单影响出清，主业重回高质量增长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10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剔除大订单后，小分子CDMO 2025上半年营收增长18.2%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剔除新冠大订单影响，公司小分子CDMO 2024年收入同比增长8.9%，2025H1营收同比增长18.2%，重回增长。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•2024年收入剔除大订单同比增长8.9%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•2025上半年营收同比增长18.2%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•小分子CDMO重回增长通道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新兴业务：多肽、ADC、小核酸驱动第二曲线加速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12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新兴业务2025H1收入7.56亿元，毛利率回升至29.79%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新兴业务2024年收入12.3亿元（同比+2.3%），2025H1收入7.56亿元（同比+51.22%），毛利率回升至29.79%。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•2024全年收入12.3亿元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•2025上半年收入7.56亿元，同比增51.22%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•毛利率回升至29.79%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技术壁垒：连续反应与酶催化双轮驱动商业化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14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连续反应与酶催化应用率超40%，能耗降低50%，三废减少60%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公司连续反应技术与酶催化技术在临床中后期项目应用率超40%，可降低能耗50%、占地面积70%、三废排放30-60%。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•临床中后期项目应用率超40%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•降低能耗50%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•减少占地面积70%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•减少三废排放30-60%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盈利预测：2025-2027年归母净利润CAGR约20%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16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预计营收CAGR 12%，归母净利润CAGR 20%，毛利率修复至44.50%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217"/>
                <a:gridCol w="903328"/>
                <a:gridCol w="903328"/>
                <a:gridCol w="903328"/>
                <a:gridCol w="903328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2024A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2027E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营业收入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58.05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73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82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同比增速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-25.82%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+11.97%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+12.31%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+12.33%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小分子CDMO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46.79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51.7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同比增速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-28.5%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+10.5%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+12.2%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+10.3%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其中：商业化阶段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33.79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37.5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42.5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47.5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同比增速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-33.0%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+11.0%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+13.3%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+11.8%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其中：临床阶段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14.2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15.5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16.5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同比增速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-13.0%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+9.2%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+9.2%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+6.5%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预计2025-2027年公司营业收入CAGR约12%，归母净利润CAGR约20%，毛利率从42.36%修复至44.50%。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•2025-2027年营收CAGR约12%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•归母净利润CAGR约20%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•毛利率从42.36%修复至44.50%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投资建议与风险提示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18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预计2025-2027年归母净利润分别为11.64亿元、14.10亿元、16.73亿元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预计2025-2027年归母净利润分别为11.64亿元、14.10亿元、16.73亿元，当前PE分别为23倍、19倍、16倍，给予买入评级。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•2025年归母净利润11.64亿元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•2026年14.10亿元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•2027年16.73亿元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•当前PE对应23倍、19倍、16倍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•给予买入评级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90" y="685800"/>
            <a:ext cx="10241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2331720"/>
            <a:ext cx="9753539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Closing slide thanking the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2026-07-17T16:12:03.6290000Z</dcterms:created>
  <dcterms:modified xsi:type="dcterms:W3CDTF">2026-07-17T16:12:03.6290000Z</dcterms:modified>
</coreProperties>
</file>