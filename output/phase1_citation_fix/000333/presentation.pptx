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3a05a5dd0ed546a8" Type="http://schemas.openxmlformats.org/officeDocument/2006/relationships/officeDocument" Target="ppt/presentation.xml"/><Relationship Id="R7d9962a69e594f96" Type="http://schemas.openxmlformats.org/officeDocument/2006/relationships/extended-properties" Target="docProps/app.xml"/><Relationship Id="R822d5ee7c4184134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33bf1e5b4c43dd"/>
  </p:sldMasterIdLst>
  <p:notesMasterIdLst>
    <p:notesMasterId xmlns:r="http://schemas.openxmlformats.org/officeDocument/2006/relationships" r:id="R84014388d7aa421f"/>
  </p:notesMasterIdLst>
  <p:sldIdLst>
    <p:sldId xmlns:ns0="http://schemas.openxmlformats.org/officeDocument/2006/relationships" id="272" ns0:id="rId22"/>
    <p:sldId xmlns:ns0="http://schemas.openxmlformats.org/officeDocument/2006/relationships" id="273" ns0:id="rId23"/>
    <p:sldId xmlns:ns0="http://schemas.openxmlformats.org/officeDocument/2006/relationships" id="274" ns0:id="rId24"/>
    <p:sldId xmlns:ns0="http://schemas.openxmlformats.org/officeDocument/2006/relationships" id="275" ns0:id="rId25"/>
    <p:sldId xmlns:ns0="http://schemas.openxmlformats.org/officeDocument/2006/relationships" id="276" ns0:id="rId26"/>
    <p:sldId xmlns:ns0="http://schemas.openxmlformats.org/officeDocument/2006/relationships" id="277" ns0:id="rId27"/>
    <p:sldId xmlns:ns0="http://schemas.openxmlformats.org/officeDocument/2006/relationships" id="278" ns0:id="rId28"/>
    <p:sldId xmlns:ns0="http://schemas.openxmlformats.org/officeDocument/2006/relationships" id="279" ns0:id="rId29"/>
    <p:sldId xmlns:ns0="http://schemas.openxmlformats.org/officeDocument/2006/relationships" id="280" ns0:id="rId30"/>
    <p:sldId xmlns:ns0="http://schemas.openxmlformats.org/officeDocument/2006/relationships" id="281" ns0:id="rId3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633bf1e5b4c43dd" Type="http://schemas.openxmlformats.org/officeDocument/2006/relationships/slideMaster" Target="slideMasters/slideMaster1.xml"/><Relationship Id="R5e0171a3e283454a" Type="http://schemas.openxmlformats.org/officeDocument/2006/relationships/theme" Target="theme/theme1.xml"/><Relationship Id="R7c708c09f70944af" Type="http://schemas.openxmlformats.org/officeDocument/2006/relationships/tableStyles" Target="tableStyles.xml"/><Relationship Id="R84014388d7aa421f" Type="http://schemas.openxmlformats.org/officeDocument/2006/relationships/notesMaster" Target="notesMasters/notesMaster1.xml"/><Relationship Id="Rc3973d8dc3b8405d" Type="http://schemas.openxmlformats.org/officeDocument/2006/relationships/presProps" Target="presProps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智能家居</c:v>
                </c:pt>
              </c:strCache>
            </c:strRef>
          </c:tx>
          <c:spPr>
            <a:ln w="28575">
              <a:solidFill>
                <a:srgbClr val="2F75B5"/>
              </a:solidFill>
            </a:ln>
          </c:spPr>
          <c:marker>
            <c:symbol val="circle"/>
            <c:size val="6"/>
            <c:spPr>
              <a:solidFill>
                <a:srgbClr val="2F75B5"/>
              </a:solidFill>
              <a:ln>
                <a:solidFill>
                  <a:srgbClr val="2F75B5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2024前三季度</c:v>
                </c:pt>
                <c:pt idx="4">
                  <c:v>2025前三季度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2328</c:v>
                </c:pt>
                <c:pt idx="1">
                  <c:v>2464</c:v>
                </c:pt>
                <c:pt idx="2">
                  <c:v>2695</c:v>
                </c:pt>
                <c:pt idx="3">
                  <c:v>2130.6</c:v>
                </c:pt>
                <c:pt idx="4">
                  <c:v>2407.6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新能源及工业技术</c:v>
                </c:pt>
              </c:strCache>
            </c:strRef>
          </c:tx>
          <c:spPr>
            <a:ln w="28575">
              <a:solidFill>
                <a:srgbClr val="ED7D31"/>
              </a:solidFill>
            </a:ln>
          </c:spPr>
          <c:marker>
            <c:symbol val="circle"/>
            <c:size val="6"/>
            <c:spPr>
              <a:solidFill>
                <a:srgbClr val="ED7D31"/>
              </a:solidFill>
              <a:ln>
                <a:solidFill>
                  <a:srgbClr val="ED7D31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2024前三季度</c:v>
                </c:pt>
                <c:pt idx="4">
                  <c:v>2025前三季度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216</c:v>
                </c:pt>
                <c:pt idx="1">
                  <c:v>279</c:v>
                </c:pt>
                <c:pt idx="2">
                  <c:v>336</c:v>
                </c:pt>
                <c:pt idx="3">
                  <c:v>252.9</c:v>
                </c:pt>
                <c:pt idx="4">
                  <c:v>306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智能建筑科技</c:v>
                </c:pt>
              </c:strCache>
            </c:strRef>
          </c:tx>
          <c:spPr>
            <a:ln w="28575">
              <a:solidFill>
                <a:srgbClr val="70AD47"/>
              </a:solidFill>
            </a:ln>
          </c:spPr>
          <c:marker>
            <c:symbol val="circle"/>
            <c:size val="6"/>
            <c:spPr>
              <a:solidFill>
                <a:srgbClr val="70AD47"/>
              </a:solidFill>
              <a:ln>
                <a:solidFill>
                  <a:srgbClr val="70AD47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2024前三季度</c:v>
                </c:pt>
                <c:pt idx="4">
                  <c:v>2025前三季度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228</c:v>
                </c:pt>
                <c:pt idx="1">
                  <c:v>259</c:v>
                </c:pt>
                <c:pt idx="2">
                  <c:v>285</c:v>
                </c:pt>
                <c:pt idx="3">
                  <c:v>224.8</c:v>
                </c:pt>
                <c:pt idx="4">
                  <c:v>281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4A3B8"/>
            </a:solidFill>
          </a:ln>
        </c:spPr>
        <c:txPr>
          <a:bodyPr/>
          <a:lstStyle/>
          <a:p>
            <a:pPr>
              <a:defRPr sz="1000">
                <a:solidFill>
                  <a:srgbClr val="64748B"/>
                </a:solidFill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94A3B8"/>
            </a:solidFill>
          </a:ln>
        </c:spPr>
        <c:txPr>
          <a:bodyPr/>
          <a:lstStyle/>
          <a:p>
            <a:pPr>
              <a:defRPr sz="1000">
                <a:solidFill>
                  <a:srgbClr val="64748B"/>
                </a:solidFill>
                <a:latin typeface="Microsoft YaHe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64748B"/>
              </a:solidFill>
              <a:latin typeface="Microsoft YaHei"/>
            </a:defRPr>
          </a:pPr>
        </a:p>
      </c:txPr>
    </c:legend>
    <c:plotVisOnly val="1"/>
    <c:dispBlanksAs val="span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5a67eb1a75f5475c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Layouts/_rels/slideLayout1.xml.rels><?xml version='1.0' encoding='UTF-8' standalone='yes'?>
<Relationships xmlns="http://schemas.openxmlformats.org/package/2006/relationships"><Relationship Id="Rae10f3aae0704bd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591e5772ae94391" Type="http://schemas.openxmlformats.org/officeDocument/2006/relationships/slideLayout" Target="../slideLayouts/slideLayout1.xml"/><Relationship Id="R0dd04bbc73a54fc7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91e5772ae943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/>
      <p:sp>
        <p:nvSpPr>
          <p:cNvPr id="1" name="cover_accent">
            <a:extLst>
              <a:ext uri="{FF2B5EF4-FFF2-40B4-BE49-F238E27FC236}">
                <a16:creationId xmlns:a16="http://schemas.microsoft.com/office/drawing/2014/main" id="{16E1F1E0-0FA3-4CD2-882C-B613B78F79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6FED"/>
          </a:solidFill>
          <a:ln w="0">
            <a:noFill/>
            <a:prstDash val="solid"/>
          </a:ln>
        </p:spPr>
      </p:sp>
      <p:sp>
        <p:nvSpPr>
          <p:cNvPr id="2" name="cover_eyebrow">
            <a:extLst>
              <a:ext uri="{FF2B5EF4-FFF2-40B4-BE49-F238E27FC236}">
                <a16:creationId xmlns:a16="http://schemas.microsoft.com/office/drawing/2014/main" id="{6D37FB5B-67AF-4B58-90FB-59F460CD0985}"/>
              </a:ext>
            </a:extLst>
          </p:cNvPr>
          <p:cNvSpPr>
            <a:spLocks noGrp="1"/>
          </p:cNvSpPr>
          <p:nvPr/>
        </p:nvSpPr>
        <p:spPr>
          <a:xfrm>
            <a:off x="704850" y="59055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050" b="1">
                <a:solidFill>
                  <a:srgbClr val="78C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8C8E8"/>
                </a:solidFill>
                <a:latin typeface="Microsoft YaHei"/>
                <a:ea typeface="Microsoft YaHei"/>
                <a:cs typeface="Microsoft YaHei"/>
              </a:rPr>
              <a:t>FINANCIAL RESEARCH PRESENTATION</a:t>
            </a:r>
          </a:p>
        </p:txBody>
      </p:sp>
      <p:sp>
        <p:nvSpPr>
          <p:cNvPr id="3" name="cover_title">
            <a:extLst>
              <a:ext uri="{FF2B5EF4-FFF2-40B4-BE49-F238E27FC236}">
                <a16:creationId xmlns:a16="http://schemas.microsoft.com/office/drawing/2014/main" id="{A05A7682-4EB2-4CA7-9462-D999697F1B0A}"/>
              </a:ext>
            </a:extLst>
          </p:cNvPr>
          <p:cNvSpPr>
            <a:spLocks noGrp="1"/>
          </p:cNvSpPr>
          <p:nvPr/>
        </p:nvSpPr>
        <p:spPr>
          <a:xfrm>
            <a:off x="704850" y="1695450"/>
            <a:ext cx="7239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>
                <a:solidFill>
                  <a:srgbClr val="FFFFFF"/>
                </a:solidFill>
              </a:rPr>
              <a:t>美的集团</a:t>
            </a:r>
          </a:p>
        </p:txBody>
      </p:sp>
      <p:sp>
        <p:nvSpPr>
          <p:cNvPr id="4" name="cover_subtitle">
            <a:extLst>
              <a:ext uri="{FF2B5EF4-FFF2-40B4-BE49-F238E27FC236}">
                <a16:creationId xmlns:a16="http://schemas.microsoft.com/office/drawing/2014/main" id="{72E62B7C-084B-4FA6-8E96-15968EFB6670}"/>
              </a:ext>
            </a:extLst>
          </p:cNvPr>
          <p:cNvSpPr>
            <a:spLocks noGrp="1"/>
          </p:cNvSpPr>
          <p:nvPr/>
        </p:nvSpPr>
        <p:spPr>
          <a:xfrm>
            <a:off x="704850" y="272415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>
                <a:solidFill>
                  <a:srgbClr val="FFFFFF"/>
                </a:solidFill>
              </a:rPr>
              <a:t>美的集团（000333）深度研究报告</a:t>
            </a:r>
          </a:p>
        </p:txBody>
      </p:sp>
      <p:cxnSp>
        <p:nvCxnSpPr>
          <p:cNvPr id="17" name="cover_rule"/>
          <p:cNvCxnSpPr/>
          <p:nvPr/>
        </p:nvCxnSpPr>
        <p:spPr>
          <a:xfrm>
            <a:off x="704850" y="3638550"/>
            <a:ext cx="7239000" cy="0"/>
          </a:xfrm>
          <a:prstGeom prst="straightConnector1">
            <a:avLst/>
          </a:prstGeom>
          <a:ln w="9525">
            <a:solidFill>
              <a:srgbClr val="4A6782"/>
            </a:solidFill>
            <a:prstDash val="solid"/>
          </a:ln>
        </p:spPr>
      </p:cxnSp>
      <p:sp>
        <p:nvSpPr>
          <p:cNvPr id="6" name="cover_meta">
            <a:extLst>
              <a:ext uri="{FF2B5EF4-FFF2-40B4-BE49-F238E27FC236}">
                <a16:creationId xmlns:a16="http://schemas.microsoft.com/office/drawing/2014/main" id="{AD715C60-A248-401B-BE71-5D747A151ED2}"/>
              </a:ext>
            </a:extLst>
          </p:cNvPr>
          <p:cNvSpPr>
            <a:spLocks noGrp="1"/>
          </p:cNvSpPr>
          <p:nvPr/>
        </p:nvSpPr>
        <p:spPr>
          <a:xfrm>
            <a:off x="704850" y="3886200"/>
            <a:ext cx="781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>
                <a:solidFill>
                  <a:srgbClr val="FFFFFF"/>
                </a:solidFill>
              </a:rPr>
              <a:t>000333  |  2025-10-30</a:t>
            </a:r>
          </a:p>
        </p:txBody>
      </p:sp>
      <p:sp>
        <p:nvSpPr>
          <p:cNvPr id="7" name="cover_tag">
            <a:extLst>
              <a:ext uri="{FF2B5EF4-FFF2-40B4-BE49-F238E27FC236}">
                <a16:creationId xmlns:a16="http://schemas.microsoft.com/office/drawing/2014/main" id="{EC65AA1E-28A8-44A0-91B1-7AE276164E1E}"/>
              </a:ext>
            </a:extLst>
          </p:cNvPr>
          <p:cNvSpPr>
            <a:spLocks noGrp="1"/>
          </p:cNvSpPr>
          <p:nvPr/>
        </p:nvSpPr>
        <p:spPr>
          <a:xfrm>
            <a:off x="704850" y="58864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>
                <a:solidFill>
                  <a:srgbClr val="FFFFFF"/>
                </a:solidFill>
              </a:rPr>
              <a:t>家电</a:t>
            </a:r>
          </a:p>
        </p:txBody>
      </p:sp>
      <p:sp>
        <p:nvSpPr>
          <p:cNvPr id="8" name="cover_bar_1">
            <a:extLst>
              <a:ext uri="{FF2B5EF4-FFF2-40B4-BE49-F238E27FC236}">
                <a16:creationId xmlns:a16="http://schemas.microsoft.com/office/drawing/2014/main" id="{14E6FB72-A0C1-480E-B218-742E7149257C}"/>
              </a:ext>
            </a:extLst>
          </p:cNvPr>
          <p:cNvSpPr>
            <a:spLocks noGrp="1"/>
          </p:cNvSpPr>
          <p:nvPr/>
        </p:nvSpPr>
        <p:spPr>
          <a:xfrm>
            <a:off x="8858250" y="4495800"/>
            <a:ext cx="304800" cy="838200"/>
          </a:xfrm>
          <a:prstGeom prst="rect">
            <a:avLst/>
          </a:prstGeom>
          <a:solidFill>
            <a:srgbClr val="2A4964"/>
          </a:solidFill>
          <a:ln w="0">
            <a:noFill/>
            <a:prstDash val="solid"/>
          </a:ln>
        </p:spPr>
      </p:sp>
      <p:sp>
        <p:nvSpPr>
          <p:cNvPr id="9" name="cover_bar_2">
            <a:extLst>
              <a:ext uri="{FF2B5EF4-FFF2-40B4-BE49-F238E27FC236}">
                <a16:creationId xmlns:a16="http://schemas.microsoft.com/office/drawing/2014/main" id="{83EB1AB3-A0E7-4383-93F9-132CD0BDE717}"/>
              </a:ext>
            </a:extLst>
          </p:cNvPr>
          <p:cNvSpPr>
            <a:spLocks noGrp="1"/>
          </p:cNvSpPr>
          <p:nvPr/>
        </p:nvSpPr>
        <p:spPr>
          <a:xfrm>
            <a:off x="9448800" y="3981450"/>
            <a:ext cx="304800" cy="1352550"/>
          </a:xfrm>
          <a:prstGeom prst="rect">
            <a:avLst/>
          </a:prstGeom>
          <a:solidFill>
            <a:srgbClr val="2A4964"/>
          </a:solidFill>
          <a:ln w="0">
            <a:noFill/>
            <a:prstDash val="solid"/>
          </a:ln>
        </p:spPr>
      </p:sp>
      <p:sp>
        <p:nvSpPr>
          <p:cNvPr id="10" name="cover_bar_3">
            <a:extLst>
              <a:ext uri="{FF2B5EF4-FFF2-40B4-BE49-F238E27FC236}">
                <a16:creationId xmlns:a16="http://schemas.microsoft.com/office/drawing/2014/main" id="{A3935099-EF09-4C80-A8BB-4E4F41C147BB}"/>
              </a:ext>
            </a:extLst>
          </p:cNvPr>
          <p:cNvSpPr>
            <a:spLocks noGrp="1"/>
          </p:cNvSpPr>
          <p:nvPr/>
        </p:nvSpPr>
        <p:spPr>
          <a:xfrm>
            <a:off x="10039350" y="3371850"/>
            <a:ext cx="304800" cy="1962150"/>
          </a:xfrm>
          <a:prstGeom prst="rect">
            <a:avLst/>
          </a:prstGeom>
          <a:solidFill>
            <a:srgbClr val="2A4964"/>
          </a:solidFill>
          <a:ln w="0">
            <a:noFill/>
            <a:prstDash val="solid"/>
          </a:ln>
        </p:spPr>
      </p:sp>
      <p:sp>
        <p:nvSpPr>
          <p:cNvPr id="11" name="cover_bar_4">
            <a:extLst>
              <a:ext uri="{FF2B5EF4-FFF2-40B4-BE49-F238E27FC236}">
                <a16:creationId xmlns:a16="http://schemas.microsoft.com/office/drawing/2014/main" id="{C40C0491-CB72-4723-B6FD-2749DE037F6A}"/>
              </a:ext>
            </a:extLst>
          </p:cNvPr>
          <p:cNvSpPr>
            <a:spLocks noGrp="1"/>
          </p:cNvSpPr>
          <p:nvPr/>
        </p:nvSpPr>
        <p:spPr>
          <a:xfrm>
            <a:off x="10629900" y="2609850"/>
            <a:ext cx="304800" cy="2724150"/>
          </a:xfrm>
          <a:prstGeom prst="rect">
            <a:avLst/>
          </a:prstGeom>
          <a:solidFill>
            <a:srgbClr val="78C8E8"/>
          </a:solidFill>
          <a:ln w="0">
            <a:noFill/>
            <a:prstDash val="solid"/>
          </a:ln>
        </p:spPr>
      </p:sp>
      <p:sp>
        <p:nvSpPr>
          <p:cNvPr id="12" name="cover_marker">
            <a:extLst>
              <a:ext uri="{FF2B5EF4-FFF2-40B4-BE49-F238E27FC236}">
                <a16:creationId xmlns:a16="http://schemas.microsoft.com/office/drawing/2014/main" id="{C461E8C0-903C-441C-9B13-DF6596890E7F}"/>
              </a:ext>
            </a:extLst>
          </p:cNvPr>
          <p:cNvSpPr>
            <a:spLocks noGrp="1"/>
          </p:cNvSpPr>
          <p:nvPr/>
        </p:nvSpPr>
        <p:spPr>
          <a:xfrm>
            <a:off x="9906000" y="61531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825" b="1">
                <a:solidFill>
                  <a:srgbClr val="7FA2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FA2BF"/>
                </a:solidFill>
                <a:latin typeface="Microsoft YaHei"/>
                <a:ea typeface="Microsoft YaHei"/>
                <a:cs typeface="Microsoft YaHei"/>
              </a:rPr>
              <a:t>01 / COVER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从家电龙头到科技集团：美的集团“ToC+ToB”双轮驱动的战略跃迁与护城河重构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**从家电龙头到科技集团：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•美的集团前身为1968年成立的塑料生产组，1980年进入家电行业，1992年完成股份制改革并上市。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•2017年收购德国库卡是战略跃迁的起点，形成了“家电制造自动化→对外输出智能制造解决方案”的商业闭环。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•此后通过收购合康新能、科陆电子、万东医疗、ARBONIA Climate、Clivet、东芝电梯等，构建起覆盖五大业务板块的全球化科技集团架构。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•当前已形成ToC与ToB并重发展的业务矩阵：2025年上半年智能家居收入1672亿元（+13.3%），商业及工业解决方案收入645.4亿元（+20.8%），ToB业务成为增长第二引擎，收入占比提升至25.7%。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从家电龙头到科技集团：美的集团“ToC+ToB”双轮驱动的战略跃迁与护城河重构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**治理结构：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•实际控制人为何享健先生，通过美的控股及直接持股合计控制约28.79%表决权；董事长方洪波持股1.55%，管理层利益深度绑定。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•管理层形成以方洪波为核心、内部培养为主的专业化职业经理人团队，核心高管平均司龄超20年。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•1997年起推行的事业部制分权体系与多层次激励机制（合伙人计划、持股计划、股权激励）有机配合，确保战略统一与业务活力。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•2025年上半年推出50-100亿元及15-30亿元的A股回购方案，持续强化股东回报与长效激励。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从家电龙头到科技集团：美的集团“ToC+ToB”双轮驱动的战略跃迁与护城河重构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**核心竞争力：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•研发驱动：近10年累计研发投入超1000亿元，2024年研发投入超160亿元（费用率约3.9%），全球专利申请量超15万件，专利授权维持量超9万件，研发人员超2.3万名，构建“2+4+N”全球研发网络。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•全球制造与数字化：在全球拥有超400家子公司、43个主要制造基地，海外17个研发中心和22个制造基地；拥有28家国家级绿色工厂、5家灯塔工厂，全价值链数字化运营。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•品牌矩阵与OBM：形成十余个品牌覆盖高中低端，国内“COLMO+东芝”双高端品牌零售额同比增长超60%；海外推行OBM优先战略，2025H1 OBM占智能家居海外收入45%以上；渠道覆盖200多个国家。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双轮驱动加速成型：ToB业务占比提升与盈利结构优化下的估值重塑逻辑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508760"/>
          <a:ext cx="5242529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1508760"/>
            <a:ext cx="4876769" cy="10287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**业务结构拆分与收入驱动力分析**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811780"/>
            <a:ext cx="4876769" cy="32232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•前三季度营收3630.57亿元（+13.82%），智能家居增长约13%，新能源及工业技术收入306亿元（+21%），智能建筑科技281亿元（+25%），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•机器人与自动化226亿元（+9%），ToB三大板块合计收入813亿元。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•近三年收入结构持续优化：智能家居2022-2024 CAGR约7.6%，ToB业务CAGR约11.8%，2024年商业及工业解决方案收入首破千亿，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•ToB收入占比从2022年约24%提升至2025年上半年约26%。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•各板块差异化特征：智能家居全品类市占率行业第一；新能源及工业技术增速最快受益于科陆电子反转及汽零放量；智能建筑科技逆势增长凭数据中心液冷等赛道；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•机器人与自动化较2024年下滑后明显改善。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双轮驱动加速成型：ToB业务占比提升与盈利结构优化下的估值重塑逻辑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**核心盈利能力与财务健康度**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•综合毛利率从2020年的23.73%回升至2024年的26.42%（创近五年新高），受益于产品结构升级、海外高毛利业务及B端占比提升。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•归母净利率从2021年8.32%升至2024年9.42%，2025年前三季度净利率10.64%，期间费用率同比下降1.89个百分点。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•ROE（摊薄）从23.16%降至17.78%，主因权益基数扩张而非盈利恶化，归母净利润年复合增速约9.1%，预计融资效应消化后将企稳回升。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•资产负债率降至60.54%，流动比率1.11，速动比率0.97，2025年前三季度存货周转率4.83次，财务结构健康，运营效率稳健。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暖通空调与冰洗业务：内销政策驱动与出口结构性分化下的龙头韧性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**暖通空调业务：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•2024年美的空调总销量达6,140万台（+15.5%），全球家用空调销量市占率23.7%，稳居行业首位。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•内销：以旧换新政策叠加高温驱动，出货加速修复，渠道库存健康；2025年4月内销出货同比+4%、全渠道零售量同比+17%。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•出口：2024年中国空调出口量8,742万台（+28.7%），美的出口市占率提升至33%以上；全球极端高温与“一带一路”国家需求拉动显著。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•竞争策略：通过主品牌维护价格体系、子品牌让利抢占份额，实现份额与盈利平衡；2025年1-4月线上均价结构性下降但主品牌保持9%溢价。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•关税风险整体可控：高盛测算若加征20%关税利润影响约7%，可转嫁一半则降至4%；海外22个制造基地支撑“中国供全球+区域供区域”模式。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暖通空调与冰洗业务：内销政策驱动与出口结构性分化下的龙头韧性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**冰洗业务：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•冰箱内销：嵌入式创新引领升级，美的平嵌与零嵌入式冰箱零售额占比线上30.2%/线下58.4%，嵌入式“机皇”单品Q1销售额破3亿元；美的冰箱内销市占率行业第二。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•洗衣机内销：结构升级温和增长，2024年H1内销量1,975万台（+3.09%）；美的推出元气2.0系列满足健康、超薄需求，以旧换新政策深化有望释放更新需求。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•出口：2024年冰洗出口高景气后，2025年高基数下增速收敛；冰箱9月出口+7.6%，洗衣机+23.8%，前三季度洗衣机累计出口+12%；新兴市场如拉美、东南亚成为重要增长引擎。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•美的冰洗在马来西亚、沙特、智利等市场份额领先，全球区域布局优势凸显。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估值安全边际充足，ToB与OBM双轮驱动打开价值重估空间</a:t>
            </a:r>
          </a:p>
        </p:txBody>
      </p:sp>
      <p:graphicFrame>
        <p:nvGraphicFramePr>
          <p:cNvPr id="3" name="compiled_table"/>
          <p:cNvGraphicFramePr>
            <a:graphicFrameLocks noGrp="1"/>
          </p:cNvGraphicFramePr>
          <p:nvPr/>
        </p:nvGraphicFramePr>
        <p:xfrm>
          <a:off x="731520" y="1508760"/>
          <a:ext cx="5242529" cy="170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3400"/>
                <a:gridCol w="976144"/>
                <a:gridCol w="787117"/>
                <a:gridCol w="976144"/>
                <a:gridCol w="787117"/>
                <a:gridCol w="692607"/>
              </a:tblGrid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预测年度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营业总收入（亿元）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同比增速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归母净利润（亿元）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同比增速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毛利率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2024A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4090.84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+9.47%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385.37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+14.29%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26.42%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2025E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4435.57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+8.43%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432.39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+12.20%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26.6%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2026E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4749.24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+7.07%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474.07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+9.64%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26.9%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2027E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5071.4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+6.78%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517.05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+9.07%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27.1%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1508760"/>
            <a:ext cx="4876769" cy="10287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**盈利预测调整与投资评级**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811780"/>
            <a:ext cx="4876769" cy="32232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•2025-2027年预测：归母净利润复合增速约10.3%，毛利率从26.42%升至27.1%，EPS从5.66元升至6.75元。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•当前股价约73.23元对应2025E/2026E/2027E PE为12.94/11.79/10.85倍，过去5年历史PE均值约16.75倍，当前估值处于历史较低分位；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•同业对比格力PE约7.8-10倍、海尔PE约12-14倍。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•近6个月19家机构平均目标价89.86元；建银国际目标价88.7元，国信证券目标价区间81.82-93.25元；给予“买入”评级，目标价87.0元，约19%上行空间。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•核心催化剂：年报分红方案落地、海外OBM渗透超预期、ToB业务在AI+能源/机器人领域突破。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多维风险对冲体系构筑护城河，美的集团长期增长逻辑稳固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**宏观经济波动与消费疲软：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•宏观经济与消费疲软：多元化业务布局（ToB收入占比提升至25.5%）有效对冲单一市场波动，以旧换新政策放宽提供需求托底。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•原材料价格波动：大宗商品套期保值、产品结构升级和数字化转型多举措应对，成本压力可控。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•人民币汇率波动：全球化收入结构下，通过远期结汇、外汇期权等多种工具管理多币种风险。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•海外贸易摩擦与关税：美国收入占比较低，关税直接影响有限；通过全球产能布局和新兴市场拓展弱化冲击，同时实施OBM优先战略提升定价能力。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•行业竞争加剧：高强度研发（近3年超430亿元）构筑技术壁垒，毛利率从22.5%提升至26.4%，在竞争中保有韧性。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2026-07-17T16:12:03.6290000Z</dcterms:created>
  <dcterms:modified xsi:type="dcterms:W3CDTF">2026-07-17T16:12:03.6290000Z</dcterms:modified>
</coreProperties>
</file>