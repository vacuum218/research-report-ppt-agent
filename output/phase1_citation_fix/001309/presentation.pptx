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05a5dd0ed546a8" Type="http://schemas.openxmlformats.org/officeDocument/2006/relationships/officeDocument" Target="ppt/presentation.xml"/><Relationship Id="R7d9962a69e594f96" Type="http://schemas.openxmlformats.org/officeDocument/2006/relationships/extended-properties" Target="docProps/app.xml"/><Relationship Id="R822d5ee7c41841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3bf1e5b4c43dd" Type="http://schemas.openxmlformats.org/officeDocument/2006/relationships/slideMaster" Target="slideMasters/slideMaster1.xml"/><Relationship Id="R5e0171a3e283454a" Type="http://schemas.openxmlformats.org/officeDocument/2006/relationships/theme" Target="theme/theme1.xml"/><Relationship Id="R7c708c09f70944af" Type="http://schemas.openxmlformats.org/officeDocument/2006/relationships/tableStyles" Target="tableStyles.xml"/><Relationship Id="R84014388d7aa421f" Type="http://schemas.openxmlformats.org/officeDocument/2006/relationships/notesMaster" Target="notesMasters/notesMaster1.xml"/><Relationship Id="Rc3973d8dc3b8405d" Type="http://schemas.openxmlformats.org/officeDocument/2006/relationships/presProps" Target="presProp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5a67eb1a75f547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e10f3aae070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91e5772ae94391" Type="http://schemas.openxmlformats.org/officeDocument/2006/relationships/slideLayout" Target="../slideLayouts/slideLayout1.xml"/><Relationship Id="R0dd04bbc73a54fc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/>
      <p:sp>
        <p:nvSpPr>
          <p:cNvPr id="1" name="cover_accent">
            <a:extLst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" name="cover_eyebrow">
            <a:extLst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德明利</a:t>
            </a: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德明利（001309）深度研究报告</a:t>
            </a:r>
          </a:p>
        </p:txBody>
      </p:sp>
      <p:cxnSp>
        <p:nvCxnSpPr>
          <p:cNvPr id="17" name="cover_rule"/>
          <p:cNvCxnSpPr/>
          <p:nvPr/>
        </p:nvCxnSpPr>
        <p:spPr>
          <a:xfrm>
            <a:off x="704850" y="3638550"/>
            <a:ext cx="7239000" cy="0"/>
          </a:xfrm>
          <a:prstGeom prst="straightConnector1">
            <a:avLst/>
          </a:prstGeom>
          <a:ln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001309  |  2025-10-28</a:t>
            </a:r>
          </a:p>
        </p:txBody>
      </p:sp>
      <p:sp>
        <p:nvSpPr>
          <p:cNvPr id="7" name="cover_tag">
            <a:extLst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存储芯片</a:t>
            </a:r>
          </a:p>
        </p:txBody>
      </p:sp>
      <p:sp>
        <p:nvSpPr>
          <p:cNvPr id="8" name="cover_bar_1">
            <a:extLst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304800" cy="83820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9" name="cover_bar_2">
            <a:extLst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noGrp="1"/>
          </p:cNvSpPr>
          <p:nvPr/>
        </p:nvSpPr>
        <p:spPr>
          <a:xfrm>
            <a:off x="9448800" y="3981450"/>
            <a:ext cx="304800" cy="13525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0" name="cover_bar_3">
            <a:extLst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304800" cy="19621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1" name="cover_bar_4">
            <a:extLst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noGrp="1"/>
          </p:cNvSpPr>
          <p:nvPr/>
        </p:nvSpPr>
        <p:spPr>
          <a:xfrm>
            <a:off x="10629900" y="2609850"/>
            <a:ext cx="304800" cy="2724150"/>
          </a:xfrm>
          <a:prstGeom prst="rect">
            <a:avLst/>
          </a:prstGeom>
          <a:solidFill>
            <a:srgbClr val="78C8E8"/>
          </a:solidFill>
          <a:ln w="0">
            <a:noFill/>
            <a:prstDash val="solid"/>
          </a:ln>
        </p:spPr>
      </p:sp>
      <p:sp>
        <p:nvSpPr>
          <p:cNvPr id="12" name="cover_marker">
            <a:extLst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自研主控驱动跃迁，存储周期与产品放量共振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**核心投资逻辑与评级**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•NAND Flash周期反转叠加AI需求驱动，行业景气上行。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•战略备货与成本优势驱动业绩高增，未来三年盈利有望持续释放。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•维持“买入”评级。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•风险提示：新产品放量不及预期或影响盈利增速；闪存价格下跌将压缩毛利率；市场竞争加剧及主控芯片研发进度低于预期亦需关注。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•未来6-12个月，德明利有望迎来三重催化剂，驱动业绩与估值双升。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•第一，自研PCIe企业级主控芯片是估值重塑的核心变量。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•第二，企业级与车载客户导入正从“验证阶段”走向“放量初期”。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•第三，内存条作为2024年新增产品线，已完成DDR5及LPCAMM2等全系列布局。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公司介绍:主控芯片+模组双轮驱动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3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自研主控芯片构筑核心壁垒，四大产品线协同打开成长空间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**德明利以自研主控芯片为技术根基，构建了“主控+模组”双轮驱动的业务模式，在存储产业链中形成了独特的竞争壁垒。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•公司围绕主控芯片能力，逐步完成了从移动存储到全品类存储模组的战略布局，产品矩阵日趋完善。具体来看：①移动存储产品主要包括存储卡模组（含SD卡）和存储盘模组（U盘）；②固态硬盘产品覆盖2.5 inch、M.2、mSATA三种形态；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•③嵌入式存储产品涵盖eMMC与UFS；④内存条产品覆盖DDR3、DDR4和DDR5系列。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•我们认为，公司“主控+模组”的协同模式，使其在存储行业周期波动中具备更强的抗风险能力与盈利弹性。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实际控制人高比例持股，治理结构稳定支撑长期战略执行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公司股权结构高度集中，实际控制人李虎及其配偶田华通过直接持股形成稳固的控制权基础。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•前四大股东格局清晰，控制权高度集中且无分散风险。除李虎外，第二大股东魏宏章持股5.35%，第三大股东徐岱群持股3.05%，第四大股东泰安金程源企业管理合伙企业（有限合伙）持股2.30%。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从投资视角看，实际控制人高比例持股通常意味着其利益与上市公司高度绑定，有助于减少代理成本，并增强管理层在研发投入、产能扩张等长周期决策上的定力。但投资者也需关注，在缺乏制衡机制的情况下，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•公司治理的透明度与中小股东权益保护机制将是后续跟踪的重点。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从闪存主控到全栈存储：德明利“主控+模组”双轮驱动的成长路径与投资逻辑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**德明利的发展历程，本质上是一条以闪存主控芯片为核心，从移动存储模组向嵌入式、企业级及车规级存储全栈解决方案持续进化的路径。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•研发积累与早期探索（2008-2015年）：奠定主控芯片自研根基。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•主控芯片量产突破（2016-2020年）：从“模组”到“主控+模组”的质变。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•战略收购与嵌入式市场拓展（2022年）：跨越式进入高成长赛道。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•募投项目驱动技术升级（2023年）：系统性投入支撑产品线扩张。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•产品矩阵完善与市场布局深化（2024年至今）：全栈存储解决方案初具雏形。营收数据印证了战略成效：公司营收自2019年的6.46亿元增长至2023年的17.76亿元，CAGR达29%；2024年前三季度实现营业收入35.97亿元，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•同比增长268%。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•投资含义：当前公司已跨越“主控芯片自研”这一核心门槛，正处于“嵌入式+企业级”双轮驱动的放量初期。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自研主控构筑护城河，全品类存储模组卡位AI与国产化双主线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**德明利已构建覆盖固态硬盘、嵌入式存储、移动存储及内存条四大品类的全矩阵产品体系，并凭借自研主控芯片形成“芯片+模组”的双轮驱动技术壁垒。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•自研主控芯片是公司区别于多数模组厂商的核心竞争力，其技术纵深覆盖从成熟制程到前沿工艺，并已实现对全球主流存储晶圆的广泛适配。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•在AI算力需求爆发的产业背景下，公司正加速向企业级与高性能存储领域升级，已成功切入头部云厂商供应链。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•嵌入式存储与内存条业务是公司横向拓展的两大增长极，产品已从消费电子向汽车电子、AI PC等更高价值场景渗透。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自研主控+晶圆直采：公司构筑存储模组差异化竞争壁垒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**全球NAND Flash晶圆市场高度集中，公司凭借与五大原厂的长期直采关系，构筑了稀缺的上游资源壁垒。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•在模组产品层面，公司采取“自研主控+外购主控”的灵活策略，通过主控芯片与存储晶圆的深度适配，形成系统级配套方案以维持产品品质与性能。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•在加工生产环节，公司采用“自有产线+委外加工”的混合模式，针对不同产品线进行差异化分工，以平衡产能自主性与封装测试效率。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财务与经营分析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9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产品结构重塑：嵌入式存储与固态硬盘双轮驱动，成长型品类占比逼近50%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过去两年间，德明利的营收结构经历了根本性重塑，从移动存储单一产品依赖的格局，演进为以嵌入式存储和固态硬盘为核心的双轮驱动模式，产品矩阵显著丰富，抗周期能力与成长性同步提升。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•嵌入式存储异军突起，跃居第一大品类。2023年该品类营收仅0.46亿元，占比2.6%；2024年营收跃升至8.43亿元，占比17.67%；2025年上半年营收17.00亿元，同比激增约290%，占比升至41.37%。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•固态硬盘稳中有升，移动存储占比持续收缩。固态硬盘2024年营收23.00亿元，占比48.20%；2025H1营收15.34亿元，占比37.34%。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•移动存储营收从2023年的10.35亿元（占比58.3%）降至2025H1的5.37亿元（占比13.06%）。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•内存条成为全新增长极，2025年上半年实现营收3.38亿元，占比8.22%。公司已构建起覆盖移动存储、固态硬盘、嵌入式存储和内存条的完整存储产品矩阵。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•综合来看，传统移动存储占比从2023年的58.3%降至2025H1的13.06%，嵌入式存储和内存条等成长型品类合计占比已接近50%。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毛利率深度共振存储周期，战略备货放大波动，费用管控构筑护城河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**德明利综合毛利率呈现与上游NAND Flash晶圆价格周期高度共振的波动特征，战略备货策略在放大周期上行期弹性的同时，也加剧了下行期的波动幅度。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•存货规模的激增是理解公司毛利率波动弹性的关键变量。存货从2019年末的2.87亿元激增至2025年末的70.58亿元。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•固态硬盘业务毛利率呈现“V型”修复走势，产品结构优化是核心驱动力。2022年因全球存储芯片价格下行骤降至4.68%，此后回升至2023-2025年的12.69%-14.83%区间。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•与毛利率的强周期波动形成鲜明对比，公司费用率管控能力突出，规模效应持续释放。2024年销售费用率仅为0.85%，远低于江波龙的4.42%和佰维存储的3.79%；管理费用率从2022年的4.15%压降至2024年的1.94%。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Q3盈利强势修复，底部囤货与自研主控构筑净利率领先优势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**2025年第三季度，德明利实现单季度净利润9086.91万元，同比增长166.8%，创历史同期新高**。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•外部层面，存储行业自2023年低谷后步入上行周期；内部层面，公司精准把握行业低谷窗口，提前底部囤积低价存储晶圆，构筑了显著的成本优势。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•盈利能力同业领先。德明利2024年全年销售净利率达7.35%，显著高于同行：江波龙2.89%、佰维存储2.02%，朗科科技-13.17%。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研发投入加速转化：自研主控芯片梯度布局，驱动产品结构向高附加值领域跃迁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043"/>
                <a:gridCol w="1034043"/>
                <a:gridCol w="1443804"/>
                <a:gridCol w="1730639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芯片型号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量产/研发状态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芯片名称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芯片特点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TW8581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已量产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USB移动存储主控芯片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接口协议：USB 3.2（超高速传输）；支持3D NAND闪存；内置ECC引擎及IOPS硬件加速模块；适用于高速移动存储盘等消费级场景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TW8381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已量产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USB移动存储主控芯片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接口协议：USB高速接口；支持多家原厂3D NAND闪存；内置ECC纠错算法；满足加密盘、分区盘、启动盘等多样化USB存储需求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TW8380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已量产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USB移动存储主控芯片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支持多家存储原厂2D和3D NAND闪存；集成电源管理模块（含稳压器）和时钟校准模块，可有效降低整机BOM成本并便于售后维护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TW2981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已量产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存储卡主控芯片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广泛支持三星电子、铠侠、海力士/英特尔、闪迪等各存储原厂2x/1x nm制程SLC/MLC/TLC 2D NAND闪存；内置ECC纠错算法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TW2983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已量产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存储卡主控芯片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支持128/144层3D TLC/QLC NAND Flash，可适配国产长江存储32/64/128层3D TLC/QLC闪存；内置ECC纠错算法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TW2985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存储卡主控芯片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工艺制程：40nm；采用业界领先的UBER 1e-15级别4K LDPC纠错方法；支持144/176层及200层以上3D TLC/QLC闪存；可用于制作加密存储卡，提升数据安全性与稳定性，应对未来3-5年高纠错能力需求的闪存解决方案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2023年量产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RISC-V SATA SSD主控芯片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业内率先采用RISC-V指令集架构，无缓存（DRAM-less）高性能设计；支持3D NAND闪存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TW6501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已量产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工业级SATA SSD主控芯片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工艺制程：22nm及以下；接口协议：SATA3.2；采用RISC-V指令集和4K LDPC纠错技术；支持多种闪存颗粒；适用于工业控制、智能制造等工业级应用场景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**公司持续加大研发投入，以技术迭代驱动产品竞争力提升。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•持续的研发投入已转化为可量化的竞争壁垒，核心体现在自研主控芯片的规模化量产与成本优势上。截至2025年3月，公司已成功研发并量产8款闪存主控芯片，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•主控芯片技术已突破至22nm及以下工艺制程。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•研发进展方面，公司已形成“量产交付—回片验证—技术储备”的梯度化研发格局，确保产品迭代的连续性与前瞻性。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•募投规划方面，公司通过IPO与定向增发双轮驱动，加速主控芯片全品类布局，补齐高价值产品空白。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1" name="layout_label">
            <a:extLst>
              <a:ext uri="{FF2B5EF4-FFF2-40B4-BE49-F238E27FC236}">
                <a16:creationId xmlns:a16="http://schemas.microsoft.com/office/drawing/2014/main" id="{5FF6C92A-0BFB-4716-B825-3E96365C7B8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FINANCIAL REPORT TEMPLATE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144D935-6A1E-470E-B4E0-5CF3117C7DE5}"/>
              </a:ext>
            </a:extLst>
          </p:cNvPr>
          <p:cNvSpPr>
            <a:spLocks noGrp="1"/>
          </p:cNvSpPr>
          <p:nvPr/>
        </p:nvSpPr>
        <p:spPr>
          <a:xfrm>
            <a:off x="514350" y="5334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闪存行业市场广阔,模组+主控模式大有可为</a:t>
            </a:r>
          </a:p>
        </p:txBody>
      </p:sp>
      <p:cxnSp>
        <p:nvCxnSpPr>
          <p:cNvPr id="32" name="header_rule"/>
          <p:cNvCxnSpPr/>
          <p:nvPr/>
        </p:nvCxnSpPr>
        <p:spPr>
          <a:xfrm>
            <a:off x="514350" y="1162050"/>
            <a:ext cx="11163300" cy="0"/>
          </a:xfrm>
          <a:prstGeom prst="straightConnector1">
            <a:avLst/>
          </a:prstGeom>
          <a:ln w="9525">
            <a:solidFill>
              <a:srgbClr val="CBD5E1"/>
            </a:solidFill>
            <a:prstDash val="solid"/>
          </a:ln>
        </p:spPr>
      </p:cxnSp>
      <p:sp>
        <p:nvSpPr>
          <p:cNvPr id="4" name="layout_type">
            <a:extLst>
              <a:ext uri="{FF2B5EF4-FFF2-40B4-BE49-F238E27FC236}">
                <a16:creationId xmlns:a16="http://schemas.microsoft.com/office/drawing/2014/main" id="{F5F5F46A-4ACB-4F3A-B3BB-202EE258BE2E}"/>
              </a:ext>
            </a:extLst>
          </p:cNvPr>
          <p:cNvSpPr>
            <a:spLocks noGrp="1"/>
          </p:cNvSpPr>
          <p:nvPr/>
        </p:nvSpPr>
        <p:spPr>
          <a:xfrm>
            <a:off x="514350" y="64389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AGENDA</a:t>
            </a:r>
          </a:p>
        </p:txBody>
      </p:sp>
      <p:sp>
        <p:nvSpPr>
          <p:cNvPr id="5" name="page_no">
            <a:extLst>
              <a:ext uri="{FF2B5EF4-FFF2-40B4-BE49-F238E27FC236}">
                <a16:creationId xmlns:a16="http://schemas.microsoft.com/office/drawing/2014/main" id="{2D55D5F3-D7B1-4E9F-8408-CEAE927F37FE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t>14</a:t>
            </a:r>
          </a:p>
        </p:txBody>
      </p:sp>
      <p:sp>
        <p:nvSpPr>
          <p:cNvPr id="6" name="agenda_no_1">
            <a:extLst>
              <a:ext uri="{FF2B5EF4-FFF2-40B4-BE49-F238E27FC236}">
                <a16:creationId xmlns:a16="http://schemas.microsoft.com/office/drawing/2014/main" id="{9B70DF6A-84B7-4642-9432-A66FFB7CDC4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genda_title_1">
            <a:extLst>
              <a:ext uri="{FF2B5EF4-FFF2-40B4-BE49-F238E27FC236}">
                <a16:creationId xmlns:a16="http://schemas.microsoft.com/office/drawing/2014/main" id="{BF6CE4B4-929B-463A-95A0-D54ADA39EA5A}"/>
              </a:ext>
            </a:extLst>
          </p:cNvPr>
          <p:cNvSpPr>
            <a:spLocks noGrp="1"/>
          </p:cNvSpPr>
          <p:nvPr/>
        </p:nvSpPr>
        <p:spPr>
          <a:xfrm>
            <a:off x="1428750" y="14859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8" name="agenda_desc_1">
            <a:extLst>
              <a:ext uri="{FF2B5EF4-FFF2-40B4-BE49-F238E27FC236}">
                <a16:creationId xmlns:a16="http://schemas.microsoft.com/office/drawing/2014/main" id="{BF8CE96A-2D56-430F-AB23-CBB1627F6B7C}"/>
              </a:ext>
            </a:extLst>
          </p:cNvPr>
          <p:cNvSpPr>
            <a:spLocks noGrp="1"/>
          </p:cNvSpPr>
          <p:nvPr/>
        </p:nvSpPr>
        <p:spPr>
          <a:xfrm>
            <a:off x="4191000" y="15049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先回答为什么值得关注</a:t>
            </a:r>
          </a:p>
        </p:txBody>
      </p:sp>
      <p:cxnSp>
        <p:nvCxnSpPr>
          <p:cNvPr id="38" name="agenda_rule_1"/>
          <p:cNvCxnSpPr/>
          <p:nvPr/>
        </p:nvCxnSpPr>
        <p:spPr>
          <a:xfrm>
            <a:off x="609600" y="19621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0" name="agenda_no_2">
            <a:extLst>
              <a:ext uri="{FF2B5EF4-FFF2-40B4-BE49-F238E27FC236}">
                <a16:creationId xmlns:a16="http://schemas.microsoft.com/office/drawing/2014/main" id="{21422075-938B-409E-AD4A-5C8A4BD81CD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agenda_title_2">
            <a:extLst>
              <a:ext uri="{FF2B5EF4-FFF2-40B4-BE49-F238E27FC236}">
                <a16:creationId xmlns:a16="http://schemas.microsoft.com/office/drawing/2014/main" id="{70C78DCB-92AE-486F-80F2-4B7E00887F27}"/>
              </a:ext>
            </a:extLst>
          </p:cNvPr>
          <p:cNvSpPr>
            <a:spLocks noGrp="1"/>
          </p:cNvSpPr>
          <p:nvPr/>
        </p:nvSpPr>
        <p:spPr>
          <a:xfrm>
            <a:off x="1428750" y="2209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公司与业务</a:t>
            </a:r>
          </a:p>
        </p:txBody>
      </p:sp>
      <p:sp>
        <p:nvSpPr>
          <p:cNvPr id="12" name="agenda_desc_2">
            <a:extLst>
              <a:ext uri="{FF2B5EF4-FFF2-40B4-BE49-F238E27FC236}">
                <a16:creationId xmlns:a16="http://schemas.microsoft.com/office/drawing/2014/main" id="{104126A3-5672-4F85-A48A-B041EE26D49D}"/>
              </a:ext>
            </a:extLst>
          </p:cNvPr>
          <p:cNvSpPr>
            <a:spLocks noGrp="1"/>
          </p:cNvSpPr>
          <p:nvPr/>
        </p:nvSpPr>
        <p:spPr>
          <a:xfrm>
            <a:off x="4191000" y="22288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明确商业模式和收入来源</a:t>
            </a:r>
          </a:p>
        </p:txBody>
      </p:sp>
      <p:cxnSp>
        <p:nvCxnSpPr>
          <p:cNvPr id="42" name="agenda_rule_2"/>
          <p:cNvCxnSpPr/>
          <p:nvPr/>
        </p:nvCxnSpPr>
        <p:spPr>
          <a:xfrm>
            <a:off x="609600" y="26860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4" name="agenda_no_3">
            <a:extLst>
              <a:ext uri="{FF2B5EF4-FFF2-40B4-BE49-F238E27FC236}">
                <a16:creationId xmlns:a16="http://schemas.microsoft.com/office/drawing/2014/main" id="{ABB70C23-EC71-4670-BB91-904F67E460A4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agenda_title_3">
            <a:extLst>
              <a:ext uri="{FF2B5EF4-FFF2-40B4-BE49-F238E27FC236}">
                <a16:creationId xmlns:a16="http://schemas.microsoft.com/office/drawing/2014/main" id="{F9721BF1-D692-45C8-A924-6F077815337E}"/>
              </a:ext>
            </a:extLst>
          </p:cNvPr>
          <p:cNvSpPr>
            <a:spLocks noGrp="1"/>
          </p:cNvSpPr>
          <p:nvPr/>
        </p:nvSpPr>
        <p:spPr>
          <a:xfrm>
            <a:off x="1428750" y="2933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行业与竞争</a:t>
            </a:r>
          </a:p>
        </p:txBody>
      </p:sp>
      <p:sp>
        <p:nvSpPr>
          <p:cNvPr id="16" name="agenda_desc_3">
            <a:extLst>
              <a:ext uri="{FF2B5EF4-FFF2-40B4-BE49-F238E27FC236}">
                <a16:creationId xmlns:a16="http://schemas.microsoft.com/office/drawing/2014/main" id="{4DE7FEF5-3D05-4B75-9031-DFFF7A180DE1}"/>
              </a:ext>
            </a:extLst>
          </p:cNvPr>
          <p:cNvSpPr>
            <a:spLocks noGrp="1"/>
          </p:cNvSpPr>
          <p:nvPr/>
        </p:nvSpPr>
        <p:spPr>
          <a:xfrm>
            <a:off x="4191000" y="29527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判断空间、周期与公司卡位</a:t>
            </a:r>
          </a:p>
        </p:txBody>
      </p:sp>
      <p:cxnSp>
        <p:nvCxnSpPr>
          <p:cNvPr id="46" name="agenda_rule_3"/>
          <p:cNvCxnSpPr/>
          <p:nvPr/>
        </p:nvCxnSpPr>
        <p:spPr>
          <a:xfrm>
            <a:off x="609600" y="34099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18" name="agenda_no_4">
            <a:extLst>
              <a:ext uri="{FF2B5EF4-FFF2-40B4-BE49-F238E27FC236}">
                <a16:creationId xmlns:a16="http://schemas.microsoft.com/office/drawing/2014/main" id="{7F1EB6C6-A408-4316-BC4C-1DA8E43963D7}"/>
              </a:ext>
            </a:extLst>
          </p:cNvPr>
          <p:cNvSpPr>
            <a:spLocks noGrp="1"/>
          </p:cNvSpPr>
          <p:nvPr/>
        </p:nvSpPr>
        <p:spPr>
          <a:xfrm>
            <a:off x="609600" y="36576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agenda_title_4">
            <a:extLst>
              <a:ext uri="{FF2B5EF4-FFF2-40B4-BE49-F238E27FC236}">
                <a16:creationId xmlns:a16="http://schemas.microsoft.com/office/drawing/2014/main" id="{E87F0B4D-BA8B-496A-8C55-1A90C5C6439C}"/>
              </a:ext>
            </a:extLst>
          </p:cNvPr>
          <p:cNvSpPr>
            <a:spLocks noGrp="1"/>
          </p:cNvSpPr>
          <p:nvPr/>
        </p:nvSpPr>
        <p:spPr>
          <a:xfrm>
            <a:off x="1428750" y="3657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增长逻辑</a:t>
            </a:r>
          </a:p>
        </p:txBody>
      </p:sp>
      <p:sp>
        <p:nvSpPr>
          <p:cNvPr id="20" name="agenda_desc_4">
            <a:extLst>
              <a:ext uri="{FF2B5EF4-FFF2-40B4-BE49-F238E27FC236}">
                <a16:creationId xmlns:a16="http://schemas.microsoft.com/office/drawing/2014/main" id="{4EED023B-7C38-4BF6-A5AA-D898EE8CB2FD}"/>
              </a:ext>
            </a:extLst>
          </p:cNvPr>
          <p:cNvSpPr>
            <a:spLocks noGrp="1"/>
          </p:cNvSpPr>
          <p:nvPr/>
        </p:nvSpPr>
        <p:spPr>
          <a:xfrm>
            <a:off x="4191000" y="36766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用数据验证未来增长来源</a:t>
            </a:r>
          </a:p>
        </p:txBody>
      </p:sp>
      <p:cxnSp>
        <p:nvCxnSpPr>
          <p:cNvPr id="50" name="agenda_rule_4"/>
          <p:cNvCxnSpPr/>
          <p:nvPr/>
        </p:nvCxnSpPr>
        <p:spPr>
          <a:xfrm>
            <a:off x="609600" y="41338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2" name="agenda_no_5">
            <a:extLst>
              <a:ext uri="{FF2B5EF4-FFF2-40B4-BE49-F238E27FC236}">
                <a16:creationId xmlns:a16="http://schemas.microsoft.com/office/drawing/2014/main" id="{D0916784-E3BF-473C-B2B5-9C719C532C07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agenda_title_5">
            <a:extLst>
              <a:ext uri="{FF2B5EF4-FFF2-40B4-BE49-F238E27FC236}">
                <a16:creationId xmlns:a16="http://schemas.microsoft.com/office/drawing/2014/main" id="{57C88A24-3652-4FEA-AE83-76F6AF9504EF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财务与预测</a:t>
            </a:r>
          </a:p>
        </p:txBody>
      </p:sp>
      <p:sp>
        <p:nvSpPr>
          <p:cNvPr id="24" name="agenda_desc_5">
            <a:extLst>
              <a:ext uri="{FF2B5EF4-FFF2-40B4-BE49-F238E27FC236}">
                <a16:creationId xmlns:a16="http://schemas.microsoft.com/office/drawing/2014/main" id="{54DD5E0D-3240-468C-9C93-751E5B993C85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连接经营假设和盈利结果</a:t>
            </a:r>
          </a:p>
        </p:txBody>
      </p:sp>
      <p:cxnSp>
        <p:nvCxnSpPr>
          <p:cNvPr id="54" name="agenda_rule_5"/>
          <p:cNvCxnSpPr/>
          <p:nvPr/>
        </p:nvCxnSpPr>
        <p:spPr>
          <a:xfrm>
            <a:off x="609600" y="48577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  <p:sp>
        <p:nvSpPr>
          <p:cNvPr id="26" name="agenda_no_6">
            <a:extLst>
              <a:ext uri="{FF2B5EF4-FFF2-40B4-BE49-F238E27FC236}">
                <a16:creationId xmlns:a16="http://schemas.microsoft.com/office/drawing/2014/main" id="{AECC78FE-0338-4CF1-A1CE-50C6BFB5E3E7}"/>
              </a:ext>
            </a:extLst>
          </p:cNvPr>
          <p:cNvSpPr>
            <a:spLocks noGrp="1"/>
          </p:cNvSpPr>
          <p:nvPr/>
        </p:nvSpPr>
        <p:spPr>
          <a:xfrm>
            <a:off x="609600" y="5105400"/>
            <a:ext cx="666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agenda_title_6">
            <a:extLst>
              <a:ext uri="{FF2B5EF4-FFF2-40B4-BE49-F238E27FC236}">
                <a16:creationId xmlns:a16="http://schemas.microsoft.com/office/drawing/2014/main" id="{82D02CEE-EF6D-4205-A54B-6CF6379117EB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估值与风险</a:t>
            </a:r>
          </a:p>
        </p:txBody>
      </p:sp>
      <p:sp>
        <p:nvSpPr>
          <p:cNvPr id="28" name="agenda_desc_6">
            <a:extLst>
              <a:ext uri="{FF2B5EF4-FFF2-40B4-BE49-F238E27FC236}">
                <a16:creationId xmlns:a16="http://schemas.microsoft.com/office/drawing/2014/main" id="{31C21D88-6D09-40B4-BC85-92EFA67A9554}"/>
              </a:ext>
            </a:extLst>
          </p:cNvPr>
          <p:cNvSpPr>
            <a:spLocks noGrp="1"/>
          </p:cNvSpPr>
          <p:nvPr/>
        </p:nvSpPr>
        <p:spPr>
          <a:xfrm>
            <a:off x="4191000" y="5124450"/>
            <a:ext cx="647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形成结论并标注不确定性</a:t>
            </a:r>
          </a:p>
        </p:txBody>
      </p:sp>
      <p:cxnSp>
        <p:nvCxnSpPr>
          <p:cNvPr id="58" name="agenda_rule_6"/>
          <p:cNvCxnSpPr/>
          <p:nvPr/>
        </p:nvCxnSpPr>
        <p:spPr>
          <a:xfrm>
            <a:off x="609600" y="5581650"/>
            <a:ext cx="10382250" cy="0"/>
          </a:xfrm>
          <a:prstGeom prst="straightConnector1">
            <a:avLst/>
          </a:prstGeom>
          <a:ln w="9525">
            <a:solidFill>
              <a:srgbClr val="E2E8F0"/>
            </a:solidFill>
            <a:prstDash val="soli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供需周期拐点确立，AI驱动NAND Flash市场进入新一轮量价齐升通道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**全球NAND Flash市场呈现典型的周期性波动特征，其走势由供需关系、价格周期、技术迭代及终端应用需求共同驱动。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•2023年，市场步入周期低谷，但供给端主动调控成为价格反转的关键转折点。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•2024年，全球AI需求激增驱动NAND Flash市场迎来强劲复苏。全年市场规模达到696亿美元，同比大幅增长。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•进入2025年，市场经历“先抑后扬”的周期转换，供需格局改善叠加AI需求放量成为核心驱动力。展望2025年Q3及全年，NAND Flash合约价预计季度环比增长5%~10%，全年市场规模预计约870亿美元，同比增长约29%。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•在NAND Flash价格回升周期中，德明利的业绩弹性值得重点关注。公司2025年Q3单季度净利润9,086.91万元，同比增长166.80%；Q3单季度毛利率已达10.60%，环比大幅改善。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服务器与手机双轮驱动：NAND Flash需求结构加速向高价值应用迁移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**德明利作为专业的存储模组设计厂商，其产品线已全面覆盖NAND Flash与DRAM两大存储领域，形成了以嵌入式存储、固态硬盘、存储卡、存储盘及内存条为主的多元化产品矩阵。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•2023年NAND Flash消耗结构中，Mobile（智能手机）占比34%，cSSD（PC）占比26%，eSSD（服务器）占比14%。2024年Mobile消耗比例预计升至37%，eSSD占比预计提升至约17%。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•2024年服务器NAND容量同比暴增108%。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•这一结构性变化对存储模组厂商具有明确的投资含义：企业级SSD与高容量嵌入式存储将成为未来增长最快的细分赛道。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NAND Flash产业链格局：上游寡头主导，主控与模组环节分化加剧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116"/>
                <a:gridCol w="1755170"/>
                <a:gridCol w="1108830"/>
                <a:gridCol w="764116"/>
                <a:gridCol w="850297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排名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厂商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营收（亿美元）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季增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市场份额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Samsung（三星）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+15.4%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32.3%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SK Group（SK海力士+Solidigm）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35.3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+5.7%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Kioxia（铠侠）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28.4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+33.1%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Micron（美光）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24.2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+15.4%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SanDisk（闪迪）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23.1¹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**NAND Flash存储产业链由存储原厂、主控芯片设计公司和存储模组应用产品厂商三大环节构成，其中上游原厂凭借技术与资本壁垒形成寡头垄断格局，掌握核心定价权，而中下游企业则面临差异化竞争与周期性波动风险**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•上游存储原厂：寡头格局稳固，企业级需求驱动营收增长。2025年Q3前五大NAND Flash品牌商合计营收季增16.5%，逼近171亿美元。三星以32.3%市占率居首；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•铠侠营收季增33.1%领先各原厂。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•中游主控芯片设计：高壁垒、高毛利，但需持续研发投入以维持对原厂晶圆的兼容适配能力。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•下游存储模组应用：客制化服务驱动品牌溢价，但毛利率较低且业绩随存储周期同向波动。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AI推理与终端复苏双轮驱动：企业级SSD及存储市场迎来结构性增长拐点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**AI数据中心建设加速，企业级NVMe SSD成为训练与推理工作流的核心存储载体。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•企业级SSD市场经历2023年深度调整后，于2024年迎来明确的复苏拐点，AI需求成为核心驱动力。2023年Q4企业级SSD营收攀升至23.1亿美元，同比增长47.6%。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•AI服务器需求从训练端外溢至推理端，2025Q3企业级SSD量价齐升，前五大品牌厂合计营收达65.4亿美元，环比增长约27%。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•智能手机市场复苏为上游存储厂商带来明确的增量需求。全球智能手机市场2024年出货量达12.4亿部，同比增长6.4%。2025年全年出货量有望达12.6亿部，同比增长2.3%。德明利2025年嵌入式存储营收同比增长334.43%，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•内存条营收同比增长263.65%。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•全球ICT市场持续扩张，云计算渗透率提升与企业上云进程加速，为存储产业链带来结构性增长机遇。2024年全球ICT市场总投资规模接近5.3万亿美元，2028年有望增至6.9万亿美元，CAGR为7%。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•企业物联网市场规模持续扩大，中国有望成为全球第一大物联网市场，进一步拉动存储需求。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国产存储模组崛起：从份额突破到格局重塑的结构性机遇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502"/>
                <a:gridCol w="2079536"/>
                <a:gridCol w="1498491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排名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公司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市场份额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金士顿（Kingston）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66.0%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威刚（ADATA）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约5.0%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十铨（Team Group）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营收增长59%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前五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金泰克（Kimtigo）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前五合计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81.0%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**全球SSD模组市场集中度持续提升，但国产厂商已从“跟跑”转向“并跑”，并在渠道与定制化能力上形成差异化优势。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•2024年全球渠道SSD模组厂前五大合计市占率突破80%。金士顿以36%居首，威刚13%跃居第二，Lexar约11%第三。国产厂商金泰克、佰维分列第四、五位。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•中国大陆模组厂在前十大闪存模组厂中合计市占率仅为34%，渗透空间广阔。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•全球DRAM模组市场集中度边际松动，2024年前五大模组厂合计占据81%的营收份额，较2023年的87%有所下降。金士顿以66%市占率稳居龙头，威刚、十铨、金泰克等厂商增长强劲。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•在中国大陆模组厂方面，国产化势头持续强化。金泰克2024年营收增长10%，市占率4.2%稳居全球前五。德明利2024年预计营收45-50亿元，同比增长153%-182%，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•增速远超行业平均。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盈利高增确立拐点，估值溢价反映成长确定性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117"/>
                <a:gridCol w="881630"/>
                <a:gridCol w="976144"/>
                <a:gridCol w="834374"/>
                <a:gridCol w="881630"/>
                <a:gridCol w="881634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股票代码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公司简称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收盘价（元，2025/4/8）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EPS（元）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Item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Item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2024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301308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江波龙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71.91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688525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佰维存储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57.48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603986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兆易创新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103.48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688766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普冉股份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89.15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平均值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001309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德明利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103.63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4.06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6.23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**盈利预测与估值评级**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•当前估值已高于可比公司平均水平，但高估值背后是盈利增速与成长确定性的双重支撑。德明利2025E同比+65.3%远超可比公司均值约30%-40%。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•公司已实现存储模组全产品线布局，在企业级存储领域处于国内领先地位；AI驱动存储器市场规模持续扩张，公司有望迎来新一轮成长空间。维持“买入”评级。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盈利拐点确立，现金流改善是估值修复的关键变量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**盈利拐点确立，现金流改善是估值修复的关键变量**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•营收高速增长，盈利弹性加速释放。2024年营收预计47.73亿元（+168.75%），归母净利润3.51亿元（+1304%），净利率提升至7.35%。预计2025-2028年营收、净利润持续增长，净利率提升至10.19%。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•毛利率短期承压，但净利率中枢上移趋势明确。2025年毛利率预计回落至14.81%，但净利率从2023年的1.45%跃升至2024年的7.35%。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•ROE与ROIC同步攀升，资本回报效率显著优化。2024年ROE预计提升至14.15%，ROIC跃升至18.29%；2025-2028年ROE预计从21.05%升至31.07%。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•现金流是当前估值体系中的核心矛盾。2023-2025年经营活动现金流持续为负，主因存货与应收扩张。我们判断2026年是现金流由负转正的关键拐点，2027-2028年自由现金流将显著改善。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•估值已充分反映成长预期，但现金流改善将驱动估值体系切换。当前P/E 42.20倍，若2026年现金流如期转正，估值将从P/E主导切换至EV/EBITDA+自由现金流框架。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•风险提示：企业级存储需求不及预期；行业竞争加剧；存货减值风险；现金流改善不及预期；财务杠杆风险。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