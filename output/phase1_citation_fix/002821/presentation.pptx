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a05a5dd0ed546a8" Type="http://schemas.openxmlformats.org/officeDocument/2006/relationships/officeDocument" Target="ppt/presentation.xml"/><Relationship Id="R7d9962a69e594f96" Type="http://schemas.openxmlformats.org/officeDocument/2006/relationships/extended-properties" Target="docProps/app.xml"/><Relationship Id="R822d5ee7c4184134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33bf1e5b4c43dd"/>
  </p:sldMasterIdLst>
  <p:notesMasterIdLst>
    <p:notesMasterId xmlns:r="http://schemas.openxmlformats.org/officeDocument/2006/relationships" r:id="R84014388d7aa421f"/>
  </p:notesMasterIdLst>
  <p:sldIdLst>
    <p:sldId xmlns:ns0="http://schemas.openxmlformats.org/officeDocument/2006/relationships" id="272" ns0:id="rId22"/>
    <p:sldId xmlns:ns0="http://schemas.openxmlformats.org/officeDocument/2006/relationships" id="273" ns0:id="rId23"/>
    <p:sldId xmlns:ns0="http://schemas.openxmlformats.org/officeDocument/2006/relationships" id="274" ns0:id="rId24"/>
    <p:sldId xmlns:ns0="http://schemas.openxmlformats.org/officeDocument/2006/relationships" id="275" ns0:id="rId25"/>
    <p:sldId xmlns:ns0="http://schemas.openxmlformats.org/officeDocument/2006/relationships" id="276" ns0:id="rId26"/>
    <p:sldId xmlns:ns0="http://schemas.openxmlformats.org/officeDocument/2006/relationships" id="277" ns0:id="rId27"/>
    <p:sldId xmlns:ns0="http://schemas.openxmlformats.org/officeDocument/2006/relationships" id="278" ns0:id="rId28"/>
    <p:sldId xmlns:ns0="http://schemas.openxmlformats.org/officeDocument/2006/relationships" id="279" ns0:id="rId29"/>
    <p:sldId xmlns:ns0="http://schemas.openxmlformats.org/officeDocument/2006/relationships" id="280" ns0:id="rId30"/>
    <p:sldId xmlns:ns0="http://schemas.openxmlformats.org/officeDocument/2006/relationships" id="281" ns0:id="rId31"/>
    <p:sldId xmlns:ns0="http://schemas.openxmlformats.org/officeDocument/2006/relationships" id="282" ns0:id="rId32"/>
    <p:sldId xmlns:ns0="http://schemas.openxmlformats.org/officeDocument/2006/relationships" id="283" ns0:id="rId33"/>
    <p:sldId xmlns:ns0="http://schemas.openxmlformats.org/officeDocument/2006/relationships" id="284" ns0:id="rId34"/>
    <p:sldId xmlns:ns0="http://schemas.openxmlformats.org/officeDocument/2006/relationships" id="285" ns0:id="rId3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633bf1e5b4c43dd" Type="http://schemas.openxmlformats.org/officeDocument/2006/relationships/slideMaster" Target="slideMasters/slideMaster1.xml"/><Relationship Id="R5e0171a3e283454a" Type="http://schemas.openxmlformats.org/officeDocument/2006/relationships/theme" Target="theme/theme1.xml"/><Relationship Id="R7c708c09f70944af" Type="http://schemas.openxmlformats.org/officeDocument/2006/relationships/tableStyles" Target="tableStyles.xml"/><Relationship Id="R84014388d7aa421f" Type="http://schemas.openxmlformats.org/officeDocument/2006/relationships/notesMaster" Target="notesMasters/notesMaster1.xml"/><Relationship Id="Rc3973d8dc3b8405d" Type="http://schemas.openxmlformats.org/officeDocument/2006/relationships/presProps" Target="presProps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5a67eb1a75f5475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<?xml version='1.0' encoding='UTF-8' standalone='yes'?>
<Relationships xmlns="http://schemas.openxmlformats.org/package/2006/relationships"><Relationship Id="Rae10f3aae0704bd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591e5772ae94391" Type="http://schemas.openxmlformats.org/officeDocument/2006/relationships/slideLayout" Target="../slideLayouts/slideLayout1.xml"/><Relationship Id="R0dd04bbc73a54fc7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591e5772ae943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/>
      <p:sp>
        <p:nvSpPr>
          <p:cNvPr id="1" name="cover_accent">
            <a:extLst>
              <a:ext uri="{FF2B5EF4-FFF2-40B4-BE49-F238E27FC236}">
                <a16:creationId xmlns:a16="http://schemas.microsoft.com/office/drawing/2014/main" id="{16E1F1E0-0FA3-4CD2-882C-B613B78F79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F6FED"/>
          </a:solidFill>
          <a:ln w="0">
            <a:noFill/>
            <a:prstDash val="solid"/>
          </a:ln>
        </p:spPr>
      </p:sp>
      <p:sp>
        <p:nvSpPr>
          <p:cNvPr id="2" name="cover_eyebrow">
            <a:extLst>
              <a:ext uri="{FF2B5EF4-FFF2-40B4-BE49-F238E27FC236}">
                <a16:creationId xmlns:a16="http://schemas.microsoft.com/office/drawing/2014/main" id="{6D37FB5B-67AF-4B58-90FB-59F460CD0985}"/>
              </a:ext>
            </a:extLst>
          </p:cNvPr>
          <p:cNvSpPr>
            <a:spLocks noGrp="1"/>
          </p:cNvSpPr>
          <p:nvPr/>
        </p:nvSpPr>
        <p:spPr>
          <a:xfrm>
            <a:off x="704850" y="5905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l">
              <a:def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78C8E8"/>
                </a:solidFill>
                <a:latin typeface="Microsoft YaHei"/>
                <a:ea typeface="Microsoft YaHei"/>
                <a:cs typeface="Microsoft YaHei"/>
              </a:rPr>
              <a:t>FINANCIAL RESEARCH PRESENTATION</a:t>
            </a:r>
          </a:p>
        </p:txBody>
      </p:sp>
      <p:sp>
        <p:nvSpPr>
          <p:cNvPr id="3" name="cover_title">
            <a:extLst>
              <a:ext uri="{FF2B5EF4-FFF2-40B4-BE49-F238E27FC236}">
                <a16:creationId xmlns:a16="http://schemas.microsoft.com/office/drawing/2014/main" id="{A05A7682-4EB2-4CA7-9462-D999697F1B0A}"/>
              </a:ext>
            </a:extLst>
          </p:cNvPr>
          <p:cNvSpPr>
            <a:spLocks noGrp="1"/>
          </p:cNvSpPr>
          <p:nvPr/>
        </p:nvSpPr>
        <p:spPr>
          <a:xfrm>
            <a:off x="704850" y="1695450"/>
            <a:ext cx="7239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凯莱英</a:t>
            </a:r>
          </a:p>
        </p:txBody>
      </p:sp>
      <p:sp>
        <p:nvSpPr>
          <p:cNvPr id="4" name="cover_subtitle">
            <a:extLst>
              <a:ext uri="{FF2B5EF4-FFF2-40B4-BE49-F238E27FC236}">
                <a16:creationId xmlns:a16="http://schemas.microsoft.com/office/drawing/2014/main" id="{72E62B7C-084B-4FA6-8E96-15968EFB6670}"/>
              </a:ext>
            </a:extLst>
          </p:cNvPr>
          <p:cNvSpPr>
            <a:spLocks noGrp="1"/>
          </p:cNvSpPr>
          <p:nvPr/>
        </p:nvSpPr>
        <p:spPr>
          <a:xfrm>
            <a:off x="704850" y="2724150"/>
            <a:ext cx="723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凯莱英（002821）深度研究报告</a:t>
            </a:r>
          </a:p>
        </p:txBody>
      </p:sp>
      <p:cxnSp>
        <p:nvCxnSpPr>
          <p:cNvPr id="17" name="cover_rule"/>
          <p:cNvCxnSpPr/>
          <p:nvPr/>
        </p:nvCxnSpPr>
        <p:spPr>
          <a:xfrm>
            <a:off x="704850" y="3638550"/>
            <a:ext cx="7239000" cy="0"/>
          </a:xfrm>
          <a:prstGeom prst="straightConnector1">
            <a:avLst/>
          </a:prstGeom>
          <a:ln w="9525">
            <a:solidFill>
              <a:srgbClr val="4A6782"/>
            </a:solidFill>
            <a:prstDash val="solid"/>
          </a:ln>
        </p:spPr>
      </p:cxnSp>
      <p:sp>
        <p:nvSpPr>
          <p:cNvPr id="6" name="cover_meta">
            <a:extLst>
              <a:ext uri="{FF2B5EF4-FFF2-40B4-BE49-F238E27FC236}">
                <a16:creationId xmlns:a16="http://schemas.microsoft.com/office/drawing/2014/main" id="{AD715C60-A248-401B-BE71-5D747A151ED2}"/>
              </a:ext>
            </a:extLst>
          </p:cNvPr>
          <p:cNvSpPr>
            <a:spLocks noGrp="1"/>
          </p:cNvSpPr>
          <p:nvPr/>
        </p:nvSpPr>
        <p:spPr>
          <a:xfrm>
            <a:off x="704850" y="388620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002821  |  2025-09-11</a:t>
            </a:r>
          </a:p>
        </p:txBody>
      </p:sp>
      <p:sp>
        <p:nvSpPr>
          <p:cNvPr id="7" name="cover_tag">
            <a:extLst>
              <a:ext uri="{FF2B5EF4-FFF2-40B4-BE49-F238E27FC236}">
                <a16:creationId xmlns:a16="http://schemas.microsoft.com/office/drawing/2014/main" id="{EC65AA1E-28A8-44A0-91B1-7AE276164E1E}"/>
              </a:ext>
            </a:extLst>
          </p:cNvPr>
          <p:cNvSpPr>
            <a:spLocks noGrp="1"/>
          </p:cNvSpPr>
          <p:nvPr/>
        </p:nvSpPr>
        <p:spPr>
          <a:xfrm>
            <a:off x="704850" y="58864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r>
              <a:rPr>
                <a:solidFill>
                  <a:srgbClr val="FFFFFF"/>
                </a:solidFill>
              </a:rPr>
              <a:t>医药生物/CDMO</a:t>
            </a:r>
          </a:p>
        </p:txBody>
      </p:sp>
      <p:sp>
        <p:nvSpPr>
          <p:cNvPr id="8" name="cover_bar_1">
            <a:extLst>
              <a:ext uri="{FF2B5EF4-FFF2-40B4-BE49-F238E27FC236}">
                <a16:creationId xmlns:a16="http://schemas.microsoft.com/office/drawing/2014/main" id="{14E6FB72-A0C1-480E-B218-742E7149257C}"/>
              </a:ext>
            </a:extLst>
          </p:cNvPr>
          <p:cNvSpPr>
            <a:spLocks noGrp="1"/>
          </p:cNvSpPr>
          <p:nvPr/>
        </p:nvSpPr>
        <p:spPr>
          <a:xfrm>
            <a:off x="8858250" y="4495800"/>
            <a:ext cx="304800" cy="83820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9" name="cover_bar_2">
            <a:extLst>
              <a:ext uri="{FF2B5EF4-FFF2-40B4-BE49-F238E27FC236}">
                <a16:creationId xmlns:a16="http://schemas.microsoft.com/office/drawing/2014/main" id="{83EB1AB3-A0E7-4383-93F9-132CD0BDE717}"/>
              </a:ext>
            </a:extLst>
          </p:cNvPr>
          <p:cNvSpPr>
            <a:spLocks noGrp="1"/>
          </p:cNvSpPr>
          <p:nvPr/>
        </p:nvSpPr>
        <p:spPr>
          <a:xfrm>
            <a:off x="9448800" y="3981450"/>
            <a:ext cx="304800" cy="135255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10" name="cover_bar_3">
            <a:extLst>
              <a:ext uri="{FF2B5EF4-FFF2-40B4-BE49-F238E27FC236}">
                <a16:creationId xmlns:a16="http://schemas.microsoft.com/office/drawing/2014/main" id="{A3935099-EF09-4C80-A8BB-4E4F41C147BB}"/>
              </a:ext>
            </a:extLst>
          </p:cNvPr>
          <p:cNvSpPr>
            <a:spLocks noGrp="1"/>
          </p:cNvSpPr>
          <p:nvPr/>
        </p:nvSpPr>
        <p:spPr>
          <a:xfrm>
            <a:off x="10039350" y="3371850"/>
            <a:ext cx="304800" cy="1962150"/>
          </a:xfrm>
          <a:prstGeom prst="rect">
            <a:avLst/>
          </a:prstGeom>
          <a:solidFill>
            <a:srgbClr val="2A4964"/>
          </a:solidFill>
          <a:ln w="0">
            <a:noFill/>
            <a:prstDash val="solid"/>
          </a:ln>
        </p:spPr>
      </p:sp>
      <p:sp>
        <p:nvSpPr>
          <p:cNvPr id="11" name="cover_bar_4">
            <a:extLst>
              <a:ext uri="{FF2B5EF4-FFF2-40B4-BE49-F238E27FC236}">
                <a16:creationId xmlns:a16="http://schemas.microsoft.com/office/drawing/2014/main" id="{C40C0491-CB72-4723-B6FD-2749DE037F6A}"/>
              </a:ext>
            </a:extLst>
          </p:cNvPr>
          <p:cNvSpPr>
            <a:spLocks noGrp="1"/>
          </p:cNvSpPr>
          <p:nvPr/>
        </p:nvSpPr>
        <p:spPr>
          <a:xfrm>
            <a:off x="10629900" y="2609850"/>
            <a:ext cx="304800" cy="2724150"/>
          </a:xfrm>
          <a:prstGeom prst="rect">
            <a:avLst/>
          </a:prstGeom>
          <a:solidFill>
            <a:srgbClr val="78C8E8"/>
          </a:solidFill>
          <a:ln w="0">
            <a:noFill/>
            <a:prstDash val="solid"/>
          </a:ln>
        </p:spPr>
      </p:sp>
      <p:sp>
        <p:nvSpPr>
          <p:cNvPr id="12" name="cover_marker">
            <a:extLst>
              <a:ext uri="{FF2B5EF4-FFF2-40B4-BE49-F238E27FC236}">
                <a16:creationId xmlns:a16="http://schemas.microsoft.com/office/drawing/2014/main" id="{C461E8C0-903C-441C-9B13-DF6596890E7F}"/>
              </a:ext>
            </a:extLst>
          </p:cNvPr>
          <p:cNvSpPr>
            <a:spLocks noGrp="1"/>
          </p:cNvSpPr>
          <p:nvPr/>
        </p:nvSpPr>
        <p:spPr>
          <a:xfrm>
            <a:off x="9906000" y="6153150"/>
            <a:ext cx="1619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100000"/>
          </a:bodyPr>
          <a:lstStyle/>
          <a:p>
            <a:pPr algn="r">
              <a:defRPr sz="825" b="1">
                <a:solidFill>
                  <a:srgbClr val="7FA2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7FA2BF"/>
                </a:solidFill>
                <a:latin typeface="Microsoft YaHei"/>
                <a:ea typeface="Microsoft YaHei"/>
                <a:cs typeface="Microsoft YaHei"/>
              </a:rPr>
              <a:t>01 / COVER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凯莱英（002821）深度研究报告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全球生物医药行业仍处于周期底部，需求修复缓慢、供给相对过剩，但拐点信号正在积累。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•小分子CDMO剔除大订单后稳健增长，商业化项目进入收获期，基本盘企稳。根据公司在手订单情况，预计2024年小分子PPQ项目达28个，公司已完成首个欧洲研发生产基地布局。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•新兴业务多板块需求旺盛，产能释放加速，正成为公司第二增长曲线。多肽业务加快商业化产能建设，寡核苷酸业务项目承接量高速增长，ADC业务持续聚焦偶联药物赛道。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•投资建议：预计2025-2027年凯莱英营业收入CAGR约12.3%，归母净利润CAGR约19.9%；2024年受大订单退潮影响业绩承压，但2025年上半年已重回增长通道。首次覆盖，给予“买入”评级。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管理层深度绑定与平台化布局：凯莱英穿越周期的核心护城河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29" cy="6172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**凯莱英是全球领先的服务于新药研发和生产的CDMO一站式综合服务商，其核心竞争力根植于深厚的技术积淀、稳定的管理层团队以及持续深化的平台化战略。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728929" cy="7543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•公司以小分子CDMO为基石，正加速向新兴业务领域拓展，服务类型已拓展至化学大分子CDMO、制剂CDMO、临床CRO、生物大分子CDMO、技术输出和合成生物技术等，新兴业务2024年收入12.3亿元（+2.3%）。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•核心管理层由洪浩博士领衔，多位高管拥有辉瑞、默克、葛兰素史克等国际药企背景，团队稳定且具备国际化视野。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•公司自2016年上市以来已推出7期股权激励计划，2025年新一期A+H股限制性股票方案设置双重业绩考核，深度绑定核心员工利益，彰显长期发展信心。</a:t>
            </a:r>
          </a:p>
        </p:txBody>
      </p:sp>
      <p:graphicFrame>
        <p:nvGraphicFramePr>
          <p:cNvPr id="5" name="compiled_table"/>
          <p:cNvGraphicFramePr>
            <a:graphicFrameLocks noGrp="1"/>
          </p:cNvGraphicFramePr>
          <p:nvPr/>
        </p:nvGraphicFramePr>
        <p:xfrm>
          <a:off x="731520" y="3086100"/>
          <a:ext cx="5120640" cy="2948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6965"/>
                <a:gridCol w="1511297"/>
                <a:gridCol w="1942378"/>
              </a:tblGrid>
              <a:tr h="371715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姓名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职务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简介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22153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HAO HONG（洪浩）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首席执行官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博士，曾于美国北卡州立大学从事博士后研究，1995年创办ALAB，在连续反应及绿色化学领域拥有卓越行业影响力，拥有多项国际国内授权专利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2153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杨蕊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联席首席执行官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硕士/北大EMBA，1999年加入公司，长期负责公司整体运营管理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22153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张达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首席财务官/首席运营官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硕士，拥有超15年资本市场经验，2018年5月加入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2153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XINHUI HU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首席技术官/首席商务官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博士，曾任职葛兰素史克、默克、强生等跨国药企及罗氏、云顶新耀，2022年6月加入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22153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James Randolph Gage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首席科学官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博士，拥有近30年医药化学经验，曾任职辉瑞，师从美国著名有机化学家David Evans教授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2153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洪亮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执行副总裁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拥有丰富的大型新建厂区、新型业务车间及环保设施的整体工程管理经验，1998年加入公司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22153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陈朝勇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执行副总裁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本科，拥有丰富的研发生产经验，负责商业化开发、技术转移和生产质量控制，2003年加入公司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2153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姜英伟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执行副总裁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硕士，负责人力资源战略及行政后勤体系全面建设，2020年1月加入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ompiled_table"/>
          <p:cNvGraphicFramePr>
            <a:graphicFrameLocks noGrp="1"/>
          </p:cNvGraphicFramePr>
          <p:nvPr/>
        </p:nvGraphicFramePr>
        <p:xfrm>
          <a:off x="6339809" y="3086100"/>
          <a:ext cx="5120640" cy="269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3008"/>
                <a:gridCol w="1048463"/>
                <a:gridCol w="1261401"/>
                <a:gridCol w="774686"/>
                <a:gridCol w="1383082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年份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激励方式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授予对象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人数（人）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核心业绩考核/解锁条件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2016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股票期权+限制性股票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核心管理及技术骨干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112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2017-2019年净利润每年同比增速不低于25%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2018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限制性股票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管理人员及核心技术业务人员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2018-2020年净利润每年同比增速分别不低于50%/25%/25%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2019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限制性股票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高层管理人员及核心骨干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2019-2021年净利润每年同比增速分别不低于75%/25%/25%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2020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限制性股票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核心管理及技术骨干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225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2020-2022年净利润每年同比增速不低于25%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2021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限制性股票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核心管理及技术骨干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273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特别授予部分：2021-2023年净利润每年同比增速50%/25%/25%&lt;br&gt;非特别授予部分：2021-2024年净利润每年同比增速50%/25%/25%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2022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员工持股计划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核心员工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608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2023-2025年营业收入每年同比增速分别不低于80%/40%/30%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2025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A+H股限制性股票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A股649人+H股授予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649+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以2024年营收/净利润为基数，2025-2028年分档增速目标（详见正文）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供需再平衡与创新动能切换：CXO行业周期拐点渐近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**当前CXO行业仍处于周期拐点待向上阶段，核心矛盾在于终端需求修复节奏与产能出清速度之间的动态博弈。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•需求侧，全球步入降息周期，生物医药投融资回暖，海外业务占比较高的头部CXO有望率先受益；供给侧，头部企业主动放缓扩产，产能持续去化，行业正从“供过于求”向“供需再平衡”过渡。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•医药创新动能正从传统小分子主导向“小分子+新兴疗法”多元并进格局切换，多技术平台布局的CXO企业将在新一轮创新浪潮中占据更有利的竞争位置。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创新药研发投入持续增长与出海加速共振，CDMO行业供需格局迎来拐点</a:t>
            </a:r>
          </a:p>
        </p:txBody>
      </p:sp>
      <p:graphicFrame>
        <p:nvGraphicFramePr>
          <p:cNvPr id="3" name="compiled_table"/>
          <p:cNvGraphicFramePr>
            <a:graphicFrameLocks noGrp="1"/>
          </p:cNvGraphicFramePr>
          <p:nvPr/>
        </p:nvGraphicFramePr>
        <p:xfrm>
          <a:off x="731520" y="1508760"/>
          <a:ext cx="5242529" cy="302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935"/>
                <a:gridCol w="1693536"/>
                <a:gridCol w="897202"/>
                <a:gridCol w="976835"/>
                <a:gridCol w="937021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排名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合作项目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卖方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买方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总金额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GLP-1类药物：HRS-7535、HRS9531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恒瑞医药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Hercules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60.35亿美元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多个心血管RNAi疗法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舶望制药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诺华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41.65亿美元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LM-299：PD-1/VEGF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礼新医药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默沙东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32.88亿美元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GLP-1受体激动剂HS-10535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翰森制药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默沙东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20.12亿美元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小分子Lp(a)抑制剂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石药集团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阿斯利康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20.2亿美元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IMM2510(VEGFxPD-L1双抗)/IMM27M(CTLA-4抗体)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宜明昂科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Instil bio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20亿美元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NASH/MASH小核酸疗法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瑞博生物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勃林格殷格翰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20亿美元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多个前沿创新靶点ADC产品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宜联生物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BioNTech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18.25亿美元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3680" y="1508760"/>
            <a:ext cx="4876769" cy="10287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**全球医药研发投入稳步增长，生物医药投融资回暖，为CDMO行业提供稳定需求基础。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811780"/>
            <a:ext cx="4876769" cy="32232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•全球外包服务需求增速有望快于研发投入的增长，小分子仍占主导，多肽、寡核苷酸等新兴方向加速发展。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•产能建设高峰期已过，在建工程增速转负，冗余产能加速出清，行业供需格局有望逐步改善。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•创新药出海与政策支持形成双重驱动：2024年国产创新药License-out交易达94笔，总金额约519亿美元；政策端全链条支持体系从顶层设计走向地方落地。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守正出奇：小分子基本盘稳固，新兴疗法打开第二增长曲线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**全球药物研发格局正经历从“小分子独大”向“小分子为基、新兴疗法多点开花”的结构性演变。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•小分子仍是基石赛道，2023年全球占比约54.86%；多肽、寡核苷酸、ADC等新兴疗法加速崛起，多肽CDMO市场2025‑2030年CAGR预计26%。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•凯莱英精准卡位：2025H1小分子CDMO收入24.29亿元（同比+10.64%），新兴业务收入7.56亿元（同比+51.22%），毛利率同比提升9.5pct至29.79%。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•多肽业务：产能快速扩张，首个GLP‑1多肽商业化项目已获批上市；寡核苷酸业务：在手订单金额同比增超90%，临床中后期项目储备超10个。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大订单扰动出清，主业重回高质量增长通道：凯莱英内生增长动能与全球化布局深化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**大订单扰动出清，主业重回高质量增长通道。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•剔除新冠大订单影响，2019‑2024年营收CAGR约18.7%，归母净利润CAGR约11.4%；2025H1营收同比增长18.2%，常规业务重回增长快车道。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•小分子CDMO作为压舱石，2024年剔除大订单后收入+8.9%，新兴业务2025H1收入同比+80%以上。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•全球产能布局完善：中国、美国、英国8大基地，服务超1100家客户；2024年收购辉瑞英国Sandwich Site，2025H1已交付4个研发项目、首个生产订单落地。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•资本开支从2022年峰值回落；人才规模五年CAGR26%，人均创利增幅达60.7%。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•在手订单于2025年半年报日达10.88亿美元，同比增长趋势持续向好。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小分子CDMO：大订单扰动出清，商业化项目储备驱动盈利质量持续回升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**小分子CDMO业务是凯莱英的基石与核心收入来源。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•剔除大订单后，小分子收入从2019年的23.75亿元增至2023年的42.00亿元（CAGR 15.32%）；2025H1收入24.29亿元，同比+10.64%，毛利率47.79%同比提升0.6pct。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•商业化项目逐步落地：2024年交付48个，临床Ⅲ期项目73个；预计2025年全年PPQ项目约12个，商业化订单储备充沛。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•盈利质量持续改善：连续反应与酶催化技术应用率超33%，成本优势巩固。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新兴业务：多肽、ADC、小核酸驱动下，第二增长曲线加速兑现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**新兴业务近年来整体呈现快速扩张态势，但2024年经历了一次明显的增速换挡与盈利承压。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•2024年受国内投融资低迷及产能爬坡影响，新兴业务收入12.3亿元（+2.3%），毛利率21.67%。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•2025H1强力反弹：收入7.56亿元（+51.22%），毛利率回升至29.79%（+9.5pct），化学大分子收入+130%，生物大分子+70%。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多肽业务：商业化产能加速建设，已签订GLP‑1多肽商业化订单；寡核苷酸业务：在手订单持续高增，项目储备充足；制剂CDMO预充针/卡式瓶产线即将投产；临床CRO在手项目丰富；生物药CDMO聚焦ADC，奉贤新基地投建中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•连续反应与酶催化技术输出业务持续增长，合成生物技术收入同比增长33.22%，境外客户占比超80%。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化学大分子CDMO：多肽与寡核苷酸双轮驱动，商业化产能释放打开成长空间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**化学大分子业务是公司战略发展的核心板块之一，正凭借多肽与寡核苷酸两大高景气赛道的深度布局，进入订单与产能共振的加速成长阶段。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•2025H1板块收入3.79亿元（+130%），在手订单同比+90%，境外订单占比超40%。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•多肽固相合成产能从14,250L（2024年6月）扩至2025年底约44,000L；首个GLP‑1商业化项目已获批上市，与国内重要客户签订商业化订单执行顺利。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•寡核苷酸业务：临床中后期项目储备超过10个，产能持续扩充。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在手订单高覆盖叠加PPQ加速转化，新兴业务多极放量，预计2025~2027年归母净利润CAGR约20%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29" cy="6172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**核心判断：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57400"/>
            <a:ext cx="10728929" cy="7543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•小分子CDMO：在手订单覆盖倍数超1.15倍，PPQ转商业化与海外产能爬坡驱动未来三年收入CAGR约15%~20%。</a:t>
            </a:r>
          </a:p>
        </p:txBody>
      </p:sp>
      <p:graphicFrame>
        <p:nvGraphicFramePr>
          <p:cNvPr id="5" name="compiled_table"/>
          <p:cNvGraphicFramePr>
            <a:graphicFrameLocks noGrp="1"/>
          </p:cNvGraphicFramePr>
          <p:nvPr/>
        </p:nvGraphicFramePr>
        <p:xfrm>
          <a:off x="731520" y="3086100"/>
          <a:ext cx="5120640" cy="2948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337"/>
                <a:gridCol w="882325"/>
                <a:gridCol w="882325"/>
                <a:gridCol w="882325"/>
                <a:gridCol w="882328"/>
              </a:tblGrid>
              <a:tr h="371715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2024A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2025E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2026E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2027E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22153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营业收入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58.05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73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82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2153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同比增速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-25.82%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+11.97%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+12.31%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+12.33%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22153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小分子CDMO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46.79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51.7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58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64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2153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同比增速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-28.5%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+10.5%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+12.2%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+10.3%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22153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其中：商业化阶段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33.79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37.5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42.5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47.5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2153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同比增速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-33.0%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+11.0%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+13.3%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+11.8%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22153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其中：临床阶段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14.2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15.5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16.5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2153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同比增速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-13.0%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+9.2%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+9.2%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+6.5%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ompiled_table"/>
          <p:cNvGraphicFramePr>
            <a:graphicFrameLocks noGrp="1"/>
          </p:cNvGraphicFramePr>
          <p:nvPr/>
        </p:nvGraphicFramePr>
        <p:xfrm>
          <a:off x="6339809" y="3086100"/>
          <a:ext cx="5120640" cy="170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9606"/>
                <a:gridCol w="953448"/>
                <a:gridCol w="768817"/>
                <a:gridCol w="768817"/>
                <a:gridCol w="814975"/>
                <a:gridCol w="814977"/>
              </a:tblGrid>
              <a:tr h="3810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公司简称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总市值（亿元）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2023 EPS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2024 EPS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2025E EPS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2026E EPS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药明康德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1800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3.27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3.28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3.72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4.22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康龙化成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492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1.01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1.09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1.3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九洲药业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121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1.15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0.68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1.2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1.31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64748B"/>
                          </a:solidFill>
                          <a:latin typeface="Microsoft YaHei"/>
                        </a:rPr>
                        <a:t>凯莱英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297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6.26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2.49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3.16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64748B"/>
                          </a:solidFill>
                          <a:latin typeface="Microsoft YaHei"/>
                        </a:rPr>
                        <a:t>3.48</a:t>
                      </a:r>
                    </a:p>
                  </a:txBody>
                  <a:tcPr marL="63500" marR="63500" marT="38100" marB="38100" anchor="ctr">
                    <a:lnL w="7620">
                      <a:solidFill>
                        <a:srgbClr val="D9E2EC"/>
                      </a:solidFill>
                      <a:prstDash val="solid"/>
                    </a:lnL>
                    <a:lnR w="7620">
                      <a:solidFill>
                        <a:srgbClr val="D9E2EC"/>
                      </a:solidFill>
                      <a:prstDash val="solid"/>
                    </a:lnR>
                    <a:lnT w="7620">
                      <a:solidFill>
                        <a:srgbClr val="D9E2EC"/>
                      </a:solidFill>
                      <a:prstDash val="solid"/>
                    </a:lnT>
                    <a:lnB w="7620">
                      <a:solidFill>
                        <a:srgbClr val="D9E2EC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在手订单高覆盖叠加PPQ加速转化，新兴业务多极放量，预计2025~2027年归母净利润CAGR约20%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•新兴业务：化学大分子引领，预计2025~2027年整体CAGR约35%~45%，其中多肽、寡核苷酸商业化加速，ADC产能2026Q2交付。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•毛利率受益于产能利用率回升及高毛利商业化项目占比提升，预计从2024年的42.36%逐步修复至44.50%左右，2025~2027年归母净利润分别为11.64/14.10/16.73亿元。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•可比公司估值：凯莱英2025E PE为25.55倍，高于药明康德、九洲药业，低于康龙化成，处于可比公司中等水平。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4290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盈利高增确定性强，但需警惕产能爬坡与订单持续性风险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728929" cy="960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**①新业务产能爬坡不及预期风险。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728929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•新业务产能爬坡不及预期风险：多肽、寡核苷酸、ADC产能快速扩张，若下游需求释放或工艺验证延后，折旧摊销将提前侵蚀利润。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•多肽/ADC订单波动风险：化学大分子2025年高基数下订单持续性存不确定性，ADC尚未形成规模商业化订单，竞争加剧或客户项目推进不顺将拖累放量。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•全球投融资环境变化风险：国内生物医药融资复苏不及预期已拖累境内客户业务，若宏观环境再度收紧，整体收入增速将承压。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•汇率波动风险：境外收入占比约74%，人民币升值将直接压缩毛利率与净利润，每升值1%净利润负面影响约0.5%。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•地缘政治与国际贸易环境不确定性：中美博弈可能影响海外客户供应链策略与CDMO订单稳定性。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•核心人才流失风险：CDMO行业高度依赖核心技术团队，关键人员流失将影响工艺转化与订单交付。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90" y="685800"/>
            <a:ext cx="10241280" cy="13716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noAutofit/>
          </a:bodyPr>
          <a:lstStyle/>
          <a:p>
            <a:pPr algn="l"/>
            <a:r>
              <a:rPr sz="2700" b="1">
                <a:solidFill>
                  <a:srgbClr val="102A43"/>
                </a:solidFill>
                <a:latin typeface="Microsoft YaHei"/>
              </a:rPr>
              <a:t>盈利底部确认，2025年有望迎来收入与利润双拐点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2331720"/>
            <a:ext cx="9753539" cy="109728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Microsoft YaHei"/>
              </a:rPr>
              <a:t>公司2022‑2024年经历了一轮完整的“高增长‑深度调整”周期，当前盈利已触及底部。我们预计，随着收入端在2025年恢复正增长，叠加毛利率修复与费用管控优化，归母净利润将迎来强劲反弹，开启新一轮盈利上行周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703320"/>
            <a:ext cx="9265889" cy="21945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no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•收入端调整出清，2025年营收预计同比+14.9%，逐步向历史高点回归。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•毛利率触底回升，从2024年42.4%修复至2025年44.0%；资产减值损失大幅收窄，营业利润同比增长28.3%，归母净利润同比增长26.8%。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•ROE从5.6%历史低位回升，当前PE 25.6倍、P/B 1.57倍，估值具备安全边际。</a:t>
            </a:r>
          </a:p>
          <a:p>
            <a:pPr algn="l"/>
            <a:r>
              <a:rPr sz="1400" b="0">
                <a:solidFill>
                  <a:srgbClr val="64748B"/>
                </a:solidFill>
                <a:latin typeface="Microsoft YaHei"/>
              </a:rPr>
              <a:t>•资产负债率仅13%左右，流动比率超5倍，财务基础稳健，为业绩复苏提供支撑。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2026-07-17T16:12:03.6290000Z</dcterms:created>
  <dcterms:modified xsi:type="dcterms:W3CDTF">2026-07-17T16:12:03.6290000Z</dcterms:modified>
</coreProperties>
</file>