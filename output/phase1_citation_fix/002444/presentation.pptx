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3a05a5dd0ed546a8" Type="http://schemas.openxmlformats.org/officeDocument/2006/relationships/officeDocument" Target="ppt/presentation.xml"/><Relationship Id="R7d9962a69e594f96" Type="http://schemas.openxmlformats.org/officeDocument/2006/relationships/extended-properties" Target="docProps/app.xml"/><Relationship Id="R822d5ee7c4184134"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0633bf1e5b4c43dd"/>
  </p:sldMasterIdLst>
  <p:notesMasterIdLst>
    <p:notesMasterId xmlns:r="http://schemas.openxmlformats.org/officeDocument/2006/relationships" r:id="R84014388d7aa421f"/>
  </p:notesMasterIdLst>
  <p:sldIdLst>
    <p:sldId xmlns:ns0="http://schemas.openxmlformats.org/officeDocument/2006/relationships" id="272" ns0:id="rId22"/>
    <p:sldId xmlns:ns0="http://schemas.openxmlformats.org/officeDocument/2006/relationships" id="273" ns0:id="rId23"/>
    <p:sldId xmlns:ns0="http://schemas.openxmlformats.org/officeDocument/2006/relationships" id="274" ns0:id="rId24"/>
    <p:sldId xmlns:ns0="http://schemas.openxmlformats.org/officeDocument/2006/relationships" id="275" ns0:id="rId25"/>
    <p:sldId xmlns:ns0="http://schemas.openxmlformats.org/officeDocument/2006/relationships" id="276" ns0:id="rId26"/>
    <p:sldId xmlns:ns0="http://schemas.openxmlformats.org/officeDocument/2006/relationships" id="277" ns0:id="rId27"/>
    <p:sldId xmlns:ns0="http://schemas.openxmlformats.org/officeDocument/2006/relationships" id="278" ns0:id="rId28"/>
    <p:sldId xmlns:ns0="http://schemas.openxmlformats.org/officeDocument/2006/relationships" id="279" ns0:id="rId29"/>
    <p:sldId xmlns:ns0="http://schemas.openxmlformats.org/officeDocument/2006/relationships" id="280" ns0:id="rId30"/>
    <p:sldId xmlns:ns0="http://schemas.openxmlformats.org/officeDocument/2006/relationships" id="281" ns0:id="rId31"/>
    <p:sldId xmlns:ns0="http://schemas.openxmlformats.org/officeDocument/2006/relationships" id="282" ns0:id="rId32"/>
    <p:sldId xmlns:ns0="http://schemas.openxmlformats.org/officeDocument/2006/relationships" id="283" ns0:id="rId33"/>
    <p:sldId xmlns:ns0="http://schemas.openxmlformats.org/officeDocument/2006/relationships" id="284" ns0:id="rId34"/>
    <p:sldId xmlns:ns0="http://schemas.openxmlformats.org/officeDocument/2006/relationships" id="285" ns0:id="rId35"/>
    <p:sldId xmlns:ns0="http://schemas.openxmlformats.org/officeDocument/2006/relationships" id="286" ns0:id="rId36"/>
    <p:sldId xmlns:ns0="http://schemas.openxmlformats.org/officeDocument/2006/relationships" id="287" ns0:id="rId37"/>
    <p:sldId xmlns:ns0="http://schemas.openxmlformats.org/officeDocument/2006/relationships" id="288" ns0:id="rId38"/>
    <p:sldId xmlns:ns0="http://schemas.openxmlformats.org/officeDocument/2006/relationships" id="289" ns0:id="rId39"/>
    <p:sldId xmlns:ns0="http://schemas.openxmlformats.org/officeDocument/2006/relationships" id="290" ns0:id="rId40"/>
    <p:sldId xmlns:ns0="http://schemas.openxmlformats.org/officeDocument/2006/relationships" id="291" ns0:id="rId41"/>
    <p:sldId xmlns:ns0="http://schemas.openxmlformats.org/officeDocument/2006/relationships" id="292" ns0:id="rId42"/>
    <p:sldId xmlns:ns0="http://schemas.openxmlformats.org/officeDocument/2006/relationships" id="293" ns0:id="rId43"/>
    <p:sldId xmlns:ns0="http://schemas.openxmlformats.org/officeDocument/2006/relationships" id="294" ns0:id="rId4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633bf1e5b4c43dd" Type="http://schemas.openxmlformats.org/officeDocument/2006/relationships/slideMaster" Target="slideMasters/slideMaster1.xml"/><Relationship Id="R5e0171a3e283454a" Type="http://schemas.openxmlformats.org/officeDocument/2006/relationships/theme" Target="theme/theme1.xml"/><Relationship Id="R7c708c09f70944af" Type="http://schemas.openxmlformats.org/officeDocument/2006/relationships/tableStyles" Target="tableStyles.xml"/><Relationship Id="R84014388d7aa421f" Type="http://schemas.openxmlformats.org/officeDocument/2006/relationships/notesMaster" Target="notesMasters/notesMaster1.xml"/><Relationship Id="Rc3973d8dc3b8405d" Type="http://schemas.openxmlformats.org/officeDocument/2006/relationships/presProps" Target="presProps.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泉峰控股</c:v>
                </c:pt>
              </c:strCache>
            </c:strRef>
          </c:tx>
          <c:spPr>
            <a:solidFill>
              <a:srgbClr val="2F75B5"/>
            </a:solidFill>
            <a:ln>
              <a:solidFill>
                <a:srgbClr val="2F75B5"/>
              </a:solidFill>
            </a:ln>
          </c:spPr>
          <c:cat>
            <c:strRef>
              <c:f>Sheet1!$A$2:$A$3</c:f>
              <c:strCache>
                <c:ptCount val="2"/>
                <c:pt idx="0">
                  <c:v>2025E PE (X)</c:v>
                </c:pt>
                <c:pt idx="1">
                  <c:v>2026E PE (X)</c:v>
                </c:pt>
              </c:strCache>
            </c:strRef>
          </c:cat>
          <c:val>
            <c:numRef>
              <c:f>Sheet1!$B$2:$B$3</c:f>
              <c:numCache>
                <c:formatCode>General</c:formatCode>
                <c:ptCount val="2"/>
                <c:pt idx="0">
                  <c:v>6.6</c:v>
                </c:pt>
                <c:pt idx="1">
                  <c:v>5.3</c:v>
                </c:pt>
              </c:numCache>
            </c:numRef>
          </c:val>
        </c:ser>
        <c:gapWidth val="65"/>
        <c:axId val="79456312"/>
        <c:axId val="33489208"/>
      </c:barChart>
      <c:catAx>
        <c:axId val="79456312"/>
        <c:scaling>
          <c:orientation val="minMax"/>
        </c:scaling>
        <c:delete val="0"/>
        <c:axPos val="b"/>
        <c:majorTickMark val="out"/>
        <c:minorTickMark val="none"/>
        <c:tickLblPos val="nextTo"/>
        <c:spPr>
          <a:ln>
            <a:solidFill>
              <a:srgbClr val="94A3B8"/>
            </a:solidFill>
          </a:ln>
        </c:spPr>
        <c:txPr>
          <a:bodyPr/>
          <a:lstStyle/>
          <a:p>
            <a:pPr>
              <a:defRPr sz="1000">
                <a:solidFill>
                  <a:srgbClr val="64748B"/>
                </a:solidFill>
                <a:latin typeface="Microsoft YaHei"/>
              </a:defRPr>
            </a:pPr>
          </a:p>
        </c:txPr>
        <c:crossAx val="33489208"/>
        <c:crosses val="autoZero"/>
        <c:auto val="1"/>
        <c:lblAlgn val="ctr"/>
        <c:lblOffset val="100"/>
        <c:noMultiLvlLbl val="0"/>
      </c:catAx>
      <c:valAx>
        <c:axId val="33489208"/>
        <c:scaling/>
        <c:delete val="0"/>
        <c:axPos val="l"/>
        <c:majorGridlines>
          <c:spPr>
            <a:ln w="9525">
              <a:solidFill>
                <a:srgbClr val="E2E8F0"/>
              </a:solidFill>
            </a:ln>
          </c:spPr>
        </c:majorGridlines>
        <c:majorTickMark val="out"/>
        <c:minorTickMark val="none"/>
        <c:tickLblPos val="nextTo"/>
        <c:spPr>
          <a:ln>
            <a:solidFill>
              <a:srgbClr val="94A3B8"/>
            </a:solidFill>
          </a:ln>
        </c:spPr>
        <c:txPr>
          <a:bodyPr/>
          <a:lstStyle/>
          <a:p>
            <a:pPr>
              <a:defRPr sz="1000">
                <a:solidFill>
                  <a:srgbClr val="64748B"/>
                </a:solidFill>
                <a:latin typeface="Microsoft YaHei"/>
              </a:defRPr>
            </a:pPr>
          </a:p>
        </c:txPr>
        <c:crossAx val="79456312"/>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5a67eb1a75f5475c"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Layouts/_rels/slideLayout1.xml.rels><?xml version='1.0' encoding='UTF-8' standalone='yes'?>
<Relationships xmlns="http://schemas.openxmlformats.org/package/2006/relationships"><Relationship Id="Rae10f3aae0704bd3"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591e5772ae94391" Type="http://schemas.openxmlformats.org/officeDocument/2006/relationships/slideLayout" Target="../slideLayouts/slideLayout1.xml"/><Relationship Id="R0dd04bbc73a54fc7"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91e5772ae943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2A43"/>
        </a:solidFill>
      </p:bgPr>
    </p:bg>
    <p:spTree>
      <p:nvGrpSpPr>
        <p:cNvPr id="1" name=""/>
        <p:cNvGrpSpPr/>
        <p:nvPr/>
      </p:nvGrpSpPr>
      <p:grpSpPr/>
      <p:sp>
        <p:nvSpPr>
          <p:cNvPr id="1" name="cover_accent">
            <a:extLst>
              <a:ext uri="{FF2B5EF4-FFF2-40B4-BE49-F238E27FC236}">
                <a16:creationId xmlns:a16="http://schemas.microsoft.com/office/drawing/2014/main" id="{16E1F1E0-0FA3-4CD2-882C-B613B78F791A}"/>
              </a:ext>
            </a:extLst>
          </p:cNvPr>
          <p:cNvSpPr>
            <a:spLocks noGrp="1"/>
          </p:cNvSpPr>
          <p:nvPr/>
        </p:nvSpPr>
        <p:spPr>
          <a:xfrm>
            <a:off x="0" y="0"/>
            <a:ext cx="228600" cy="6858000"/>
          </a:xfrm>
          <a:prstGeom prst="rect">
            <a:avLst/>
          </a:prstGeom>
          <a:solidFill>
            <a:srgbClr val="2F6FED"/>
          </a:solidFill>
          <a:ln w="0">
            <a:noFill/>
            <a:prstDash val="solid"/>
          </a:ln>
        </p:spPr>
      </p:sp>
      <p:sp>
        <p:nvSpPr>
          <p:cNvPr id="2" name="cover_eyebrow">
            <a:extLst>
              <a:ext uri="{FF2B5EF4-FFF2-40B4-BE49-F238E27FC236}">
                <a16:creationId xmlns:a16="http://schemas.microsoft.com/office/drawing/2014/main" id="{6D37FB5B-67AF-4B58-90FB-59F460CD0985}"/>
              </a:ext>
            </a:extLst>
          </p:cNvPr>
          <p:cNvSpPr>
            <a:spLocks noGrp="1"/>
          </p:cNvSpPr>
          <p:nvPr/>
        </p:nvSpPr>
        <p:spPr>
          <a:xfrm>
            <a:off x="704850" y="590550"/>
            <a:ext cx="5334000" cy="266700"/>
          </a:xfrm>
          <a:prstGeom prst="rect">
            <a:avLst/>
          </a:prstGeom>
          <a:noFill/>
          <a:ln w="0">
            <a:noFill/>
            <a:prstDash val="solid"/>
          </a:ln>
        </p:spPr>
        <p:txBody>
          <a:bodyPr wrap="square" lIns="0" tIns="0" rIns="0" bIns="0" anchor="t">
            <a:normAutofit fontScale="100000"/>
          </a:bodyPr>
          <a:lstStyle/>
          <a:p>
            <a:pPr algn="l">
              <a:defRPr sz="1050" b="1">
                <a:solidFill>
                  <a:srgbClr val="78C8E8"/>
                </a:solidFill>
                <a:latin typeface="Microsoft YaHei"/>
                <a:ea typeface="Microsoft YaHei"/>
                <a:cs typeface="Microsoft YaHei"/>
              </a:defRPr>
            </a:pPr>
            <a:r>
              <a:rPr sz="1050" b="1">
                <a:solidFill>
                  <a:srgbClr val="78C8E8"/>
                </a:solidFill>
                <a:latin typeface="Microsoft YaHei"/>
                <a:ea typeface="Microsoft YaHei"/>
                <a:cs typeface="Microsoft YaHei"/>
              </a:rPr>
              <a:t>FINANCIAL RESEARCH PRESENTATION</a:t>
            </a:r>
          </a:p>
        </p:txBody>
      </p:sp>
      <p:sp>
        <p:nvSpPr>
          <p:cNvPr id="3" name="cover_title">
            <a:extLst>
              <a:ext uri="{FF2B5EF4-FFF2-40B4-BE49-F238E27FC236}">
                <a16:creationId xmlns:a16="http://schemas.microsoft.com/office/drawing/2014/main" id="{A05A7682-4EB2-4CA7-9462-D999697F1B0A}"/>
              </a:ext>
            </a:extLst>
          </p:cNvPr>
          <p:cNvSpPr>
            <a:spLocks noGrp="1"/>
          </p:cNvSpPr>
          <p:nvPr/>
        </p:nvSpPr>
        <p:spPr>
          <a:xfrm>
            <a:off x="704850" y="1695450"/>
            <a:ext cx="7239000" cy="800100"/>
          </a:xfrm>
          <a:prstGeom prst="rect">
            <a:avLst/>
          </a:prstGeom>
          <a:noFill/>
          <a:ln w="0">
            <a:noFill/>
            <a:prstDash val="solid"/>
          </a:ln>
        </p:spPr>
        <p:txBody>
          <a:bodyPr wrap="square" lIns="0" tIns="0" rIns="0" bIns="0" anchor="t">
            <a:noAutofit/>
          </a:bodyPr>
          <a:lstStyle/>
          <a:p>
            <a:r>
              <a:rPr>
                <a:solidFill>
                  <a:srgbClr val="FFFFFF"/>
                </a:solidFill>
              </a:rPr>
              <a:t>巨星科技</a:t>
            </a:r>
          </a:p>
        </p:txBody>
      </p:sp>
      <p:sp>
        <p:nvSpPr>
          <p:cNvPr id="4" name="cover_subtitle">
            <a:extLst>
              <a:ext uri="{FF2B5EF4-FFF2-40B4-BE49-F238E27FC236}">
                <a16:creationId xmlns:a16="http://schemas.microsoft.com/office/drawing/2014/main" id="{72E62B7C-084B-4FA6-8E96-15968EFB6670}"/>
              </a:ext>
            </a:extLst>
          </p:cNvPr>
          <p:cNvSpPr>
            <a:spLocks noGrp="1"/>
          </p:cNvSpPr>
          <p:nvPr/>
        </p:nvSpPr>
        <p:spPr>
          <a:xfrm>
            <a:off x="704850" y="2724150"/>
            <a:ext cx="7239000" cy="457200"/>
          </a:xfrm>
          <a:prstGeom prst="rect">
            <a:avLst/>
          </a:prstGeom>
          <a:noFill/>
          <a:ln w="0">
            <a:noFill/>
            <a:prstDash val="solid"/>
          </a:ln>
        </p:spPr>
        <p:txBody>
          <a:bodyPr wrap="square" lIns="0" tIns="0" rIns="0" bIns="0" anchor="t">
            <a:noAutofit/>
          </a:bodyPr>
          <a:lstStyle/>
          <a:p>
            <a:r>
              <a:rPr>
                <a:solidFill>
                  <a:srgbClr val="FFFFFF"/>
                </a:solidFill>
              </a:rPr>
              <a:t>巨星科技（002444）深度研究报告</a:t>
            </a:r>
          </a:p>
        </p:txBody>
      </p:sp>
      <p:cxnSp>
        <p:nvCxnSpPr>
          <p:cNvPr id="17" name="cover_rule"/>
          <p:cNvCxnSpPr/>
          <p:nvPr/>
        </p:nvCxnSpPr>
        <p:spPr>
          <a:xfrm>
            <a:off x="704850" y="3638550"/>
            <a:ext cx="7239000" cy="0"/>
          </a:xfrm>
          <a:prstGeom prst="straightConnector1">
            <a:avLst/>
          </a:prstGeom>
          <a:ln w="9525">
            <a:solidFill>
              <a:srgbClr val="4A6782"/>
            </a:solidFill>
            <a:prstDash val="solid"/>
          </a:ln>
        </p:spPr>
      </p:cxnSp>
      <p:sp>
        <p:nvSpPr>
          <p:cNvPr id="6" name="cover_meta">
            <a:extLst>
              <a:ext uri="{FF2B5EF4-FFF2-40B4-BE49-F238E27FC236}">
                <a16:creationId xmlns:a16="http://schemas.microsoft.com/office/drawing/2014/main" id="{AD715C60-A248-401B-BE71-5D747A151ED2}"/>
              </a:ext>
            </a:extLst>
          </p:cNvPr>
          <p:cNvSpPr>
            <a:spLocks noGrp="1"/>
          </p:cNvSpPr>
          <p:nvPr/>
        </p:nvSpPr>
        <p:spPr>
          <a:xfrm>
            <a:off x="704850" y="3886200"/>
            <a:ext cx="7810500" cy="266700"/>
          </a:xfrm>
          <a:prstGeom prst="rect">
            <a:avLst/>
          </a:prstGeom>
          <a:noFill/>
          <a:ln w="0">
            <a:noFill/>
            <a:prstDash val="solid"/>
          </a:ln>
        </p:spPr>
        <p:txBody>
          <a:bodyPr wrap="square" lIns="0" tIns="0" rIns="0" bIns="0" anchor="t">
            <a:noAutofit/>
          </a:bodyPr>
          <a:lstStyle/>
          <a:p>
            <a:r>
              <a:rPr>
                <a:solidFill>
                  <a:srgbClr val="FFFFFF"/>
                </a:solidFill>
              </a:rPr>
              <a:t>002444  |  2025-09-21</a:t>
            </a:r>
          </a:p>
        </p:txBody>
      </p:sp>
      <p:sp>
        <p:nvSpPr>
          <p:cNvPr id="7" name="cover_tag">
            <a:extLst>
              <a:ext uri="{FF2B5EF4-FFF2-40B4-BE49-F238E27FC236}">
                <a16:creationId xmlns:a16="http://schemas.microsoft.com/office/drawing/2014/main" id="{EC65AA1E-28A8-44A0-91B1-7AE276164E1E}"/>
              </a:ext>
            </a:extLst>
          </p:cNvPr>
          <p:cNvSpPr>
            <a:spLocks noGrp="1"/>
          </p:cNvSpPr>
          <p:nvPr/>
        </p:nvSpPr>
        <p:spPr>
          <a:xfrm>
            <a:off x="704850" y="5886450"/>
            <a:ext cx="2286000" cy="266700"/>
          </a:xfrm>
          <a:prstGeom prst="rect">
            <a:avLst/>
          </a:prstGeom>
          <a:noFill/>
          <a:ln w="0">
            <a:noFill/>
            <a:prstDash val="solid"/>
          </a:ln>
        </p:spPr>
        <p:txBody>
          <a:bodyPr wrap="square" lIns="0" tIns="0" rIns="0" bIns="0" anchor="t">
            <a:noAutofit/>
          </a:bodyPr>
          <a:lstStyle/>
          <a:p>
            <a:r>
              <a:rPr>
                <a:solidFill>
                  <a:srgbClr val="FFFFFF"/>
                </a:solidFill>
              </a:rPr>
              <a:t>工具制造</a:t>
            </a:r>
          </a:p>
        </p:txBody>
      </p:sp>
      <p:sp>
        <p:nvSpPr>
          <p:cNvPr id="8" name="cover_bar_1">
            <a:extLst>
              <a:ext uri="{FF2B5EF4-FFF2-40B4-BE49-F238E27FC236}">
                <a16:creationId xmlns:a16="http://schemas.microsoft.com/office/drawing/2014/main" id="{14E6FB72-A0C1-480E-B218-742E7149257C}"/>
              </a:ext>
            </a:extLst>
          </p:cNvPr>
          <p:cNvSpPr>
            <a:spLocks noGrp="1"/>
          </p:cNvSpPr>
          <p:nvPr/>
        </p:nvSpPr>
        <p:spPr>
          <a:xfrm>
            <a:off x="8858250" y="4495800"/>
            <a:ext cx="304800" cy="838200"/>
          </a:xfrm>
          <a:prstGeom prst="rect">
            <a:avLst/>
          </a:prstGeom>
          <a:solidFill>
            <a:srgbClr val="2A4964"/>
          </a:solidFill>
          <a:ln w="0">
            <a:noFill/>
            <a:prstDash val="solid"/>
          </a:ln>
        </p:spPr>
      </p:sp>
      <p:sp>
        <p:nvSpPr>
          <p:cNvPr id="9" name="cover_bar_2">
            <a:extLst>
              <a:ext uri="{FF2B5EF4-FFF2-40B4-BE49-F238E27FC236}">
                <a16:creationId xmlns:a16="http://schemas.microsoft.com/office/drawing/2014/main" id="{83EB1AB3-A0E7-4383-93F9-132CD0BDE717}"/>
              </a:ext>
            </a:extLst>
          </p:cNvPr>
          <p:cNvSpPr>
            <a:spLocks noGrp="1"/>
          </p:cNvSpPr>
          <p:nvPr/>
        </p:nvSpPr>
        <p:spPr>
          <a:xfrm>
            <a:off x="9448800" y="3981450"/>
            <a:ext cx="304800" cy="1352550"/>
          </a:xfrm>
          <a:prstGeom prst="rect">
            <a:avLst/>
          </a:prstGeom>
          <a:solidFill>
            <a:srgbClr val="2A4964"/>
          </a:solidFill>
          <a:ln w="0">
            <a:noFill/>
            <a:prstDash val="solid"/>
          </a:ln>
        </p:spPr>
      </p:sp>
      <p:sp>
        <p:nvSpPr>
          <p:cNvPr id="10" name="cover_bar_3">
            <a:extLst>
              <a:ext uri="{FF2B5EF4-FFF2-40B4-BE49-F238E27FC236}">
                <a16:creationId xmlns:a16="http://schemas.microsoft.com/office/drawing/2014/main" id="{A3935099-EF09-4C80-A8BB-4E4F41C147BB}"/>
              </a:ext>
            </a:extLst>
          </p:cNvPr>
          <p:cNvSpPr>
            <a:spLocks noGrp="1"/>
          </p:cNvSpPr>
          <p:nvPr/>
        </p:nvSpPr>
        <p:spPr>
          <a:xfrm>
            <a:off x="10039350" y="3371850"/>
            <a:ext cx="304800" cy="1962150"/>
          </a:xfrm>
          <a:prstGeom prst="rect">
            <a:avLst/>
          </a:prstGeom>
          <a:solidFill>
            <a:srgbClr val="2A4964"/>
          </a:solidFill>
          <a:ln w="0">
            <a:noFill/>
            <a:prstDash val="solid"/>
          </a:ln>
        </p:spPr>
      </p:sp>
      <p:sp>
        <p:nvSpPr>
          <p:cNvPr id="11" name="cover_bar_4">
            <a:extLst>
              <a:ext uri="{FF2B5EF4-FFF2-40B4-BE49-F238E27FC236}">
                <a16:creationId xmlns:a16="http://schemas.microsoft.com/office/drawing/2014/main" id="{C40C0491-CB72-4723-B6FD-2749DE037F6A}"/>
              </a:ext>
            </a:extLst>
          </p:cNvPr>
          <p:cNvSpPr>
            <a:spLocks noGrp="1"/>
          </p:cNvSpPr>
          <p:nvPr/>
        </p:nvSpPr>
        <p:spPr>
          <a:xfrm>
            <a:off x="10629900" y="2609850"/>
            <a:ext cx="304800" cy="2724150"/>
          </a:xfrm>
          <a:prstGeom prst="rect">
            <a:avLst/>
          </a:prstGeom>
          <a:solidFill>
            <a:srgbClr val="78C8E8"/>
          </a:solidFill>
          <a:ln w="0">
            <a:noFill/>
            <a:prstDash val="solid"/>
          </a:ln>
        </p:spPr>
      </p:sp>
      <p:sp>
        <p:nvSpPr>
          <p:cNvPr id="12" name="cover_marker">
            <a:extLst>
              <a:ext uri="{FF2B5EF4-FFF2-40B4-BE49-F238E27FC236}">
                <a16:creationId xmlns:a16="http://schemas.microsoft.com/office/drawing/2014/main" id="{C461E8C0-903C-441C-9B13-DF6596890E7F}"/>
              </a:ext>
            </a:extLst>
          </p:cNvPr>
          <p:cNvSpPr>
            <a:spLocks noGrp="1"/>
          </p:cNvSpPr>
          <p:nvPr/>
        </p:nvSpPr>
        <p:spPr>
          <a:xfrm>
            <a:off x="9906000" y="6153150"/>
            <a:ext cx="1619250" cy="209550"/>
          </a:xfrm>
          <a:prstGeom prst="rect">
            <a:avLst/>
          </a:prstGeom>
          <a:noFill/>
          <a:ln w="0">
            <a:noFill/>
            <a:prstDash val="solid"/>
          </a:ln>
        </p:spPr>
        <p:txBody>
          <a:bodyPr wrap="square" lIns="0" tIns="0" rIns="0" bIns="0" anchor="t">
            <a:normAutofit fontScale="100000"/>
          </a:bodyPr>
          <a:lstStyle/>
          <a:p>
            <a:pPr algn="r">
              <a:defRPr sz="825" b="1">
                <a:solidFill>
                  <a:srgbClr val="7FA2BF"/>
                </a:solidFill>
                <a:latin typeface="Microsoft YaHei"/>
                <a:ea typeface="Microsoft YaHei"/>
                <a:cs typeface="Microsoft YaHei"/>
              </a:defRPr>
            </a:pPr>
            <a:r>
              <a:rPr sz="825" b="1">
                <a:solidFill>
                  <a:srgbClr val="7FA2BF"/>
                </a:solidFill>
                <a:latin typeface="Microsoft YaHei"/>
                <a:ea typeface="Microsoft YaHei"/>
                <a:cs typeface="Microsoft YaHei"/>
              </a:rPr>
              <a:t>01 / COVER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2900"/>
            <a:ext cx="10728929" cy="960120"/>
          </a:xfrm>
          <a:prstGeom prst="rect">
            <a:avLst/>
          </a:prstGeom>
          <a:noFill/>
        </p:spPr>
        <p:txBody>
          <a:bodyPr wrap="square" lIns="25400" rIns="25400" tIns="12700" bIns="12700" anchor="ctr">
            <a:noAutofit/>
          </a:bodyPr>
          <a:lstStyle/>
          <a:p>
            <a:pPr algn="l"/>
            <a:r>
              <a:rPr sz="2700" b="1">
                <a:solidFill>
                  <a:srgbClr val="102A43"/>
                </a:solidFill>
                <a:latin typeface="Microsoft YaHei"/>
              </a:rPr>
              <a:t>巨星科技：品牌化转型驱动盈利改善，工具出海龙头价值重估</a:t>
            </a:r>
          </a:p>
        </p:txBody>
      </p:sp>
      <p:sp>
        <p:nvSpPr>
          <p:cNvPr id="3" name="TextBox 2"/>
          <p:cNvSpPr txBox="1"/>
          <p:nvPr/>
        </p:nvSpPr>
        <p:spPr>
          <a:xfrm>
            <a:off x="731520" y="1508760"/>
            <a:ext cx="10728929" cy="960120"/>
          </a:xfrm>
          <a:prstGeom prst="rect">
            <a:avLst/>
          </a:prstGeom>
          <a:noFill/>
        </p:spPr>
        <p:txBody>
          <a:bodyPr wrap="square" lIns="25400" rIns="25400" tIns="12700" bIns="12700" anchor="t">
            <a:noAutofit/>
          </a:bodyPr>
          <a:lstStyle/>
          <a:p>
            <a:pPr algn="l"/>
            <a:r>
              <a:rPr sz="1600" b="1">
                <a:solidFill>
                  <a:srgbClr val="102A43"/>
                </a:solidFill>
                <a:latin typeface="Microsoft YaHei"/>
              </a:rPr>
              <a:t>**巨星科技是国内手工具行业规模最大、渠道优势最强的龙头之一，也是亚洲乃至全球领先的工具出海企业**。</a:t>
            </a:r>
          </a:p>
        </p:txBody>
      </p:sp>
      <p:sp>
        <p:nvSpPr>
          <p:cNvPr id="4" name="TextBox 3"/>
          <p:cNvSpPr txBox="1"/>
          <p:nvPr/>
        </p:nvSpPr>
        <p:spPr>
          <a:xfrm>
            <a:off x="731520" y="2743200"/>
            <a:ext cx="10728929" cy="3291840"/>
          </a:xfrm>
          <a:prstGeom prst="rect">
            <a:avLst/>
          </a:prstGeom>
          <a:noFill/>
        </p:spPr>
        <p:txBody>
          <a:bodyPr wrap="square" lIns="25400" rIns="25400" tIns="12700" bIns="12700" anchor="t">
            <a:noAutofit/>
          </a:bodyPr>
          <a:lstStyle/>
          <a:p>
            <a:pPr algn="l"/>
            <a:r>
              <a:rPr sz="1400" b="0">
                <a:solidFill>
                  <a:srgbClr val="64748B"/>
                </a:solidFill>
                <a:latin typeface="Microsoft YaHei"/>
              </a:rPr>
              <a:t>•公司成立于1993年，2010年7月在深交所上市，主营业务为手工具、电动工具及工业工具的研发、生产和销售，已形成手工具、电动工具、激光测量仪器、存储箱柜四大产品线。</a:t>
            </a:r>
          </a:p>
          <a:p>
            <a:pPr algn="l"/>
            <a:r>
              <a:rPr sz="1400" b="0">
                <a:solidFill>
                  <a:srgbClr val="64748B"/>
                </a:solidFill>
                <a:latin typeface="Microsoft YaHei"/>
              </a:rPr>
              <a:t>•公司以代工起家，2010年上市后坚定推进品牌化转型，OBM占比持续提升，通过收购ARROW、SK等世界级百年品牌及自创WORKPRO等品牌，目前已拥有17个工具品牌。</a:t>
            </a:r>
          </a:p>
          <a:p>
            <a:pPr algn="l"/>
            <a:r>
              <a:rPr sz="1400" b="0">
                <a:solidFill>
                  <a:srgbClr val="64748B"/>
                </a:solidFill>
                <a:latin typeface="Microsoft YaHei"/>
              </a:rPr>
              <a:t>•近五年公司营收与盈利稳步增长，毛利率呈趋势性改善，2020-2024年营业收入从85.44亿元增至147.95亿元，归母净利润从13.50亿元提升至23.04亿元，毛利率自2021年低点25.13%持续修复至2024年的32.01%。</a:t>
            </a:r>
          </a:p>
          <a:p>
            <a:pPr algn="l"/>
            <a:r>
              <a:rPr sz="1400" b="0">
                <a:solidFill>
                  <a:srgbClr val="64748B"/>
                </a:solidFill>
                <a:latin typeface="Microsoft YaHei"/>
              </a:rPr>
              <a:t>•公司持续通过高分红回馈投资者，2023~2024年累计分红11.22亿元，2024年实施三次分红。</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2900"/>
            <a:ext cx="10728929" cy="960120"/>
          </a:xfrm>
          <a:prstGeom prst="rect">
            <a:avLst/>
          </a:prstGeom>
          <a:noFill/>
        </p:spPr>
        <p:txBody>
          <a:bodyPr wrap="square" lIns="25400" rIns="25400" tIns="12700" bIns="12700" anchor="ctr">
            <a:noAutofit/>
          </a:bodyPr>
          <a:lstStyle/>
          <a:p>
            <a:pPr algn="l"/>
            <a:r>
              <a:rPr sz="2700" b="1">
                <a:solidFill>
                  <a:srgbClr val="102A43"/>
                </a:solidFill>
                <a:latin typeface="Microsoft YaHei"/>
              </a:rPr>
              <a:t>战略三阶跃迁：从ODM代工到全球工具品牌集团的成长路径</a:t>
            </a:r>
          </a:p>
        </p:txBody>
      </p:sp>
      <p:sp>
        <p:nvSpPr>
          <p:cNvPr id="3" name="TextBox 2"/>
          <p:cNvSpPr txBox="1"/>
          <p:nvPr/>
        </p:nvSpPr>
        <p:spPr>
          <a:xfrm>
            <a:off x="731520" y="1508760"/>
            <a:ext cx="10728929" cy="960120"/>
          </a:xfrm>
          <a:prstGeom prst="rect">
            <a:avLst/>
          </a:prstGeom>
          <a:noFill/>
        </p:spPr>
        <p:txBody>
          <a:bodyPr wrap="square" lIns="25400" rIns="25400" tIns="12700" bIns="12700" anchor="t">
            <a:noAutofit/>
          </a:bodyPr>
          <a:lstStyle/>
          <a:p>
            <a:pPr algn="l"/>
            <a:r>
              <a:rPr sz="1600" b="1">
                <a:solidFill>
                  <a:srgbClr val="102A43"/>
                </a:solidFill>
                <a:latin typeface="Microsoft YaHei"/>
              </a:rPr>
              <a:t>巨星科技的发展历程并非简单的线性增长，而是经历了三次战略跃迁，最终完成了从代工出口向品牌化、全球化的深刻转型。</a:t>
            </a:r>
          </a:p>
        </p:txBody>
      </p:sp>
      <p:sp>
        <p:nvSpPr>
          <p:cNvPr id="4" name="TextBox 3"/>
          <p:cNvSpPr txBox="1"/>
          <p:nvPr/>
        </p:nvSpPr>
        <p:spPr>
          <a:xfrm>
            <a:off x="731520" y="2743200"/>
            <a:ext cx="10728929" cy="3291840"/>
          </a:xfrm>
          <a:prstGeom prst="rect">
            <a:avLst/>
          </a:prstGeom>
          <a:noFill/>
        </p:spPr>
        <p:txBody>
          <a:bodyPr wrap="square" lIns="25400" rIns="25400" tIns="12700" bIns="12700" anchor="t">
            <a:noAutofit/>
          </a:bodyPr>
          <a:lstStyle/>
          <a:p>
            <a:pPr algn="l"/>
            <a:r>
              <a:rPr sz="1400" b="0">
                <a:solidFill>
                  <a:srgbClr val="64748B"/>
                </a:solidFill>
                <a:latin typeface="Microsoft YaHei"/>
              </a:rPr>
              <a:t>•第一阶段（1993-2009年）：ODM模式崛起，依托中国制造业成本效率，深度绑定欧美大型渠道客户，奠定制造与渠道根基。</a:t>
            </a:r>
          </a:p>
          <a:p>
            <a:pPr algn="l"/>
            <a:r>
              <a:rPr sz="1400" b="0">
                <a:solidFill>
                  <a:srgbClr val="64748B"/>
                </a:solidFill>
                <a:latin typeface="Microsoft YaHei"/>
              </a:rPr>
              <a:t>•第二阶段（2010-2016年）：上市后探索与战略纠偏，明确“聚焦主业+发展自有品牌+海外并购”的核心战略，为品牌化跃迁扫清方向。</a:t>
            </a:r>
          </a:p>
          <a:p>
            <a:pPr algn="l"/>
            <a:r>
              <a:rPr sz="1400" b="0">
                <a:solidFill>
                  <a:srgbClr val="64748B"/>
                </a:solidFill>
                <a:latin typeface="Microsoft YaHei"/>
              </a:rPr>
              <a:t>•第三阶段（此后至今）：通过自主培育与外延并购双轮驱动，搭建多品牌矩阵，已拥有17个工具品牌，从单一制造升级为全球工具集团。</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2900"/>
            <a:ext cx="10728929" cy="960120"/>
          </a:xfrm>
          <a:prstGeom prst="rect">
            <a:avLst/>
          </a:prstGeom>
          <a:noFill/>
        </p:spPr>
        <p:txBody>
          <a:bodyPr wrap="square" lIns="25400" rIns="25400" tIns="12700" bIns="12700" anchor="ctr">
            <a:noAutofit/>
          </a:bodyPr>
          <a:lstStyle/>
          <a:p>
            <a:pPr algn="l"/>
            <a:r>
              <a:rPr sz="2700" b="1">
                <a:solidFill>
                  <a:srgbClr val="102A43"/>
                </a:solidFill>
                <a:latin typeface="Microsoft YaHei"/>
              </a:rPr>
              <a:t>品牌化驱动利润结构升级，三大业务梯次布局构筑全球工具龙头护城河</a:t>
            </a:r>
          </a:p>
        </p:txBody>
      </p:sp>
      <p:graphicFrame>
        <p:nvGraphicFramePr>
          <p:cNvPr id="3" name="compiled_table"/>
          <p:cNvGraphicFramePr>
            <a:graphicFrameLocks noGrp="1"/>
          </p:cNvGraphicFramePr>
          <p:nvPr/>
        </p:nvGraphicFramePr>
        <p:xfrm>
          <a:off x="731520" y="1508760"/>
          <a:ext cx="5242529" cy="1371600"/>
        </p:xfrm>
        <a:graphic>
          <a:graphicData uri="http://schemas.openxmlformats.org/drawingml/2006/table">
            <a:tbl>
              <a:tblPr firstRow="1" bandRow="1">
                <a:tableStyleId>{5C22544A-7EE6-4342-B048-85BDC9FD1C3A}</a:tableStyleId>
              </a:tblPr>
              <a:tblGrid>
                <a:gridCol w="906649"/>
                <a:gridCol w="867175"/>
                <a:gridCol w="867175"/>
                <a:gridCol w="867175"/>
                <a:gridCol w="867175"/>
                <a:gridCol w="867180"/>
              </a:tblGrid>
              <a:tr h="381000">
                <a:tc>
                  <a:txBody>
                    <a:bodyPr wrap="square"/>
                    <a:lstStyle/>
                    <a:p>
                      <a:pPr algn="ctr"/>
                      <a:r>
                        <a:rPr sz="1000" b="1">
                          <a:solidFill>
                            <a:srgbClr val="FFFFFF"/>
                          </a:solidFill>
                          <a:latin typeface="Microsoft YaHei"/>
                        </a:rPr>
                        <a:t>业务板块</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102A43"/>
                    </a:solidFill>
                  </a:tcPr>
                </a:tc>
                <a:tc>
                  <a:txBody>
                    <a:bodyPr wrap="square"/>
                    <a:lstStyle/>
                    <a:p>
                      <a:pPr algn="ctr"/>
                      <a:r>
                        <a:rPr sz="1000" b="1">
                          <a:solidFill>
                            <a:srgbClr val="FFFFFF"/>
                          </a:solidFill>
                          <a:latin typeface="Microsoft YaHei"/>
                        </a:rPr>
                        <a:t>2024年收入(亿元)</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102A43"/>
                    </a:solidFill>
                  </a:tcPr>
                </a:tc>
                <a:tc>
                  <a:txBody>
                    <a:bodyPr wrap="square"/>
                    <a:lstStyle/>
                    <a:p>
                      <a:pPr algn="ctr"/>
                      <a:r>
                        <a:rPr sz="1000" b="1">
                          <a:solidFill>
                            <a:srgbClr val="FFFFFF"/>
                          </a:solidFill>
                          <a:latin typeface="Microsoft YaHei"/>
                        </a:rPr>
                        <a:t>2024年收入占比</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102A43"/>
                    </a:solidFill>
                  </a:tcPr>
                </a:tc>
                <a:tc>
                  <a:txBody>
                    <a:bodyPr wrap="square"/>
                    <a:lstStyle/>
                    <a:p>
                      <a:pPr algn="ctr"/>
                      <a:r>
                        <a:rPr sz="1000" b="1">
                          <a:solidFill>
                            <a:srgbClr val="FFFFFF"/>
                          </a:solidFill>
                          <a:latin typeface="Microsoft YaHei"/>
                        </a:rPr>
                        <a:t>2024年毛利率</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102A43"/>
                    </a:solidFill>
                  </a:tcPr>
                </a:tc>
                <a:tc>
                  <a:txBody>
                    <a:bodyPr wrap="square"/>
                    <a:lstStyle/>
                    <a:p>
                      <a:pPr algn="ctr"/>
                      <a:r>
                        <a:rPr sz="1000" b="1">
                          <a:solidFill>
                            <a:srgbClr val="FFFFFF"/>
                          </a:solidFill>
                          <a:latin typeface="Microsoft YaHei"/>
                        </a:rPr>
                        <a:t>2025H1收入(亿元)</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102A43"/>
                    </a:solidFill>
                  </a:tcPr>
                </a:tc>
                <a:tc>
                  <a:txBody>
                    <a:bodyPr wrap="square"/>
                    <a:lstStyle/>
                    <a:p>
                      <a:pPr algn="ctr"/>
                      <a:r>
                        <a:rPr sz="1000" b="1">
                          <a:solidFill>
                            <a:srgbClr val="FFFFFF"/>
                          </a:solidFill>
                          <a:latin typeface="Microsoft YaHei"/>
                        </a:rPr>
                        <a:t>2025H1收入占比</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102A43"/>
                    </a:solidFill>
                  </a:tcPr>
                </a:tc>
              </a:tr>
              <a:tr h="330200">
                <a:tc>
                  <a:txBody>
                    <a:bodyPr wrap="square"/>
                    <a:lstStyle/>
                    <a:p>
                      <a:pPr algn="ctr"/>
                      <a:r>
                        <a:rPr sz="1000" b="1">
                          <a:solidFill>
                            <a:srgbClr val="64748B"/>
                          </a:solidFill>
                          <a:latin typeface="Microsoft YaHei"/>
                        </a:rPr>
                        <a:t>手工具</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100.69</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68.05%</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32.09%</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46.2</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65.74%</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r>
              <a:tr h="330200">
                <a:tc>
                  <a:txBody>
                    <a:bodyPr wrap="square"/>
                    <a:lstStyle/>
                    <a:p>
                      <a:pPr algn="ctr"/>
                      <a:r>
                        <a:rPr sz="1000" b="1">
                          <a:solidFill>
                            <a:srgbClr val="64748B"/>
                          </a:solidFill>
                          <a:latin typeface="Microsoft YaHei"/>
                        </a:rPr>
                        <a:t>工业工具</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32.29</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21.82%</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35.57%</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16.32</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23.23%</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r>
              <a:tr h="330200">
                <a:tc>
                  <a:txBody>
                    <a:bodyPr wrap="square"/>
                    <a:lstStyle/>
                    <a:p>
                      <a:pPr algn="ctr"/>
                      <a:r>
                        <a:rPr sz="1000" b="1">
                          <a:solidFill>
                            <a:srgbClr val="64748B"/>
                          </a:solidFill>
                          <a:latin typeface="Microsoft YaHei"/>
                        </a:rPr>
                        <a:t>电动工具</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14.38</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9.72%</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23.83%</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7.42</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10.56%</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r>
            </a:tbl>
          </a:graphicData>
        </a:graphic>
      </p:graphicFrame>
      <p:sp>
        <p:nvSpPr>
          <p:cNvPr id="4" name="TextBox 3"/>
          <p:cNvSpPr txBox="1"/>
          <p:nvPr/>
        </p:nvSpPr>
        <p:spPr>
          <a:xfrm>
            <a:off x="6583680" y="1508760"/>
            <a:ext cx="4876769" cy="1028700"/>
          </a:xfrm>
          <a:prstGeom prst="rect">
            <a:avLst/>
          </a:prstGeom>
          <a:noFill/>
        </p:spPr>
        <p:txBody>
          <a:bodyPr wrap="square" lIns="25400" rIns="25400" tIns="12700" bIns="12700" anchor="t">
            <a:noAutofit/>
          </a:bodyPr>
          <a:lstStyle/>
          <a:p>
            <a:pPr algn="l"/>
            <a:r>
              <a:rPr sz="1600" b="1">
                <a:solidFill>
                  <a:srgbClr val="102A43"/>
                </a:solidFill>
                <a:latin typeface="Microsoft YaHei"/>
              </a:rPr>
              <a:t>巨星科技已从成立之初单一的手工具ODM代工厂，逐步发展为涵盖手工具、电动工具、工业工具三大品类的综合性工具品牌商。</a:t>
            </a:r>
          </a:p>
        </p:txBody>
      </p:sp>
      <p:sp>
        <p:nvSpPr>
          <p:cNvPr id="5" name="TextBox 4"/>
          <p:cNvSpPr txBox="1"/>
          <p:nvPr/>
        </p:nvSpPr>
        <p:spPr>
          <a:xfrm>
            <a:off x="6583680" y="2811780"/>
            <a:ext cx="4876769" cy="3223260"/>
          </a:xfrm>
          <a:prstGeom prst="rect">
            <a:avLst/>
          </a:prstGeom>
          <a:noFill/>
        </p:spPr>
        <p:txBody>
          <a:bodyPr wrap="square" lIns="25400" rIns="25400" tIns="12700" bIns="12700" anchor="t">
            <a:noAutofit/>
          </a:bodyPr>
          <a:lstStyle/>
          <a:p>
            <a:pPr algn="l"/>
            <a:r>
              <a:rPr sz="1400" b="0">
                <a:solidFill>
                  <a:srgbClr val="64748B"/>
                </a:solidFill>
                <a:latin typeface="Microsoft YaHei"/>
              </a:rPr>
              <a:t>•手工具：现金牛基本盘，2024年收入100.69亿元，毛利率32.09%，品牌升级与跨境电商驱动。</a:t>
            </a:r>
          </a:p>
          <a:p>
            <a:pPr algn="l"/>
            <a:r>
              <a:rPr sz="1400" b="0">
                <a:solidFill>
                  <a:srgbClr val="64748B"/>
                </a:solidFill>
                <a:latin typeface="Microsoft YaHei"/>
              </a:rPr>
              <a:t>•电动工具：战略成长极，2024年收入14.38亿元，毛利率23.83%，2025H1毛利率提升至28.99%，20V锂电突破获大订单。</a:t>
            </a:r>
          </a:p>
          <a:p>
            <a:pPr algn="l"/>
            <a:r>
              <a:rPr sz="1400" b="0">
                <a:solidFill>
                  <a:srgbClr val="64748B"/>
                </a:solidFill>
                <a:latin typeface="Microsoft YaHei"/>
              </a:rPr>
              <a:t>•工业工具：高毛利利润补充，2024年收入32.29亿元，毛利率35.57%，LISTA与Geelong协同。</a:t>
            </a:r>
          </a:p>
          <a:p>
            <a:pPr algn="l"/>
            <a:r>
              <a:rPr sz="1400" b="0">
                <a:solidFill>
                  <a:srgbClr val="64748B"/>
                </a:solidFill>
                <a:latin typeface="Microsoft YaHei"/>
              </a:rPr>
              <a:t>•公司海外收入占比超94%，美洲市场占63.44%，欧洲占24.64%，正拓展一带一路等新区域。</a:t>
            </a:r>
          </a:p>
          <a:p>
            <a:pPr algn="l"/>
            <a:r>
              <a:rPr sz="1400" b="0">
                <a:solidFill>
                  <a:srgbClr val="64748B"/>
                </a:solidFill>
                <a:latin typeface="Microsoft YaHei"/>
              </a:rPr>
              <a:t>•OBM收入占比已达47.92%，2024年OBM业务毛利率35.66%，逆周期韧性突出。</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2900"/>
            <a:ext cx="10728929" cy="960120"/>
          </a:xfrm>
          <a:prstGeom prst="rect">
            <a:avLst/>
          </a:prstGeom>
          <a:noFill/>
        </p:spPr>
        <p:txBody>
          <a:bodyPr wrap="square" lIns="25400" rIns="25400" tIns="12700" bIns="12700" anchor="ctr">
            <a:noAutofit/>
          </a:bodyPr>
          <a:lstStyle/>
          <a:p>
            <a:pPr algn="l"/>
            <a:r>
              <a:rPr sz="2700" b="1">
                <a:solidFill>
                  <a:srgbClr val="102A43"/>
                </a:solidFill>
                <a:latin typeface="Microsoft YaHei"/>
              </a:rPr>
              <a:t>盈利韧性穿越周期：OBM转型驱动下的ROE修复与结构性升级</a:t>
            </a:r>
          </a:p>
        </p:txBody>
      </p:sp>
      <p:sp>
        <p:nvSpPr>
          <p:cNvPr id="3" name="TextBox 2"/>
          <p:cNvSpPr txBox="1"/>
          <p:nvPr/>
        </p:nvSpPr>
        <p:spPr>
          <a:xfrm>
            <a:off x="731520" y="1508760"/>
            <a:ext cx="10728929" cy="960120"/>
          </a:xfrm>
          <a:prstGeom prst="rect">
            <a:avLst/>
          </a:prstGeom>
          <a:noFill/>
        </p:spPr>
        <p:txBody>
          <a:bodyPr wrap="square" lIns="25400" rIns="25400" tIns="12700" bIns="12700" anchor="t">
            <a:noAutofit/>
          </a:bodyPr>
          <a:lstStyle/>
          <a:p>
            <a:pPr algn="l"/>
            <a:r>
              <a:rPr sz="1600" b="1">
                <a:solidFill>
                  <a:srgbClr val="102A43"/>
                </a:solidFill>
                <a:latin typeface="Microsoft YaHei"/>
              </a:rPr>
              <a:t>巨星科技近八年ROE经历了“上升—回落—再回升”的完整周期，从2017年的9.19%波动上行至2024年的14.04%，期间2020年达到15.30%的阶段峰值，2022年回落至10.60%的阶段性低点后重新抬升。</a:t>
            </a:r>
          </a:p>
        </p:txBody>
      </p:sp>
      <p:sp>
        <p:nvSpPr>
          <p:cNvPr id="4" name="TextBox 3"/>
          <p:cNvSpPr txBox="1"/>
          <p:nvPr/>
        </p:nvSpPr>
        <p:spPr>
          <a:xfrm>
            <a:off x="731520" y="2743200"/>
            <a:ext cx="10728929" cy="3291840"/>
          </a:xfrm>
          <a:prstGeom prst="rect">
            <a:avLst/>
          </a:prstGeom>
          <a:noFill/>
        </p:spPr>
        <p:txBody>
          <a:bodyPr wrap="square" lIns="25400" rIns="25400" tIns="12700" bIns="12700" anchor="t">
            <a:noAutofit/>
          </a:bodyPr>
          <a:lstStyle/>
          <a:p>
            <a:pPr algn="l"/>
            <a:r>
              <a:rPr sz="1400" b="0">
                <a:solidFill>
                  <a:srgbClr val="64748B"/>
                </a:solidFill>
                <a:latin typeface="Microsoft YaHei"/>
              </a:rPr>
              <a:t>•ROE经历上升—回落—再回升周期，2020年达15.30%峰值，2022年回落至10.60%低点。</a:t>
            </a:r>
          </a:p>
          <a:p>
            <a:pPr algn="l"/>
            <a:r>
              <a:rPr sz="1400" b="0">
                <a:solidFill>
                  <a:srgbClr val="64748B"/>
                </a:solidFill>
                <a:latin typeface="Microsoft YaHei"/>
              </a:rPr>
              <a:t>•杜邦分解：净利率波动远大于周转率和杠杆率，2024年净利率15.57%，权益乘数降至1.409。</a:t>
            </a:r>
          </a:p>
          <a:p>
            <a:pPr algn="l"/>
            <a:r>
              <a:rPr sz="1400" b="0">
                <a:solidFill>
                  <a:srgbClr val="64748B"/>
                </a:solidFill>
                <a:latin typeface="Microsoft YaHei"/>
              </a:rPr>
              <a:t>•扣非归母净利率从2017年12.89%升至2024年15.57%，与ROE波动高度一致。</a:t>
            </a:r>
          </a:p>
          <a:p>
            <a:pPr algn="l"/>
            <a:r>
              <a:rPr sz="1400" b="0">
                <a:solidFill>
                  <a:srgbClr val="64748B"/>
                </a:solidFill>
                <a:latin typeface="Microsoft YaHei"/>
              </a:rPr>
              <a:t>•收入波动中利润率逆势修复：2023年收入同比-13.3%，扣非净利率反而升至15.53%，反映OBM转型效果。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2900"/>
            <a:ext cx="10728929" cy="960120"/>
          </a:xfrm>
          <a:prstGeom prst="rect">
            <a:avLst/>
          </a:prstGeom>
          <a:noFill/>
        </p:spPr>
        <p:txBody>
          <a:bodyPr wrap="square" lIns="25400" rIns="25400" tIns="12700" bIns="12700" anchor="ctr">
            <a:noAutofit/>
          </a:bodyPr>
          <a:lstStyle/>
          <a:p>
            <a:pPr algn="l"/>
            <a:r>
              <a:rPr sz="2700" b="1">
                <a:solidFill>
                  <a:srgbClr val="102A43"/>
                </a:solidFill>
                <a:latin typeface="Microsoft YaHei"/>
              </a:rPr>
              <a:t>盈利韧性穿越周期：OBM转型驱动下的ROE修复与结构性升级</a:t>
            </a:r>
          </a:p>
        </p:txBody>
      </p:sp>
      <p:sp>
        <p:nvSpPr>
          <p:cNvPr id="3" name="TextBox 2"/>
          <p:cNvSpPr txBox="1"/>
          <p:nvPr/>
        </p:nvSpPr>
        <p:spPr>
          <a:xfrm>
            <a:off x="731520" y="1508760"/>
            <a:ext cx="10728929" cy="960120"/>
          </a:xfrm>
          <a:prstGeom prst="rect">
            <a:avLst/>
          </a:prstGeom>
          <a:noFill/>
        </p:spPr>
        <p:txBody>
          <a:bodyPr wrap="square" lIns="25400" rIns="25400" tIns="12700" bIns="12700" anchor="t">
            <a:noAutofit/>
          </a:bodyPr>
          <a:lstStyle/>
          <a:p>
            <a:pPr algn="l"/>
            <a:r>
              <a:rPr sz="1600" b="1">
                <a:solidFill>
                  <a:srgbClr val="102A43"/>
                </a:solidFill>
                <a:latin typeface="Microsoft YaHei"/>
              </a:rPr>
              <a:t>**OBM转型：</a:t>
            </a:r>
          </a:p>
        </p:txBody>
      </p:sp>
      <p:sp>
        <p:nvSpPr>
          <p:cNvPr id="4" name="TextBox 3"/>
          <p:cNvSpPr txBox="1"/>
          <p:nvPr/>
        </p:nvSpPr>
        <p:spPr>
          <a:xfrm>
            <a:off x="731520" y="2743200"/>
            <a:ext cx="10728929" cy="3291840"/>
          </a:xfrm>
          <a:prstGeom prst="rect">
            <a:avLst/>
          </a:prstGeom>
          <a:noFill/>
        </p:spPr>
        <p:txBody>
          <a:bodyPr wrap="square" lIns="25400" rIns="25400" tIns="12700" bIns="12700" anchor="t">
            <a:noAutofit/>
          </a:bodyPr>
          <a:lstStyle/>
          <a:p>
            <a:pPr algn="l"/>
            <a:r>
              <a:rPr sz="1400" b="0">
                <a:solidFill>
                  <a:srgbClr val="64748B"/>
                </a:solidFill>
                <a:latin typeface="Microsoft YaHei"/>
              </a:rPr>
              <a:t>•OBM营收从2021年38.37亿元增至2024年70.90亿元，占比从不足10%升至47.92%。</a:t>
            </a:r>
          </a:p>
          <a:p>
            <a:pPr algn="l"/>
            <a:r>
              <a:rPr sz="1400" b="0">
                <a:solidFill>
                  <a:srgbClr val="64748B"/>
                </a:solidFill>
                <a:latin typeface="Microsoft YaHei"/>
              </a:rPr>
              <a:t>•2023H1至2024H1，OBM增速从+3.88%升至+15.1%，ODM则从-29.32%反弹至+39.75%。</a:t>
            </a:r>
          </a:p>
          <a:p>
            <a:pPr algn="l"/>
            <a:r>
              <a:rPr sz="1400" b="0">
                <a:solidFill>
                  <a:srgbClr val="64748B"/>
                </a:solidFill>
                <a:latin typeface="Microsoft YaHei"/>
              </a:rPr>
              <a:t>•OBM高毛利产品结构支撑整体毛利率上行，合并口径单季度毛利率从2022Q1的23%回升至2023Q4的34%。</a:t>
            </a:r>
          </a:p>
          <a:p>
            <a:pPr algn="l"/>
            <a:r>
              <a:rPr sz="1400" b="0">
                <a:solidFill>
                  <a:srgbClr val="64748B"/>
                </a:solidFill>
                <a:latin typeface="Microsoft YaHei"/>
              </a:rPr>
              <a:t>•存货周转经历周期波动，2024年底存货周转天数已回落至99.8天；应收账款周转稳定在接近60天水平。</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2900"/>
            <a:ext cx="10728929" cy="960120"/>
          </a:xfrm>
          <a:prstGeom prst="rect">
            <a:avLst/>
          </a:prstGeom>
          <a:noFill/>
        </p:spPr>
        <p:txBody>
          <a:bodyPr wrap="square" lIns="25400" rIns="25400" tIns="12700" bIns="12700" anchor="ctr">
            <a:noAutofit/>
          </a:bodyPr>
          <a:lstStyle/>
          <a:p>
            <a:pPr algn="l"/>
            <a:r>
              <a:rPr sz="2700" b="1">
                <a:solidFill>
                  <a:srgbClr val="102A43"/>
                </a:solidFill>
                <a:latin typeface="Microsoft YaHei"/>
              </a:rPr>
              <a:t>盈利韧性穿越周期：OBM转型驱动下的ROE修复与结构性升级</a:t>
            </a:r>
          </a:p>
        </p:txBody>
      </p:sp>
      <p:sp>
        <p:nvSpPr>
          <p:cNvPr id="3" name="TextBox 2"/>
          <p:cNvSpPr txBox="1"/>
          <p:nvPr/>
        </p:nvSpPr>
        <p:spPr>
          <a:xfrm>
            <a:off x="731520" y="1508760"/>
            <a:ext cx="10728929" cy="960120"/>
          </a:xfrm>
          <a:prstGeom prst="rect">
            <a:avLst/>
          </a:prstGeom>
          <a:noFill/>
        </p:spPr>
        <p:txBody>
          <a:bodyPr wrap="square" lIns="25400" rIns="25400" tIns="12700" bIns="12700" anchor="t">
            <a:noAutofit/>
          </a:bodyPr>
          <a:lstStyle/>
          <a:p>
            <a:pPr algn="l"/>
            <a:r>
              <a:rPr sz="1600" b="1">
                <a:solidFill>
                  <a:srgbClr val="102A43"/>
                </a:solidFill>
                <a:latin typeface="Microsoft YaHei"/>
              </a:rPr>
              <a:t>**运营效率分析：</a:t>
            </a:r>
          </a:p>
        </p:txBody>
      </p:sp>
      <p:sp>
        <p:nvSpPr>
          <p:cNvPr id="4" name="TextBox 3"/>
          <p:cNvSpPr txBox="1"/>
          <p:nvPr/>
        </p:nvSpPr>
        <p:spPr>
          <a:xfrm>
            <a:off x="731520" y="2743200"/>
            <a:ext cx="10728929" cy="3291840"/>
          </a:xfrm>
          <a:prstGeom prst="rect">
            <a:avLst/>
          </a:prstGeom>
          <a:noFill/>
        </p:spPr>
        <p:txBody>
          <a:bodyPr wrap="square" lIns="25400" rIns="25400" tIns="12700" bIns="12700" anchor="t">
            <a:noAutofit/>
          </a:bodyPr>
          <a:lstStyle/>
          <a:p>
            <a:pPr algn="l"/>
            <a:r>
              <a:rPr sz="1400" b="0">
                <a:solidFill>
                  <a:srgbClr val="64748B"/>
                </a:solidFill>
                <a:latin typeface="Microsoft YaHei"/>
              </a:rPr>
              <a:t>•存货周转天数从2018-2021年均值约86.2天，因OBM备货复杂度和渠道去库影响阶段性上升，2024年底已回落至99.8天。</a:t>
            </a:r>
          </a:p>
          <a:p>
            <a:pPr algn="l"/>
            <a:r>
              <a:rPr sz="1400" b="0">
                <a:solidFill>
                  <a:srgbClr val="64748B"/>
                </a:solidFill>
                <a:latin typeface="Microsoft YaHei"/>
              </a:rPr>
              <a:t>•应收账款周转天数2020年后维持接近60天水平，需关注应收账款占归母净利润比达136.56%的回款节奏。</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9FC"/>
        </a:solidFill>
      </p:bgPr>
    </p:bg>
    <p:spTree>
      <p:nvGrpSpPr>
        <p:cNvPr id="1" name=""/>
        <p:cNvGrpSpPr/>
        <p:nvPr/>
      </p:nvGrpSpPr>
      <p:grpSpPr/>
      <p:sp>
        <p:nvSpPr>
          <p:cNvPr id="1" name="layout_label">
            <a:extLst>
              <a:ext uri="{FF2B5EF4-FFF2-40B4-BE49-F238E27FC236}">
                <a16:creationId xmlns:a16="http://schemas.microsoft.com/office/drawing/2014/main" id="{5FF6C92A-0BFB-4716-B825-3E96365C7B89}"/>
              </a:ext>
            </a:extLst>
          </p:cNvPr>
          <p:cNvSpPr>
            <a:spLocks noGrp="1"/>
          </p:cNvSpPr>
          <p:nvPr/>
        </p:nvSpPr>
        <p:spPr>
          <a:xfrm>
            <a:off x="514350" y="228600"/>
            <a:ext cx="4762500" cy="228600"/>
          </a:xfrm>
          <a:prstGeom prst="rect">
            <a:avLst/>
          </a:prstGeom>
          <a:noFill/>
          <a:ln w="0">
            <a:noFill/>
            <a:prstDash val="solid"/>
          </a:ln>
        </p:spPr>
        <p:txBody>
          <a:bodyPr wrap="square" lIns="0" tIns="0" rIns="0" bIns="0" anchor="t">
            <a:normAutofit fontScale="100000"/>
          </a:bodyPr>
          <a:lstStyle/>
          <a:p>
            <a:pPr algn="l">
              <a:defRPr sz="900" b="1">
                <a:solidFill>
                  <a:srgbClr val="2F6FED"/>
                </a:solidFill>
                <a:latin typeface="Microsoft YaHei"/>
                <a:ea typeface="Microsoft YaHei"/>
                <a:cs typeface="Microsoft YaHei"/>
              </a:defRPr>
            </a:pPr>
            <a:r>
              <a:rPr sz="900" b="1">
                <a:solidFill>
                  <a:srgbClr val="2F6FED"/>
                </a:solidFill>
                <a:latin typeface="Microsoft YaHei"/>
                <a:ea typeface="Microsoft YaHei"/>
                <a:cs typeface="Microsoft YaHei"/>
              </a:rPr>
              <a:t>FINANCIAL REPORT TEMPLATE</a:t>
            </a:r>
          </a:p>
        </p:txBody>
      </p:sp>
      <p:sp>
        <p:nvSpPr>
          <p:cNvPr id="2" name="title">
            <a:extLst>
              <a:ext uri="{FF2B5EF4-FFF2-40B4-BE49-F238E27FC236}">
                <a16:creationId xmlns:a16="http://schemas.microsoft.com/office/drawing/2014/main" id="{3144D935-6A1E-470E-B4E0-5CF3117C7DE5}"/>
              </a:ext>
            </a:extLst>
          </p:cNvPr>
          <p:cNvSpPr>
            <a:spLocks noGrp="1"/>
          </p:cNvSpPr>
          <p:nvPr/>
        </p:nvSpPr>
        <p:spPr>
          <a:xfrm>
            <a:off x="514350" y="533400"/>
            <a:ext cx="10668000" cy="552450"/>
          </a:xfrm>
          <a:prstGeom prst="rect">
            <a:avLst/>
          </a:prstGeom>
          <a:noFill/>
          <a:ln w="0">
            <a:noFill/>
            <a:prstDash val="solid"/>
          </a:ln>
        </p:spPr>
        <p:txBody>
          <a:bodyPr wrap="square" lIns="0" tIns="0" rIns="0" bIns="0" anchor="t">
            <a:noAutofit/>
          </a:bodyPr>
          <a:lstStyle/>
          <a:p>
            <a:r>
              <a:t>工具行业:景气周期底部,市场份额有提升空间</a:t>
            </a:r>
          </a:p>
        </p:txBody>
      </p:sp>
      <p:cxnSp>
        <p:nvCxnSpPr>
          <p:cNvPr id="32" name="header_rule"/>
          <p:cNvCxnSpPr/>
          <p:nvPr/>
        </p:nvCxnSpPr>
        <p:spPr>
          <a:xfrm>
            <a:off x="514350" y="1162050"/>
            <a:ext cx="11163300" cy="0"/>
          </a:xfrm>
          <a:prstGeom prst="straightConnector1">
            <a:avLst/>
          </a:prstGeom>
          <a:ln w="9525">
            <a:solidFill>
              <a:srgbClr val="CBD5E1"/>
            </a:solidFill>
            <a:prstDash val="solid"/>
          </a:ln>
        </p:spPr>
      </p:cxnSp>
      <p:sp>
        <p:nvSpPr>
          <p:cNvPr id="4" name="layout_type">
            <a:extLst>
              <a:ext uri="{FF2B5EF4-FFF2-40B4-BE49-F238E27FC236}">
                <a16:creationId xmlns:a16="http://schemas.microsoft.com/office/drawing/2014/main" id="{F5F5F46A-4ACB-4F3A-B3BB-202EE258BE2E}"/>
              </a:ext>
            </a:extLst>
          </p:cNvPr>
          <p:cNvSpPr>
            <a:spLocks noGrp="1"/>
          </p:cNvSpPr>
          <p:nvPr/>
        </p:nvSpPr>
        <p:spPr>
          <a:xfrm>
            <a:off x="514350" y="6438900"/>
            <a:ext cx="3429000" cy="171450"/>
          </a:xfrm>
          <a:prstGeom prst="rect">
            <a:avLst/>
          </a:prstGeom>
          <a:noFill/>
          <a:ln w="0">
            <a:noFill/>
            <a:prstDash val="solid"/>
          </a:ln>
        </p:spPr>
        <p:txBody>
          <a:bodyPr wrap="square" lIns="0" tIns="0" rIns="0" bIns="0" anchor="t">
            <a:normAutofit fontScale="100000"/>
          </a:bodyPr>
          <a:lstStyle/>
          <a:p>
            <a:pPr algn="l">
              <a:defRPr sz="750" b="1">
                <a:solidFill>
                  <a:srgbClr val="64748B"/>
                </a:solidFill>
                <a:latin typeface="Microsoft YaHei"/>
                <a:ea typeface="Microsoft YaHei"/>
                <a:cs typeface="Microsoft YaHei"/>
              </a:defRPr>
            </a:pPr>
            <a:r>
              <a:rPr sz="750" b="1">
                <a:solidFill>
                  <a:srgbClr val="64748B"/>
                </a:solidFill>
                <a:latin typeface="Microsoft YaHei"/>
                <a:ea typeface="Microsoft YaHei"/>
                <a:cs typeface="Microsoft YaHei"/>
              </a:rPr>
              <a:t>AGENDA</a:t>
            </a:r>
          </a:p>
        </p:txBody>
      </p:sp>
      <p:sp>
        <p:nvSpPr>
          <p:cNvPr id="5" name="page_no">
            <a:extLst>
              <a:ext uri="{FF2B5EF4-FFF2-40B4-BE49-F238E27FC236}">
                <a16:creationId xmlns:a16="http://schemas.microsoft.com/office/drawing/2014/main" id="{2D55D5F3-D7B1-4E9F-8408-CEAE927F37FE}"/>
              </a:ext>
            </a:extLst>
          </p:cNvPr>
          <p:cNvSpPr>
            <a:spLocks noGrp="1"/>
          </p:cNvSpPr>
          <p:nvPr/>
        </p:nvSpPr>
        <p:spPr>
          <a:xfrm>
            <a:off x="11144250" y="6438900"/>
            <a:ext cx="533400" cy="171450"/>
          </a:xfrm>
          <a:prstGeom prst="rect">
            <a:avLst/>
          </a:prstGeom>
          <a:noFill/>
          <a:ln w="0">
            <a:noFill/>
            <a:prstDash val="solid"/>
          </a:ln>
        </p:spPr>
        <p:txBody>
          <a:bodyPr wrap="square" lIns="0" tIns="0" rIns="0" bIns="0" anchor="t">
            <a:noAutofit/>
          </a:bodyPr>
          <a:lstStyle/>
          <a:p>
            <a:r>
              <a:t>8</a:t>
            </a:r>
          </a:p>
        </p:txBody>
      </p:sp>
      <p:sp>
        <p:nvSpPr>
          <p:cNvPr id="6" name="agenda_no_1">
            <a:extLst>
              <a:ext uri="{FF2B5EF4-FFF2-40B4-BE49-F238E27FC236}">
                <a16:creationId xmlns:a16="http://schemas.microsoft.com/office/drawing/2014/main" id="{9B70DF6A-84B7-4642-9432-A66FFB7CDC40}"/>
              </a:ext>
            </a:extLst>
          </p:cNvPr>
          <p:cNvSpPr>
            <a:spLocks noGrp="1"/>
          </p:cNvSpPr>
          <p:nvPr/>
        </p:nvSpPr>
        <p:spPr>
          <a:xfrm>
            <a:off x="609600" y="1485900"/>
            <a:ext cx="666750" cy="304800"/>
          </a:xfrm>
          <a:prstGeom prst="rect">
            <a:avLst/>
          </a:prstGeom>
          <a:noFill/>
          <a:ln w="0">
            <a:noFill/>
            <a:prstDash val="solid"/>
          </a:ln>
        </p:spPr>
        <p:txBody>
          <a:bodyPr wrap="square" lIns="0" tIns="0" rIns="0" bIns="0" anchor="t">
            <a:normAutofit fontScale="100000"/>
          </a:bodyPr>
          <a:lstStyle/>
          <a:p>
            <a:pPr algn="l">
              <a:defRPr sz="1650" b="1">
                <a:solidFill>
                  <a:srgbClr val="2F6FED"/>
                </a:solidFill>
                <a:latin typeface="Microsoft YaHei"/>
                <a:ea typeface="Microsoft YaHei"/>
                <a:cs typeface="Microsoft YaHei"/>
              </a:defRPr>
            </a:pPr>
            <a:r>
              <a:rPr sz="1650" b="1">
                <a:solidFill>
                  <a:srgbClr val="2F6FED"/>
                </a:solidFill>
                <a:latin typeface="Microsoft YaHei"/>
                <a:ea typeface="Microsoft YaHei"/>
                <a:cs typeface="Microsoft YaHei"/>
              </a:rPr>
              <a:t>01</a:t>
            </a:r>
          </a:p>
        </p:txBody>
      </p:sp>
      <p:sp>
        <p:nvSpPr>
          <p:cNvPr id="7" name="agenda_title_1">
            <a:extLst>
              <a:ext uri="{FF2B5EF4-FFF2-40B4-BE49-F238E27FC236}">
                <a16:creationId xmlns:a16="http://schemas.microsoft.com/office/drawing/2014/main" id="{BF6CE4B4-929B-463A-95A0-D54ADA39EA5A}"/>
              </a:ext>
            </a:extLst>
          </p:cNvPr>
          <p:cNvSpPr>
            <a:spLocks noGrp="1"/>
          </p:cNvSpPr>
          <p:nvPr/>
        </p:nvSpPr>
        <p:spPr>
          <a:xfrm>
            <a:off x="1428750" y="1485900"/>
            <a:ext cx="2476500" cy="304800"/>
          </a:xfrm>
          <a:prstGeom prst="rect">
            <a:avLst/>
          </a:prstGeom>
          <a:noFill/>
          <a:ln w="0">
            <a:noFill/>
            <a:prstDash val="solid"/>
          </a:ln>
        </p:spPr>
        <p:txBody>
          <a:bodyPr wrap="square" lIns="0" tIns="0" rIns="0" bIns="0" anchor="t">
            <a:normAutofit fontScale="100000"/>
          </a:bodyPr>
          <a:lstStyle/>
          <a:p>
            <a:pPr algn="l">
              <a:defRPr sz="1725" b="1">
                <a:solidFill>
                  <a:srgbClr val="102A43"/>
                </a:solidFill>
                <a:latin typeface="Microsoft YaHei"/>
                <a:ea typeface="Microsoft YaHei"/>
                <a:cs typeface="Microsoft YaHei"/>
              </a:defRPr>
            </a:pPr>
            <a:r>
              <a:rPr sz="1725" b="1">
                <a:solidFill>
                  <a:srgbClr val="102A43"/>
                </a:solidFill>
                <a:latin typeface="Microsoft YaHei"/>
                <a:ea typeface="Microsoft YaHei"/>
                <a:cs typeface="Microsoft YaHei"/>
              </a:rPr>
              <a:t>核心结论</a:t>
            </a:r>
          </a:p>
        </p:txBody>
      </p:sp>
      <p:sp>
        <p:nvSpPr>
          <p:cNvPr id="8" name="agenda_desc_1">
            <a:extLst>
              <a:ext uri="{FF2B5EF4-FFF2-40B4-BE49-F238E27FC236}">
                <a16:creationId xmlns:a16="http://schemas.microsoft.com/office/drawing/2014/main" id="{BF8CE96A-2D56-430F-AB23-CBB1627F6B7C}"/>
              </a:ext>
            </a:extLst>
          </p:cNvPr>
          <p:cNvSpPr>
            <a:spLocks noGrp="1"/>
          </p:cNvSpPr>
          <p:nvPr/>
        </p:nvSpPr>
        <p:spPr>
          <a:xfrm>
            <a:off x="4191000" y="1504950"/>
            <a:ext cx="6477000" cy="266700"/>
          </a:xfrm>
          <a:prstGeom prst="rect">
            <a:avLst/>
          </a:prstGeom>
          <a:noFill/>
          <a:ln w="0">
            <a:noFill/>
            <a:prstDash val="solid"/>
          </a:ln>
        </p:spPr>
        <p:txBody>
          <a:bodyPr wrap="square" lIns="0" tIns="0" rIns="0" bIns="0" anchor="t">
            <a:normAutofit fontScale="100000"/>
          </a:bodyPr>
          <a:lstStyle/>
          <a:p>
            <a:pPr algn="l">
              <a:defRPr sz="1275" b="0">
                <a:solidFill>
                  <a:srgbClr val="64748B"/>
                </a:solidFill>
                <a:latin typeface="Microsoft YaHei"/>
                <a:ea typeface="Microsoft YaHei"/>
                <a:cs typeface="Microsoft YaHei"/>
              </a:defRPr>
            </a:pPr>
            <a:r>
              <a:rPr sz="1275" b="0">
                <a:solidFill>
                  <a:srgbClr val="64748B"/>
                </a:solidFill>
                <a:latin typeface="Microsoft YaHei"/>
                <a:ea typeface="Microsoft YaHei"/>
                <a:cs typeface="Microsoft YaHei"/>
              </a:rPr>
              <a:t>先回答为什么值得关注</a:t>
            </a:r>
          </a:p>
        </p:txBody>
      </p:sp>
      <p:cxnSp>
        <p:nvCxnSpPr>
          <p:cNvPr id="38" name="agenda_rule_1"/>
          <p:cNvCxnSpPr/>
          <p:nvPr/>
        </p:nvCxnSpPr>
        <p:spPr>
          <a:xfrm>
            <a:off x="609600" y="1962150"/>
            <a:ext cx="10382250" cy="0"/>
          </a:xfrm>
          <a:prstGeom prst="straightConnector1">
            <a:avLst/>
          </a:prstGeom>
          <a:ln w="9525">
            <a:solidFill>
              <a:srgbClr val="E2E8F0"/>
            </a:solidFill>
            <a:prstDash val="solid"/>
          </a:ln>
        </p:spPr>
      </p:cxnSp>
      <p:sp>
        <p:nvSpPr>
          <p:cNvPr id="10" name="agenda_no_2">
            <a:extLst>
              <a:ext uri="{FF2B5EF4-FFF2-40B4-BE49-F238E27FC236}">
                <a16:creationId xmlns:a16="http://schemas.microsoft.com/office/drawing/2014/main" id="{21422075-938B-409E-AD4A-5C8A4BD81CDB}"/>
              </a:ext>
            </a:extLst>
          </p:cNvPr>
          <p:cNvSpPr>
            <a:spLocks noGrp="1"/>
          </p:cNvSpPr>
          <p:nvPr/>
        </p:nvSpPr>
        <p:spPr>
          <a:xfrm>
            <a:off x="609600" y="2209800"/>
            <a:ext cx="666750" cy="304800"/>
          </a:xfrm>
          <a:prstGeom prst="rect">
            <a:avLst/>
          </a:prstGeom>
          <a:noFill/>
          <a:ln w="0">
            <a:noFill/>
            <a:prstDash val="solid"/>
          </a:ln>
        </p:spPr>
        <p:txBody>
          <a:bodyPr wrap="square" lIns="0" tIns="0" rIns="0" bIns="0" anchor="t">
            <a:normAutofit fontScale="100000"/>
          </a:bodyPr>
          <a:lstStyle/>
          <a:p>
            <a:pPr algn="l">
              <a:defRPr sz="1650" b="1">
                <a:solidFill>
                  <a:srgbClr val="2F6FED"/>
                </a:solidFill>
                <a:latin typeface="Microsoft YaHei"/>
                <a:ea typeface="Microsoft YaHei"/>
                <a:cs typeface="Microsoft YaHei"/>
              </a:defRPr>
            </a:pPr>
            <a:r>
              <a:rPr sz="1650" b="1">
                <a:solidFill>
                  <a:srgbClr val="2F6FED"/>
                </a:solidFill>
                <a:latin typeface="Microsoft YaHei"/>
                <a:ea typeface="Microsoft YaHei"/>
                <a:cs typeface="Microsoft YaHei"/>
              </a:rPr>
              <a:t>02</a:t>
            </a:r>
          </a:p>
        </p:txBody>
      </p:sp>
      <p:sp>
        <p:nvSpPr>
          <p:cNvPr id="11" name="agenda_title_2">
            <a:extLst>
              <a:ext uri="{FF2B5EF4-FFF2-40B4-BE49-F238E27FC236}">
                <a16:creationId xmlns:a16="http://schemas.microsoft.com/office/drawing/2014/main" id="{70C78DCB-92AE-486F-80F2-4B7E00887F27}"/>
              </a:ext>
            </a:extLst>
          </p:cNvPr>
          <p:cNvSpPr>
            <a:spLocks noGrp="1"/>
          </p:cNvSpPr>
          <p:nvPr/>
        </p:nvSpPr>
        <p:spPr>
          <a:xfrm>
            <a:off x="1428750" y="2209800"/>
            <a:ext cx="2476500" cy="304800"/>
          </a:xfrm>
          <a:prstGeom prst="rect">
            <a:avLst/>
          </a:prstGeom>
          <a:noFill/>
          <a:ln w="0">
            <a:noFill/>
            <a:prstDash val="solid"/>
          </a:ln>
        </p:spPr>
        <p:txBody>
          <a:bodyPr wrap="square" lIns="0" tIns="0" rIns="0" bIns="0" anchor="t">
            <a:normAutofit fontScale="100000"/>
          </a:bodyPr>
          <a:lstStyle/>
          <a:p>
            <a:pPr algn="l">
              <a:defRPr sz="1725" b="1">
                <a:solidFill>
                  <a:srgbClr val="102A43"/>
                </a:solidFill>
                <a:latin typeface="Microsoft YaHei"/>
                <a:ea typeface="Microsoft YaHei"/>
                <a:cs typeface="Microsoft YaHei"/>
              </a:defRPr>
            </a:pPr>
            <a:r>
              <a:rPr sz="1725" b="1">
                <a:solidFill>
                  <a:srgbClr val="102A43"/>
                </a:solidFill>
                <a:latin typeface="Microsoft YaHei"/>
                <a:ea typeface="Microsoft YaHei"/>
                <a:cs typeface="Microsoft YaHei"/>
              </a:rPr>
              <a:t>公司与业务</a:t>
            </a:r>
          </a:p>
        </p:txBody>
      </p:sp>
      <p:sp>
        <p:nvSpPr>
          <p:cNvPr id="12" name="agenda_desc_2">
            <a:extLst>
              <a:ext uri="{FF2B5EF4-FFF2-40B4-BE49-F238E27FC236}">
                <a16:creationId xmlns:a16="http://schemas.microsoft.com/office/drawing/2014/main" id="{104126A3-5672-4F85-A48A-B041EE26D49D}"/>
              </a:ext>
            </a:extLst>
          </p:cNvPr>
          <p:cNvSpPr>
            <a:spLocks noGrp="1"/>
          </p:cNvSpPr>
          <p:nvPr/>
        </p:nvSpPr>
        <p:spPr>
          <a:xfrm>
            <a:off x="4191000" y="2228850"/>
            <a:ext cx="6477000" cy="266700"/>
          </a:xfrm>
          <a:prstGeom prst="rect">
            <a:avLst/>
          </a:prstGeom>
          <a:noFill/>
          <a:ln w="0">
            <a:noFill/>
            <a:prstDash val="solid"/>
          </a:ln>
        </p:spPr>
        <p:txBody>
          <a:bodyPr wrap="square" lIns="0" tIns="0" rIns="0" bIns="0" anchor="t">
            <a:normAutofit fontScale="100000"/>
          </a:bodyPr>
          <a:lstStyle/>
          <a:p>
            <a:pPr algn="l">
              <a:defRPr sz="1275" b="0">
                <a:solidFill>
                  <a:srgbClr val="64748B"/>
                </a:solidFill>
                <a:latin typeface="Microsoft YaHei"/>
                <a:ea typeface="Microsoft YaHei"/>
                <a:cs typeface="Microsoft YaHei"/>
              </a:defRPr>
            </a:pPr>
            <a:r>
              <a:rPr sz="1275" b="0">
                <a:solidFill>
                  <a:srgbClr val="64748B"/>
                </a:solidFill>
                <a:latin typeface="Microsoft YaHei"/>
                <a:ea typeface="Microsoft YaHei"/>
                <a:cs typeface="Microsoft YaHei"/>
              </a:rPr>
              <a:t>明确商业模式和收入来源</a:t>
            </a:r>
          </a:p>
        </p:txBody>
      </p:sp>
      <p:cxnSp>
        <p:nvCxnSpPr>
          <p:cNvPr id="42" name="agenda_rule_2"/>
          <p:cNvCxnSpPr/>
          <p:nvPr/>
        </p:nvCxnSpPr>
        <p:spPr>
          <a:xfrm>
            <a:off x="609600" y="2686050"/>
            <a:ext cx="10382250" cy="0"/>
          </a:xfrm>
          <a:prstGeom prst="straightConnector1">
            <a:avLst/>
          </a:prstGeom>
          <a:ln w="9525">
            <a:solidFill>
              <a:srgbClr val="E2E8F0"/>
            </a:solidFill>
            <a:prstDash val="solid"/>
          </a:ln>
        </p:spPr>
      </p:cxnSp>
      <p:sp>
        <p:nvSpPr>
          <p:cNvPr id="14" name="agenda_no_3">
            <a:extLst>
              <a:ext uri="{FF2B5EF4-FFF2-40B4-BE49-F238E27FC236}">
                <a16:creationId xmlns:a16="http://schemas.microsoft.com/office/drawing/2014/main" id="{ABB70C23-EC71-4670-BB91-904F67E460A4}"/>
              </a:ext>
            </a:extLst>
          </p:cNvPr>
          <p:cNvSpPr>
            <a:spLocks noGrp="1"/>
          </p:cNvSpPr>
          <p:nvPr/>
        </p:nvSpPr>
        <p:spPr>
          <a:xfrm>
            <a:off x="609600" y="2933700"/>
            <a:ext cx="666750" cy="304800"/>
          </a:xfrm>
          <a:prstGeom prst="rect">
            <a:avLst/>
          </a:prstGeom>
          <a:noFill/>
          <a:ln w="0">
            <a:noFill/>
            <a:prstDash val="solid"/>
          </a:ln>
        </p:spPr>
        <p:txBody>
          <a:bodyPr wrap="square" lIns="0" tIns="0" rIns="0" bIns="0" anchor="t">
            <a:normAutofit fontScale="100000"/>
          </a:bodyPr>
          <a:lstStyle/>
          <a:p>
            <a:pPr algn="l">
              <a:defRPr sz="1650" b="1">
                <a:solidFill>
                  <a:srgbClr val="2F6FED"/>
                </a:solidFill>
                <a:latin typeface="Microsoft YaHei"/>
                <a:ea typeface="Microsoft YaHei"/>
                <a:cs typeface="Microsoft YaHei"/>
              </a:defRPr>
            </a:pPr>
            <a:r>
              <a:rPr sz="1650" b="1">
                <a:solidFill>
                  <a:srgbClr val="2F6FED"/>
                </a:solidFill>
                <a:latin typeface="Microsoft YaHei"/>
                <a:ea typeface="Microsoft YaHei"/>
                <a:cs typeface="Microsoft YaHei"/>
              </a:rPr>
              <a:t>03</a:t>
            </a:r>
          </a:p>
        </p:txBody>
      </p:sp>
      <p:sp>
        <p:nvSpPr>
          <p:cNvPr id="15" name="agenda_title_3">
            <a:extLst>
              <a:ext uri="{FF2B5EF4-FFF2-40B4-BE49-F238E27FC236}">
                <a16:creationId xmlns:a16="http://schemas.microsoft.com/office/drawing/2014/main" id="{F9721BF1-D692-45C8-A924-6F077815337E}"/>
              </a:ext>
            </a:extLst>
          </p:cNvPr>
          <p:cNvSpPr>
            <a:spLocks noGrp="1"/>
          </p:cNvSpPr>
          <p:nvPr/>
        </p:nvSpPr>
        <p:spPr>
          <a:xfrm>
            <a:off x="1428750" y="2933700"/>
            <a:ext cx="2476500" cy="304800"/>
          </a:xfrm>
          <a:prstGeom prst="rect">
            <a:avLst/>
          </a:prstGeom>
          <a:noFill/>
          <a:ln w="0">
            <a:noFill/>
            <a:prstDash val="solid"/>
          </a:ln>
        </p:spPr>
        <p:txBody>
          <a:bodyPr wrap="square" lIns="0" tIns="0" rIns="0" bIns="0" anchor="t">
            <a:normAutofit fontScale="100000"/>
          </a:bodyPr>
          <a:lstStyle/>
          <a:p>
            <a:pPr algn="l">
              <a:defRPr sz="1725" b="1">
                <a:solidFill>
                  <a:srgbClr val="102A43"/>
                </a:solidFill>
                <a:latin typeface="Microsoft YaHei"/>
                <a:ea typeface="Microsoft YaHei"/>
                <a:cs typeface="Microsoft YaHei"/>
              </a:defRPr>
            </a:pPr>
            <a:r>
              <a:rPr sz="1725" b="1">
                <a:solidFill>
                  <a:srgbClr val="102A43"/>
                </a:solidFill>
                <a:latin typeface="Microsoft YaHei"/>
                <a:ea typeface="Microsoft YaHei"/>
                <a:cs typeface="Microsoft YaHei"/>
              </a:rPr>
              <a:t>行业与竞争</a:t>
            </a:r>
          </a:p>
        </p:txBody>
      </p:sp>
      <p:sp>
        <p:nvSpPr>
          <p:cNvPr id="16" name="agenda_desc_3">
            <a:extLst>
              <a:ext uri="{FF2B5EF4-FFF2-40B4-BE49-F238E27FC236}">
                <a16:creationId xmlns:a16="http://schemas.microsoft.com/office/drawing/2014/main" id="{4DE7FEF5-3D05-4B75-9031-DFFF7A180DE1}"/>
              </a:ext>
            </a:extLst>
          </p:cNvPr>
          <p:cNvSpPr>
            <a:spLocks noGrp="1"/>
          </p:cNvSpPr>
          <p:nvPr/>
        </p:nvSpPr>
        <p:spPr>
          <a:xfrm>
            <a:off x="4191000" y="2952750"/>
            <a:ext cx="6477000" cy="266700"/>
          </a:xfrm>
          <a:prstGeom prst="rect">
            <a:avLst/>
          </a:prstGeom>
          <a:noFill/>
          <a:ln w="0">
            <a:noFill/>
            <a:prstDash val="solid"/>
          </a:ln>
        </p:spPr>
        <p:txBody>
          <a:bodyPr wrap="square" lIns="0" tIns="0" rIns="0" bIns="0" anchor="t">
            <a:normAutofit fontScale="100000"/>
          </a:bodyPr>
          <a:lstStyle/>
          <a:p>
            <a:pPr algn="l">
              <a:defRPr sz="1275" b="0">
                <a:solidFill>
                  <a:srgbClr val="64748B"/>
                </a:solidFill>
                <a:latin typeface="Microsoft YaHei"/>
                <a:ea typeface="Microsoft YaHei"/>
                <a:cs typeface="Microsoft YaHei"/>
              </a:defRPr>
            </a:pPr>
            <a:r>
              <a:rPr sz="1275" b="0">
                <a:solidFill>
                  <a:srgbClr val="64748B"/>
                </a:solidFill>
                <a:latin typeface="Microsoft YaHei"/>
                <a:ea typeface="Microsoft YaHei"/>
                <a:cs typeface="Microsoft YaHei"/>
              </a:rPr>
              <a:t>判断空间、周期与公司卡位</a:t>
            </a:r>
          </a:p>
        </p:txBody>
      </p:sp>
      <p:cxnSp>
        <p:nvCxnSpPr>
          <p:cNvPr id="46" name="agenda_rule_3"/>
          <p:cNvCxnSpPr/>
          <p:nvPr/>
        </p:nvCxnSpPr>
        <p:spPr>
          <a:xfrm>
            <a:off x="609600" y="3409950"/>
            <a:ext cx="10382250" cy="0"/>
          </a:xfrm>
          <a:prstGeom prst="straightConnector1">
            <a:avLst/>
          </a:prstGeom>
          <a:ln w="9525">
            <a:solidFill>
              <a:srgbClr val="E2E8F0"/>
            </a:solidFill>
            <a:prstDash val="solid"/>
          </a:ln>
        </p:spPr>
      </p:cxnSp>
      <p:sp>
        <p:nvSpPr>
          <p:cNvPr id="18" name="agenda_no_4">
            <a:extLst>
              <a:ext uri="{FF2B5EF4-FFF2-40B4-BE49-F238E27FC236}">
                <a16:creationId xmlns:a16="http://schemas.microsoft.com/office/drawing/2014/main" id="{7F1EB6C6-A408-4316-BC4C-1DA8E43963D7}"/>
              </a:ext>
            </a:extLst>
          </p:cNvPr>
          <p:cNvSpPr>
            <a:spLocks noGrp="1"/>
          </p:cNvSpPr>
          <p:nvPr/>
        </p:nvSpPr>
        <p:spPr>
          <a:xfrm>
            <a:off x="609600" y="3657600"/>
            <a:ext cx="666750" cy="304800"/>
          </a:xfrm>
          <a:prstGeom prst="rect">
            <a:avLst/>
          </a:prstGeom>
          <a:noFill/>
          <a:ln w="0">
            <a:noFill/>
            <a:prstDash val="solid"/>
          </a:ln>
        </p:spPr>
        <p:txBody>
          <a:bodyPr wrap="square" lIns="0" tIns="0" rIns="0" bIns="0" anchor="t">
            <a:normAutofit fontScale="100000"/>
          </a:bodyPr>
          <a:lstStyle/>
          <a:p>
            <a:pPr algn="l">
              <a:defRPr sz="1650" b="1">
                <a:solidFill>
                  <a:srgbClr val="2F6FED"/>
                </a:solidFill>
                <a:latin typeface="Microsoft YaHei"/>
                <a:ea typeface="Microsoft YaHei"/>
                <a:cs typeface="Microsoft YaHei"/>
              </a:defRPr>
            </a:pPr>
            <a:r>
              <a:rPr sz="1650" b="1">
                <a:solidFill>
                  <a:srgbClr val="2F6FED"/>
                </a:solidFill>
                <a:latin typeface="Microsoft YaHei"/>
                <a:ea typeface="Microsoft YaHei"/>
                <a:cs typeface="Microsoft YaHei"/>
              </a:rPr>
              <a:t>04</a:t>
            </a:r>
          </a:p>
        </p:txBody>
      </p:sp>
      <p:sp>
        <p:nvSpPr>
          <p:cNvPr id="19" name="agenda_title_4">
            <a:extLst>
              <a:ext uri="{FF2B5EF4-FFF2-40B4-BE49-F238E27FC236}">
                <a16:creationId xmlns:a16="http://schemas.microsoft.com/office/drawing/2014/main" id="{E87F0B4D-BA8B-496A-8C55-1A90C5C6439C}"/>
              </a:ext>
            </a:extLst>
          </p:cNvPr>
          <p:cNvSpPr>
            <a:spLocks noGrp="1"/>
          </p:cNvSpPr>
          <p:nvPr/>
        </p:nvSpPr>
        <p:spPr>
          <a:xfrm>
            <a:off x="1428750" y="3657600"/>
            <a:ext cx="2476500" cy="304800"/>
          </a:xfrm>
          <a:prstGeom prst="rect">
            <a:avLst/>
          </a:prstGeom>
          <a:noFill/>
          <a:ln w="0">
            <a:noFill/>
            <a:prstDash val="solid"/>
          </a:ln>
        </p:spPr>
        <p:txBody>
          <a:bodyPr wrap="square" lIns="0" tIns="0" rIns="0" bIns="0" anchor="t">
            <a:normAutofit fontScale="100000"/>
          </a:bodyPr>
          <a:lstStyle/>
          <a:p>
            <a:pPr algn="l">
              <a:defRPr sz="1725" b="1">
                <a:solidFill>
                  <a:srgbClr val="102A43"/>
                </a:solidFill>
                <a:latin typeface="Microsoft YaHei"/>
                <a:ea typeface="Microsoft YaHei"/>
                <a:cs typeface="Microsoft YaHei"/>
              </a:defRPr>
            </a:pPr>
            <a:r>
              <a:rPr sz="1725" b="1">
                <a:solidFill>
                  <a:srgbClr val="102A43"/>
                </a:solidFill>
                <a:latin typeface="Microsoft YaHei"/>
                <a:ea typeface="Microsoft YaHei"/>
                <a:cs typeface="Microsoft YaHei"/>
              </a:rPr>
              <a:t>增长逻辑</a:t>
            </a:r>
          </a:p>
        </p:txBody>
      </p:sp>
      <p:sp>
        <p:nvSpPr>
          <p:cNvPr id="20" name="agenda_desc_4">
            <a:extLst>
              <a:ext uri="{FF2B5EF4-FFF2-40B4-BE49-F238E27FC236}">
                <a16:creationId xmlns:a16="http://schemas.microsoft.com/office/drawing/2014/main" id="{4EED023B-7C38-4BF6-A5AA-D898EE8CB2FD}"/>
              </a:ext>
            </a:extLst>
          </p:cNvPr>
          <p:cNvSpPr>
            <a:spLocks noGrp="1"/>
          </p:cNvSpPr>
          <p:nvPr/>
        </p:nvSpPr>
        <p:spPr>
          <a:xfrm>
            <a:off x="4191000" y="3676650"/>
            <a:ext cx="6477000" cy="266700"/>
          </a:xfrm>
          <a:prstGeom prst="rect">
            <a:avLst/>
          </a:prstGeom>
          <a:noFill/>
          <a:ln w="0">
            <a:noFill/>
            <a:prstDash val="solid"/>
          </a:ln>
        </p:spPr>
        <p:txBody>
          <a:bodyPr wrap="square" lIns="0" tIns="0" rIns="0" bIns="0" anchor="t">
            <a:normAutofit fontScale="100000"/>
          </a:bodyPr>
          <a:lstStyle/>
          <a:p>
            <a:pPr algn="l">
              <a:defRPr sz="1275" b="0">
                <a:solidFill>
                  <a:srgbClr val="64748B"/>
                </a:solidFill>
                <a:latin typeface="Microsoft YaHei"/>
                <a:ea typeface="Microsoft YaHei"/>
                <a:cs typeface="Microsoft YaHei"/>
              </a:defRPr>
            </a:pPr>
            <a:r>
              <a:rPr sz="1275" b="0">
                <a:solidFill>
                  <a:srgbClr val="64748B"/>
                </a:solidFill>
                <a:latin typeface="Microsoft YaHei"/>
                <a:ea typeface="Microsoft YaHei"/>
                <a:cs typeface="Microsoft YaHei"/>
              </a:rPr>
              <a:t>用数据验证未来增长来源</a:t>
            </a:r>
          </a:p>
        </p:txBody>
      </p:sp>
      <p:cxnSp>
        <p:nvCxnSpPr>
          <p:cNvPr id="50" name="agenda_rule_4"/>
          <p:cNvCxnSpPr/>
          <p:nvPr/>
        </p:nvCxnSpPr>
        <p:spPr>
          <a:xfrm>
            <a:off x="609600" y="4133850"/>
            <a:ext cx="10382250" cy="0"/>
          </a:xfrm>
          <a:prstGeom prst="straightConnector1">
            <a:avLst/>
          </a:prstGeom>
          <a:ln w="9525">
            <a:solidFill>
              <a:srgbClr val="E2E8F0"/>
            </a:solidFill>
            <a:prstDash val="solid"/>
          </a:ln>
        </p:spPr>
      </p:cxnSp>
      <p:sp>
        <p:nvSpPr>
          <p:cNvPr id="22" name="agenda_no_5">
            <a:extLst>
              <a:ext uri="{FF2B5EF4-FFF2-40B4-BE49-F238E27FC236}">
                <a16:creationId xmlns:a16="http://schemas.microsoft.com/office/drawing/2014/main" id="{D0916784-E3BF-473C-B2B5-9C719C532C07}"/>
              </a:ext>
            </a:extLst>
          </p:cNvPr>
          <p:cNvSpPr>
            <a:spLocks noGrp="1"/>
          </p:cNvSpPr>
          <p:nvPr/>
        </p:nvSpPr>
        <p:spPr>
          <a:xfrm>
            <a:off x="609600" y="4381500"/>
            <a:ext cx="666750" cy="304800"/>
          </a:xfrm>
          <a:prstGeom prst="rect">
            <a:avLst/>
          </a:prstGeom>
          <a:noFill/>
          <a:ln w="0">
            <a:noFill/>
            <a:prstDash val="solid"/>
          </a:ln>
        </p:spPr>
        <p:txBody>
          <a:bodyPr wrap="square" lIns="0" tIns="0" rIns="0" bIns="0" anchor="t">
            <a:normAutofit fontScale="100000"/>
          </a:bodyPr>
          <a:lstStyle/>
          <a:p>
            <a:pPr algn="l">
              <a:defRPr sz="1650" b="1">
                <a:solidFill>
                  <a:srgbClr val="2F6FED"/>
                </a:solidFill>
                <a:latin typeface="Microsoft YaHei"/>
                <a:ea typeface="Microsoft YaHei"/>
                <a:cs typeface="Microsoft YaHei"/>
              </a:defRPr>
            </a:pPr>
            <a:r>
              <a:rPr sz="1650" b="1">
                <a:solidFill>
                  <a:srgbClr val="2F6FED"/>
                </a:solidFill>
                <a:latin typeface="Microsoft YaHei"/>
                <a:ea typeface="Microsoft YaHei"/>
                <a:cs typeface="Microsoft YaHei"/>
              </a:rPr>
              <a:t>05</a:t>
            </a:r>
          </a:p>
        </p:txBody>
      </p:sp>
      <p:sp>
        <p:nvSpPr>
          <p:cNvPr id="23" name="agenda_title_5">
            <a:extLst>
              <a:ext uri="{FF2B5EF4-FFF2-40B4-BE49-F238E27FC236}">
                <a16:creationId xmlns:a16="http://schemas.microsoft.com/office/drawing/2014/main" id="{57C88A24-3652-4FEA-AE83-76F6AF9504EF}"/>
              </a:ext>
            </a:extLst>
          </p:cNvPr>
          <p:cNvSpPr>
            <a:spLocks noGrp="1"/>
          </p:cNvSpPr>
          <p:nvPr/>
        </p:nvSpPr>
        <p:spPr>
          <a:xfrm>
            <a:off x="1428750" y="4381500"/>
            <a:ext cx="2476500" cy="304800"/>
          </a:xfrm>
          <a:prstGeom prst="rect">
            <a:avLst/>
          </a:prstGeom>
          <a:noFill/>
          <a:ln w="0">
            <a:noFill/>
            <a:prstDash val="solid"/>
          </a:ln>
        </p:spPr>
        <p:txBody>
          <a:bodyPr wrap="square" lIns="0" tIns="0" rIns="0" bIns="0" anchor="t">
            <a:normAutofit fontScale="100000"/>
          </a:bodyPr>
          <a:lstStyle/>
          <a:p>
            <a:pPr algn="l">
              <a:defRPr sz="1725" b="1">
                <a:solidFill>
                  <a:srgbClr val="102A43"/>
                </a:solidFill>
                <a:latin typeface="Microsoft YaHei"/>
                <a:ea typeface="Microsoft YaHei"/>
                <a:cs typeface="Microsoft YaHei"/>
              </a:defRPr>
            </a:pPr>
            <a:r>
              <a:rPr sz="1725" b="1">
                <a:solidFill>
                  <a:srgbClr val="102A43"/>
                </a:solidFill>
                <a:latin typeface="Microsoft YaHei"/>
                <a:ea typeface="Microsoft YaHei"/>
                <a:cs typeface="Microsoft YaHei"/>
              </a:rPr>
              <a:t>财务与预测</a:t>
            </a:r>
          </a:p>
        </p:txBody>
      </p:sp>
      <p:sp>
        <p:nvSpPr>
          <p:cNvPr id="24" name="agenda_desc_5">
            <a:extLst>
              <a:ext uri="{FF2B5EF4-FFF2-40B4-BE49-F238E27FC236}">
                <a16:creationId xmlns:a16="http://schemas.microsoft.com/office/drawing/2014/main" id="{54DD5E0D-3240-468C-9C93-751E5B993C85}"/>
              </a:ext>
            </a:extLst>
          </p:cNvPr>
          <p:cNvSpPr>
            <a:spLocks noGrp="1"/>
          </p:cNvSpPr>
          <p:nvPr/>
        </p:nvSpPr>
        <p:spPr>
          <a:xfrm>
            <a:off x="4191000" y="4400550"/>
            <a:ext cx="6477000" cy="266700"/>
          </a:xfrm>
          <a:prstGeom prst="rect">
            <a:avLst/>
          </a:prstGeom>
          <a:noFill/>
          <a:ln w="0">
            <a:noFill/>
            <a:prstDash val="solid"/>
          </a:ln>
        </p:spPr>
        <p:txBody>
          <a:bodyPr wrap="square" lIns="0" tIns="0" rIns="0" bIns="0" anchor="t">
            <a:normAutofit fontScale="100000"/>
          </a:bodyPr>
          <a:lstStyle/>
          <a:p>
            <a:pPr algn="l">
              <a:defRPr sz="1275" b="0">
                <a:solidFill>
                  <a:srgbClr val="64748B"/>
                </a:solidFill>
                <a:latin typeface="Microsoft YaHei"/>
                <a:ea typeface="Microsoft YaHei"/>
                <a:cs typeface="Microsoft YaHei"/>
              </a:defRPr>
            </a:pPr>
            <a:r>
              <a:rPr sz="1275" b="0">
                <a:solidFill>
                  <a:srgbClr val="64748B"/>
                </a:solidFill>
                <a:latin typeface="Microsoft YaHei"/>
                <a:ea typeface="Microsoft YaHei"/>
                <a:cs typeface="Microsoft YaHei"/>
              </a:rPr>
              <a:t>连接经营假设和盈利结果</a:t>
            </a:r>
          </a:p>
        </p:txBody>
      </p:sp>
      <p:cxnSp>
        <p:nvCxnSpPr>
          <p:cNvPr id="54" name="agenda_rule_5"/>
          <p:cNvCxnSpPr/>
          <p:nvPr/>
        </p:nvCxnSpPr>
        <p:spPr>
          <a:xfrm>
            <a:off x="609600" y="4857750"/>
            <a:ext cx="10382250" cy="0"/>
          </a:xfrm>
          <a:prstGeom prst="straightConnector1">
            <a:avLst/>
          </a:prstGeom>
          <a:ln w="9525">
            <a:solidFill>
              <a:srgbClr val="E2E8F0"/>
            </a:solidFill>
            <a:prstDash val="solid"/>
          </a:ln>
        </p:spPr>
      </p:cxnSp>
      <p:sp>
        <p:nvSpPr>
          <p:cNvPr id="26" name="agenda_no_6">
            <a:extLst>
              <a:ext uri="{FF2B5EF4-FFF2-40B4-BE49-F238E27FC236}">
                <a16:creationId xmlns:a16="http://schemas.microsoft.com/office/drawing/2014/main" id="{AECC78FE-0338-4CF1-A1CE-50C6BFB5E3E7}"/>
              </a:ext>
            </a:extLst>
          </p:cNvPr>
          <p:cNvSpPr>
            <a:spLocks noGrp="1"/>
          </p:cNvSpPr>
          <p:nvPr/>
        </p:nvSpPr>
        <p:spPr>
          <a:xfrm>
            <a:off x="609600" y="5105400"/>
            <a:ext cx="666750" cy="304800"/>
          </a:xfrm>
          <a:prstGeom prst="rect">
            <a:avLst/>
          </a:prstGeom>
          <a:noFill/>
          <a:ln w="0">
            <a:noFill/>
            <a:prstDash val="solid"/>
          </a:ln>
        </p:spPr>
        <p:txBody>
          <a:bodyPr wrap="square" lIns="0" tIns="0" rIns="0" bIns="0" anchor="t">
            <a:normAutofit fontScale="100000"/>
          </a:bodyPr>
          <a:lstStyle/>
          <a:p>
            <a:pPr algn="l">
              <a:defRPr sz="1650" b="1">
                <a:solidFill>
                  <a:srgbClr val="2F6FED"/>
                </a:solidFill>
                <a:latin typeface="Microsoft YaHei"/>
                <a:ea typeface="Microsoft YaHei"/>
                <a:cs typeface="Microsoft YaHei"/>
              </a:defRPr>
            </a:pPr>
            <a:r>
              <a:rPr sz="1650" b="1">
                <a:solidFill>
                  <a:srgbClr val="2F6FED"/>
                </a:solidFill>
                <a:latin typeface="Microsoft YaHei"/>
                <a:ea typeface="Microsoft YaHei"/>
                <a:cs typeface="Microsoft YaHei"/>
              </a:rPr>
              <a:t>06</a:t>
            </a:r>
          </a:p>
        </p:txBody>
      </p:sp>
      <p:sp>
        <p:nvSpPr>
          <p:cNvPr id="27" name="agenda_title_6">
            <a:extLst>
              <a:ext uri="{FF2B5EF4-FFF2-40B4-BE49-F238E27FC236}">
                <a16:creationId xmlns:a16="http://schemas.microsoft.com/office/drawing/2014/main" id="{82D02CEE-EF6D-4205-A54B-6CF6379117EB}"/>
              </a:ext>
            </a:extLst>
          </p:cNvPr>
          <p:cNvSpPr>
            <a:spLocks noGrp="1"/>
          </p:cNvSpPr>
          <p:nvPr/>
        </p:nvSpPr>
        <p:spPr>
          <a:xfrm>
            <a:off x="1428750" y="5105400"/>
            <a:ext cx="2476500" cy="304800"/>
          </a:xfrm>
          <a:prstGeom prst="rect">
            <a:avLst/>
          </a:prstGeom>
          <a:noFill/>
          <a:ln w="0">
            <a:noFill/>
            <a:prstDash val="solid"/>
          </a:ln>
        </p:spPr>
        <p:txBody>
          <a:bodyPr wrap="square" lIns="0" tIns="0" rIns="0" bIns="0" anchor="t">
            <a:normAutofit fontScale="100000"/>
          </a:bodyPr>
          <a:lstStyle/>
          <a:p>
            <a:pPr algn="l">
              <a:defRPr sz="1725" b="1">
                <a:solidFill>
                  <a:srgbClr val="102A43"/>
                </a:solidFill>
                <a:latin typeface="Microsoft YaHei"/>
                <a:ea typeface="Microsoft YaHei"/>
                <a:cs typeface="Microsoft YaHei"/>
              </a:defRPr>
            </a:pPr>
            <a:r>
              <a:rPr sz="1725" b="1">
                <a:solidFill>
                  <a:srgbClr val="102A43"/>
                </a:solidFill>
                <a:latin typeface="Microsoft YaHei"/>
                <a:ea typeface="Microsoft YaHei"/>
                <a:cs typeface="Microsoft YaHei"/>
              </a:rPr>
              <a:t>估值与风险</a:t>
            </a:r>
          </a:p>
        </p:txBody>
      </p:sp>
      <p:sp>
        <p:nvSpPr>
          <p:cNvPr id="28" name="agenda_desc_6">
            <a:extLst>
              <a:ext uri="{FF2B5EF4-FFF2-40B4-BE49-F238E27FC236}">
                <a16:creationId xmlns:a16="http://schemas.microsoft.com/office/drawing/2014/main" id="{31C21D88-6D09-40B4-BC85-92EFA67A9554}"/>
              </a:ext>
            </a:extLst>
          </p:cNvPr>
          <p:cNvSpPr>
            <a:spLocks noGrp="1"/>
          </p:cNvSpPr>
          <p:nvPr/>
        </p:nvSpPr>
        <p:spPr>
          <a:xfrm>
            <a:off x="4191000" y="5124450"/>
            <a:ext cx="6477000" cy="266700"/>
          </a:xfrm>
          <a:prstGeom prst="rect">
            <a:avLst/>
          </a:prstGeom>
          <a:noFill/>
          <a:ln w="0">
            <a:noFill/>
            <a:prstDash val="solid"/>
          </a:ln>
        </p:spPr>
        <p:txBody>
          <a:bodyPr wrap="square" lIns="0" tIns="0" rIns="0" bIns="0" anchor="t">
            <a:normAutofit fontScale="100000"/>
          </a:bodyPr>
          <a:lstStyle/>
          <a:p>
            <a:pPr algn="l">
              <a:defRPr sz="1275" b="0">
                <a:solidFill>
                  <a:srgbClr val="64748B"/>
                </a:solidFill>
                <a:latin typeface="Microsoft YaHei"/>
                <a:ea typeface="Microsoft YaHei"/>
                <a:cs typeface="Microsoft YaHei"/>
              </a:defRPr>
            </a:pPr>
            <a:r>
              <a:rPr sz="1275" b="0">
                <a:solidFill>
                  <a:srgbClr val="64748B"/>
                </a:solidFill>
                <a:latin typeface="Microsoft YaHei"/>
                <a:ea typeface="Microsoft YaHei"/>
                <a:cs typeface="Microsoft YaHei"/>
              </a:rPr>
              <a:t>形成结论并标注不确定性</a:t>
            </a:r>
          </a:p>
        </p:txBody>
      </p:sp>
      <p:cxnSp>
        <p:nvCxnSpPr>
          <p:cNvPr id="58" name="agenda_rule_6"/>
          <p:cNvCxnSpPr/>
          <p:nvPr/>
        </p:nvCxnSpPr>
        <p:spPr>
          <a:xfrm>
            <a:off x="609600" y="5581650"/>
            <a:ext cx="10382250" cy="0"/>
          </a:xfrm>
          <a:prstGeom prst="straightConnector1">
            <a:avLst/>
          </a:prstGeom>
          <a:ln w="9525">
            <a:solidFill>
              <a:srgbClr val="E2E8F0"/>
            </a:solidFill>
            <a:prstDash val="solid"/>
          </a:ln>
        </p:spPr>
      </p:cxn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2900"/>
            <a:ext cx="10728929" cy="960120"/>
          </a:xfrm>
          <a:prstGeom prst="rect">
            <a:avLst/>
          </a:prstGeom>
          <a:noFill/>
        </p:spPr>
        <p:txBody>
          <a:bodyPr wrap="square" lIns="25400" rIns="25400" tIns="12700" bIns="12700" anchor="ctr">
            <a:noAutofit/>
          </a:bodyPr>
          <a:lstStyle/>
          <a:p>
            <a:pPr algn="l"/>
            <a:r>
              <a:rPr sz="2700" b="1">
                <a:solidFill>
                  <a:srgbClr val="102A43"/>
                </a:solidFill>
                <a:latin typeface="Microsoft YaHei"/>
              </a:rPr>
              <a:t>市场规模:成熟行业扎根欧美,周期底部位置明确</a:t>
            </a:r>
          </a:p>
        </p:txBody>
      </p:sp>
      <p:sp>
        <p:nvSpPr>
          <p:cNvPr id="3" name="TextBox 2"/>
          <p:cNvSpPr txBox="1"/>
          <p:nvPr/>
        </p:nvSpPr>
        <p:spPr>
          <a:xfrm>
            <a:off x="731520" y="1508760"/>
            <a:ext cx="10728929" cy="960120"/>
          </a:xfrm>
          <a:prstGeom prst="rect">
            <a:avLst/>
          </a:prstGeom>
          <a:noFill/>
        </p:spPr>
        <p:txBody>
          <a:bodyPr wrap="square" lIns="25400" rIns="25400" tIns="12700" bIns="12700" anchor="t">
            <a:noAutofit/>
          </a:bodyPr>
          <a:lstStyle/>
          <a:p>
            <a:pPr algn="l"/>
            <a:r>
              <a:rPr sz="1600" b="1">
                <a:solidFill>
                  <a:srgbClr val="102A43"/>
                </a:solidFill>
                <a:latin typeface="Microsoft YaHei"/>
              </a:rPr>
              <a:t>**全球工具行业已步入成熟发展阶段，市场规模长期保持稳健增长，2022年突破千亿美元至1030亿美元，2017-2022年CAGR约为5.8%。</a:t>
            </a:r>
          </a:p>
        </p:txBody>
      </p:sp>
      <p:sp>
        <p:nvSpPr>
          <p:cNvPr id="4" name="TextBox 3"/>
          <p:cNvSpPr txBox="1"/>
          <p:nvPr/>
        </p:nvSpPr>
        <p:spPr>
          <a:xfrm>
            <a:off x="731520" y="2743200"/>
            <a:ext cx="10728929" cy="3291840"/>
          </a:xfrm>
          <a:prstGeom prst="rect">
            <a:avLst/>
          </a:prstGeom>
          <a:noFill/>
        </p:spPr>
        <p:txBody>
          <a:bodyPr wrap="square" lIns="25400" rIns="25400" tIns="12700" bIns="12700" anchor="t">
            <a:noAutofit/>
          </a:bodyPr>
          <a:lstStyle/>
          <a:p>
            <a:pPr algn="l"/>
            <a:r>
              <a:rPr sz="1400" b="0">
                <a:solidFill>
                  <a:srgbClr val="64748B"/>
                </a:solidFill>
                <a:latin typeface="Microsoft YaHei"/>
              </a:rPr>
              <a:t>•行业2022年突破千亿美元，动力工具占44%，OPE占28%，手工具占20%，存储柜占8%。</a:t>
            </a:r>
          </a:p>
          <a:p>
            <a:pPr algn="l"/>
            <a:r>
              <a:rPr sz="1400" b="0">
                <a:solidFill>
                  <a:srgbClr val="64748B"/>
                </a:solidFill>
                <a:latin typeface="Microsoft YaHei"/>
              </a:rPr>
              <a:t>•电动工具已占全球工具市场38%，手工具占30%，电动化转型持续深化。</a:t>
            </a:r>
          </a:p>
          <a:p>
            <a:pPr algn="l"/>
            <a:r>
              <a:rPr sz="1400" b="0">
                <a:solidFill>
                  <a:srgbClr val="64748B"/>
                </a:solidFill>
                <a:latin typeface="Microsoft YaHei"/>
              </a:rPr>
              <a:t>•欧美市场合计占77.6%，美国2023年人均年消费额达164美元，消费级产品占比超60%。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2900"/>
            <a:ext cx="10728929" cy="960120"/>
          </a:xfrm>
          <a:prstGeom prst="rect">
            <a:avLst/>
          </a:prstGeom>
          <a:noFill/>
        </p:spPr>
        <p:txBody>
          <a:bodyPr wrap="square" lIns="25400" rIns="25400" tIns="12700" bIns="12700" anchor="ctr">
            <a:noAutofit/>
          </a:bodyPr>
          <a:lstStyle/>
          <a:p>
            <a:pPr algn="l"/>
            <a:r>
              <a:rPr sz="2700" b="1">
                <a:solidFill>
                  <a:srgbClr val="102A43"/>
                </a:solidFill>
                <a:latin typeface="Microsoft YaHei"/>
              </a:rPr>
              <a:t>市场规模:成熟行业扎根欧美,周期底部位置明确</a:t>
            </a:r>
          </a:p>
        </p:txBody>
      </p:sp>
      <p:sp>
        <p:nvSpPr>
          <p:cNvPr id="3" name="TextBox 2"/>
          <p:cNvSpPr txBox="1"/>
          <p:nvPr/>
        </p:nvSpPr>
        <p:spPr>
          <a:xfrm>
            <a:off x="731520" y="1508760"/>
            <a:ext cx="10728929" cy="960120"/>
          </a:xfrm>
          <a:prstGeom prst="rect">
            <a:avLst/>
          </a:prstGeom>
          <a:noFill/>
        </p:spPr>
        <p:txBody>
          <a:bodyPr wrap="square" lIns="25400" rIns="25400" tIns="12700" bIns="12700" anchor="t">
            <a:noAutofit/>
          </a:bodyPr>
          <a:lstStyle/>
          <a:p>
            <a:pPr algn="l"/>
            <a:r>
              <a:rPr sz="1600" b="1">
                <a:solidFill>
                  <a:srgbClr val="102A43"/>
                </a:solidFill>
                <a:latin typeface="Microsoft YaHei"/>
              </a:rPr>
              <a:t>**全球工具行业在地区分布上呈现显著分层特征，欧美市场凭借深厚的DIY文化占据绝对主导地位。</a:t>
            </a:r>
          </a:p>
        </p:txBody>
      </p:sp>
      <p:sp>
        <p:nvSpPr>
          <p:cNvPr id="4" name="TextBox 3"/>
          <p:cNvSpPr txBox="1"/>
          <p:nvPr/>
        </p:nvSpPr>
        <p:spPr>
          <a:xfrm>
            <a:off x="731520" y="2743200"/>
            <a:ext cx="10728929" cy="3291840"/>
          </a:xfrm>
          <a:prstGeom prst="rect">
            <a:avLst/>
          </a:prstGeom>
          <a:noFill/>
        </p:spPr>
        <p:txBody>
          <a:bodyPr wrap="square" lIns="25400" rIns="25400" tIns="12700" bIns="12700" anchor="t">
            <a:noAutofit/>
          </a:bodyPr>
          <a:lstStyle/>
          <a:p>
            <a:pPr algn="l"/>
            <a:r>
              <a:rPr sz="1400" b="0">
                <a:solidFill>
                  <a:srgbClr val="64748B"/>
                </a:solidFill>
                <a:latin typeface="Microsoft YaHei"/>
              </a:rPr>
              <a:t>•美国工具行业消费级产品是需求主力，至2022年一季度占比超过60%。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2900"/>
            <a:ext cx="10728929" cy="960120"/>
          </a:xfrm>
          <a:prstGeom prst="rect">
            <a:avLst/>
          </a:prstGeom>
          <a:noFill/>
        </p:spPr>
        <p:txBody>
          <a:bodyPr wrap="square" lIns="25400" rIns="25400" tIns="12700" bIns="12700" anchor="ctr">
            <a:noAutofit/>
          </a:bodyPr>
          <a:lstStyle/>
          <a:p>
            <a:pPr algn="l"/>
            <a:r>
              <a:rPr sz="2700" b="1">
                <a:solidFill>
                  <a:srgbClr val="102A43"/>
                </a:solidFill>
                <a:latin typeface="Microsoft YaHei"/>
              </a:rPr>
              <a:t>地产与库存双周期驱动：美国工具行业景气波动中的结构性机会</a:t>
            </a:r>
          </a:p>
        </p:txBody>
      </p:sp>
      <p:sp>
        <p:nvSpPr>
          <p:cNvPr id="3" name="TextBox 2"/>
          <p:cNvSpPr txBox="1"/>
          <p:nvPr/>
        </p:nvSpPr>
        <p:spPr>
          <a:xfrm>
            <a:off x="731520" y="1508760"/>
            <a:ext cx="10728929" cy="960120"/>
          </a:xfrm>
          <a:prstGeom prst="rect">
            <a:avLst/>
          </a:prstGeom>
          <a:noFill/>
        </p:spPr>
        <p:txBody>
          <a:bodyPr wrap="square" lIns="25400" rIns="25400" tIns="12700" bIns="12700" anchor="t">
            <a:noAutofit/>
          </a:bodyPr>
          <a:lstStyle/>
          <a:p>
            <a:pPr algn="l"/>
            <a:r>
              <a:rPr sz="1600" b="1">
                <a:solidFill>
                  <a:srgbClr val="102A43"/>
                </a:solidFill>
                <a:latin typeface="Microsoft YaHei"/>
              </a:rPr>
              <a:t>由于巨星科技工具产品主要出口北美地区，我们重点分析美国工具市场需求。</a:t>
            </a:r>
          </a:p>
        </p:txBody>
      </p:sp>
      <p:sp>
        <p:nvSpPr>
          <p:cNvPr id="4" name="TextBox 3"/>
          <p:cNvSpPr txBox="1"/>
          <p:nvPr/>
        </p:nvSpPr>
        <p:spPr>
          <a:xfrm>
            <a:off x="731520" y="2743200"/>
            <a:ext cx="10728929" cy="3291840"/>
          </a:xfrm>
          <a:prstGeom prst="rect">
            <a:avLst/>
          </a:prstGeom>
          <a:noFill/>
        </p:spPr>
        <p:txBody>
          <a:bodyPr wrap="square" lIns="25400" rIns="25400" tIns="12700" bIns="12700" anchor="t">
            <a:noAutofit/>
          </a:bodyPr>
          <a:lstStyle/>
          <a:p>
            <a:pPr algn="l"/>
            <a:r>
              <a:rPr sz="1400" b="0">
                <a:solidFill>
                  <a:srgbClr val="64748B"/>
                </a:solidFill>
                <a:latin typeface="Microsoft YaHei"/>
              </a:rPr>
              <a:t>•价：工具产品定价刚性，价格指数随通胀同步，能够有效传导成本。</a:t>
            </a:r>
          </a:p>
          <a:p>
            <a:pPr algn="l"/>
            <a:r>
              <a:rPr sz="1400" b="0">
                <a:solidFill>
                  <a:srgbClr val="64748B"/>
                </a:solidFill>
                <a:latin typeface="Microsoft YaHei"/>
              </a:rPr>
              <a:t>•量：工具消费与成屋销售高度关联，地产周期决定长期方向。</a:t>
            </a:r>
          </a:p>
          <a:p>
            <a:pPr algn="l"/>
            <a:r>
              <a:rPr sz="1400" b="0">
                <a:solidFill>
                  <a:srgbClr val="64748B"/>
                </a:solidFill>
                <a:latin typeface="Microsoft YaHei"/>
              </a:rPr>
              <a:t>•库存周期放大短期波动：2022-2023年零售商累库与去库造成需求扭曲。</a:t>
            </a:r>
          </a:p>
          <a:p>
            <a:pPr algn="l"/>
            <a:r>
              <a:rPr sz="1400" b="0">
                <a:solidFill>
                  <a:srgbClr val="64748B"/>
                </a:solidFill>
                <a:latin typeface="Microsoft YaHei"/>
              </a:rPr>
              <a:t>•当前美国工具行业处于“地产底部企稳+库存周期切换”的共振窗口。</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2900"/>
            <a:ext cx="10728929" cy="960120"/>
          </a:xfrm>
          <a:prstGeom prst="rect">
            <a:avLst/>
          </a:prstGeom>
          <a:noFill/>
        </p:spPr>
        <p:txBody>
          <a:bodyPr wrap="square" lIns="25400" rIns="25400" tIns="12700" bIns="12700" anchor="ctr">
            <a:noAutofit/>
          </a:bodyPr>
          <a:lstStyle/>
          <a:p>
            <a:pPr algn="l"/>
            <a:r>
              <a:rPr sz="2700" b="1">
                <a:solidFill>
                  <a:srgbClr val="102A43"/>
                </a:solidFill>
                <a:latin typeface="Microsoft YaHei"/>
              </a:rPr>
              <a:t>底部确认但反转待时：工具行业景气修复的确定性、传导路径与结构性挑战</a:t>
            </a:r>
          </a:p>
        </p:txBody>
      </p:sp>
      <p:sp>
        <p:nvSpPr>
          <p:cNvPr id="3" name="TextBox 2"/>
          <p:cNvSpPr txBox="1"/>
          <p:nvPr/>
        </p:nvSpPr>
        <p:spPr>
          <a:xfrm>
            <a:off x="731520" y="1508760"/>
            <a:ext cx="10728929" cy="960120"/>
          </a:xfrm>
          <a:prstGeom prst="rect">
            <a:avLst/>
          </a:prstGeom>
          <a:noFill/>
        </p:spPr>
        <p:txBody>
          <a:bodyPr wrap="square" lIns="25400" rIns="25400" tIns="12700" bIns="12700" anchor="t">
            <a:noAutofit/>
          </a:bodyPr>
          <a:lstStyle/>
          <a:p>
            <a:pPr algn="l"/>
            <a:r>
              <a:rPr sz="1600" b="1">
                <a:solidFill>
                  <a:srgbClr val="102A43"/>
                </a:solidFill>
                <a:latin typeface="Microsoft YaHei"/>
              </a:rPr>
              <a:t>**工具行业景气底部已基本确认，核心驱动力来自地产销售企稳与渠道去库接近尾声两大积极信号。</a:t>
            </a:r>
          </a:p>
        </p:txBody>
      </p:sp>
      <p:sp>
        <p:nvSpPr>
          <p:cNvPr id="4" name="TextBox 3"/>
          <p:cNvSpPr txBox="1"/>
          <p:nvPr/>
        </p:nvSpPr>
        <p:spPr>
          <a:xfrm>
            <a:off x="731520" y="2743200"/>
            <a:ext cx="10728929" cy="3291840"/>
          </a:xfrm>
          <a:prstGeom prst="rect">
            <a:avLst/>
          </a:prstGeom>
          <a:noFill/>
        </p:spPr>
        <p:txBody>
          <a:bodyPr wrap="square" lIns="25400" rIns="25400" tIns="12700" bIns="12700" anchor="t">
            <a:noAutofit/>
          </a:bodyPr>
          <a:lstStyle/>
          <a:p>
            <a:pPr algn="l"/>
            <a:r>
              <a:rPr sz="1400" b="0">
                <a:solidFill>
                  <a:srgbClr val="64748B"/>
                </a:solidFill>
                <a:latin typeface="Microsoft YaHei"/>
              </a:rPr>
              <a:t>•美国成屋销售底部区间已确认，房贷利率回落至6.2%附近，利好地产需求修复。</a:t>
            </a:r>
          </a:p>
          <a:p>
            <a:pPr algn="l"/>
            <a:r>
              <a:rPr sz="1400" b="0">
                <a:solidFill>
                  <a:srgbClr val="64748B"/>
                </a:solidFill>
                <a:latin typeface="Microsoft YaHei"/>
              </a:rPr>
              <a:t>•家得宝与劳氏存货同比回落至低个位数，渠道去库负面影响已较为有限。</a:t>
            </a:r>
          </a:p>
          <a:p>
            <a:pPr algn="l"/>
            <a:r>
              <a:rPr sz="1400" b="0">
                <a:solidFill>
                  <a:srgbClr val="64748B"/>
                </a:solidFill>
                <a:latin typeface="Microsoft YaHei"/>
              </a:rPr>
              <a:t>•关税与高利率仍是制约：2025年对等关税可能导致“价增量减”格局，降息节奏可能延后。</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2900"/>
            <a:ext cx="10728929" cy="960120"/>
          </a:xfrm>
          <a:prstGeom prst="rect">
            <a:avLst/>
          </a:prstGeom>
          <a:noFill/>
        </p:spPr>
        <p:txBody>
          <a:bodyPr wrap="square" lIns="25400" rIns="25400" tIns="12700" bIns="12700" anchor="ctr">
            <a:noAutofit/>
          </a:bodyPr>
          <a:lstStyle/>
          <a:p>
            <a:pPr algn="l"/>
            <a:r>
              <a:rPr sz="2700" b="1">
                <a:solidFill>
                  <a:srgbClr val="102A43"/>
                </a:solidFill>
                <a:latin typeface="Microsoft YaHei"/>
              </a:rPr>
              <a:t>底部确认但反转待时：工具行业景气修复的确定性、传导路径与结构性挑战</a:t>
            </a:r>
          </a:p>
        </p:txBody>
      </p:sp>
      <p:sp>
        <p:nvSpPr>
          <p:cNvPr id="3" name="TextBox 2"/>
          <p:cNvSpPr txBox="1"/>
          <p:nvPr/>
        </p:nvSpPr>
        <p:spPr>
          <a:xfrm>
            <a:off x="731520" y="1508760"/>
            <a:ext cx="10728929" cy="960120"/>
          </a:xfrm>
          <a:prstGeom prst="rect">
            <a:avLst/>
          </a:prstGeom>
          <a:noFill/>
        </p:spPr>
        <p:txBody>
          <a:bodyPr wrap="square" lIns="25400" rIns="25400" tIns="12700" bIns="12700" anchor="t">
            <a:noAutofit/>
          </a:bodyPr>
          <a:lstStyle/>
          <a:p>
            <a:pPr algn="l"/>
            <a:r>
              <a:rPr sz="1600" b="1">
                <a:solidFill>
                  <a:srgbClr val="102A43"/>
                </a:solidFill>
                <a:latin typeface="Microsoft YaHei"/>
              </a:rPr>
              <a:t>**尽管底部信号日趋清晰，但关税与高利率仍是制约行业景气反转的两大不确定性，且二者可能形成“价增量减”的结构性局面。</a:t>
            </a:r>
          </a:p>
        </p:txBody>
      </p:sp>
      <p:sp>
        <p:nvSpPr>
          <p:cNvPr id="4" name="TextBox 3"/>
          <p:cNvSpPr txBox="1"/>
          <p:nvPr/>
        </p:nvSpPr>
        <p:spPr>
          <a:xfrm>
            <a:off x="731520" y="2743200"/>
            <a:ext cx="10728929" cy="3291840"/>
          </a:xfrm>
          <a:prstGeom prst="rect">
            <a:avLst/>
          </a:prstGeom>
          <a:noFill/>
        </p:spPr>
        <p:txBody>
          <a:bodyPr wrap="square" lIns="25400" rIns="25400" tIns="12700" bIns="12700" anchor="t">
            <a:noAutofit/>
          </a:bodyPr>
          <a:lstStyle/>
          <a:p>
            <a:pPr algn="l"/>
            <a:r>
              <a:rPr sz="1400" b="0">
                <a:solidFill>
                  <a:srgbClr val="64748B"/>
                </a:solidFill>
                <a:latin typeface="Microsoft YaHei"/>
              </a:rPr>
              <a:t>•截至2025年9月，美联储已降息25bp至4.00%-4.25%，但利率仍处历史高位。</a:t>
            </a:r>
          </a:p>
          <a:p>
            <a:pPr algn="l"/>
            <a:r>
              <a:rPr sz="1400" b="0">
                <a:solidFill>
                  <a:srgbClr val="64748B"/>
                </a:solidFill>
                <a:latin typeface="Microsoft YaHei"/>
              </a:rPr>
              <a:t>•高盛预计2025年底核心PCE通胀率同比上涨3.5%，若关税传导超预期，降息节奏可能进一步放缓。</a:t>
            </a:r>
          </a:p>
          <a:p>
            <a:pPr algn="l"/>
            <a:r>
              <a:rPr sz="1400" b="0">
                <a:solidFill>
                  <a:srgbClr val="64748B"/>
                </a:solidFill>
                <a:latin typeface="Microsoft YaHei"/>
              </a:rPr>
              <a:t>•“价增量减”的结构性局面可能重塑估值逻辑，定价能力与品牌溢价成为核心变量。</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2900"/>
            <a:ext cx="10728929" cy="960120"/>
          </a:xfrm>
          <a:prstGeom prst="rect">
            <a:avLst/>
          </a:prstGeom>
          <a:noFill/>
        </p:spPr>
        <p:txBody>
          <a:bodyPr wrap="square" lIns="25400" rIns="25400" tIns="12700" bIns="12700" anchor="ctr">
            <a:noAutofit/>
          </a:bodyPr>
          <a:lstStyle/>
          <a:p>
            <a:pPr algn="l"/>
            <a:r>
              <a:rPr sz="2700" b="1">
                <a:solidFill>
                  <a:srgbClr val="102A43"/>
                </a:solidFill>
                <a:latin typeface="Microsoft YaHei"/>
              </a:rPr>
              <a:t>竞争分析:市场相对分散,ODM 重渠道,OBM 重品牌</a:t>
            </a:r>
          </a:p>
        </p:txBody>
      </p:sp>
      <p:sp>
        <p:nvSpPr>
          <p:cNvPr id="3" name="TextBox 2"/>
          <p:cNvSpPr txBox="1"/>
          <p:nvPr/>
        </p:nvSpPr>
        <p:spPr>
          <a:xfrm>
            <a:off x="731520" y="1508760"/>
            <a:ext cx="10728929" cy="960120"/>
          </a:xfrm>
          <a:prstGeom prst="rect">
            <a:avLst/>
          </a:prstGeom>
          <a:noFill/>
        </p:spPr>
        <p:txBody>
          <a:bodyPr wrap="square" lIns="25400" rIns="25400" tIns="12700" bIns="12700" anchor="t">
            <a:noAutofit/>
          </a:bodyPr>
          <a:lstStyle/>
          <a:p>
            <a:pPr algn="l"/>
            <a:r>
              <a:rPr sz="1600" b="1">
                <a:solidFill>
                  <a:srgbClr val="102A43"/>
                </a:solidFill>
                <a:latin typeface="Microsoft YaHei"/>
              </a:rPr>
              <a:t>工具产业链呈现“下游渠道高度集中、上游品牌相对分散”的哑铃型结构，渠道商凭借多寡头垄断地位掌握产业链核心话语权，而品牌方仅在具备技术壁垒的动力工具品类中能建立可持续的竞争护城河。</a:t>
            </a:r>
          </a:p>
        </p:txBody>
      </p:sp>
      <p:sp>
        <p:nvSpPr>
          <p:cNvPr id="4" name="TextBox 3"/>
          <p:cNvSpPr txBox="1"/>
          <p:nvPr/>
        </p:nvSpPr>
        <p:spPr>
          <a:xfrm>
            <a:off x="731520" y="2743200"/>
            <a:ext cx="10728929" cy="3291840"/>
          </a:xfrm>
          <a:prstGeom prst="rect">
            <a:avLst/>
          </a:prstGeom>
          <a:noFill/>
        </p:spPr>
        <p:txBody>
          <a:bodyPr wrap="square" lIns="25400" rIns="25400" tIns="12700" bIns="12700" anchor="t">
            <a:noAutofit/>
          </a:bodyPr>
          <a:lstStyle/>
          <a:p>
            <a:pPr algn="l"/>
            <a:r>
              <a:rPr sz="1400" b="0">
                <a:solidFill>
                  <a:srgbClr val="64748B"/>
                </a:solidFill>
                <a:latin typeface="Microsoft YaHei"/>
              </a:rPr>
              <a:t>•渠道寡头主导：家得宝与劳氏合计占北美家居零售市场份额约59.1%，手工具白牌占比中枢约88%。</a:t>
            </a:r>
          </a:p>
          <a:p>
            <a:pPr algn="l"/>
            <a:r>
              <a:rPr sz="1400" b="0">
                <a:solidFill>
                  <a:srgbClr val="64748B"/>
                </a:solidFill>
                <a:latin typeface="Microsoft YaHei"/>
              </a:rPr>
              <a:t>•手工具品牌极度分散：CR3仅约10%，溢价困难；动力工具品牌集中度高，CR5均值约41.4%，技术壁垒构筑护城河。</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2900"/>
            <a:ext cx="10728929" cy="960120"/>
          </a:xfrm>
          <a:prstGeom prst="rect">
            <a:avLst/>
          </a:prstGeom>
          <a:noFill/>
        </p:spPr>
        <p:txBody>
          <a:bodyPr wrap="square" lIns="25400" rIns="25400" tIns="12700" bIns="12700" anchor="ctr">
            <a:noAutofit/>
          </a:bodyPr>
          <a:lstStyle/>
          <a:p>
            <a:pPr algn="l"/>
            <a:r>
              <a:rPr sz="2700" b="1">
                <a:solidFill>
                  <a:srgbClr val="102A43"/>
                </a:solidFill>
                <a:latin typeface="Microsoft YaHei"/>
              </a:rPr>
              <a:t>竞争分析:市场相对分散,ODM 重渠道,OBM 重品牌</a:t>
            </a:r>
          </a:p>
        </p:txBody>
      </p:sp>
      <p:sp>
        <p:nvSpPr>
          <p:cNvPr id="3" name="TextBox 2"/>
          <p:cNvSpPr txBox="1"/>
          <p:nvPr/>
        </p:nvSpPr>
        <p:spPr>
          <a:xfrm>
            <a:off x="731520" y="1508760"/>
            <a:ext cx="10728929" cy="960120"/>
          </a:xfrm>
          <a:prstGeom prst="rect">
            <a:avLst/>
          </a:prstGeom>
          <a:noFill/>
        </p:spPr>
        <p:txBody>
          <a:bodyPr wrap="square" lIns="25400" rIns="25400" tIns="12700" bIns="12700" anchor="t">
            <a:noAutofit/>
          </a:bodyPr>
          <a:lstStyle/>
          <a:p>
            <a:pPr algn="l"/>
            <a:r>
              <a:rPr sz="1600" b="1">
                <a:solidFill>
                  <a:srgbClr val="102A43"/>
                </a:solidFill>
                <a:latin typeface="Microsoft YaHei"/>
              </a:rPr>
              <a:t>**手工具品类技术门槛低，品牌集中度处于极低水平，品牌壁垒薄弱。</a:t>
            </a:r>
          </a:p>
        </p:txBody>
      </p:sp>
      <p:sp>
        <p:nvSpPr>
          <p:cNvPr id="4" name="TextBox 3"/>
          <p:cNvSpPr txBox="1"/>
          <p:nvPr/>
        </p:nvSpPr>
        <p:spPr>
          <a:xfrm>
            <a:off x="731520" y="2743200"/>
            <a:ext cx="10728929" cy="3291840"/>
          </a:xfrm>
          <a:prstGeom prst="rect">
            <a:avLst/>
          </a:prstGeom>
          <a:noFill/>
        </p:spPr>
        <p:txBody>
          <a:bodyPr wrap="square" lIns="25400" rIns="25400" tIns="12700" bIns="12700" anchor="t">
            <a:noAutofit/>
          </a:bodyPr>
          <a:lstStyle/>
          <a:p>
            <a:pPr algn="l"/>
            <a:r>
              <a:rPr sz="1400" b="0">
                <a:solidFill>
                  <a:srgbClr val="64748B"/>
                </a:solidFill>
                <a:latin typeface="Microsoft YaHei"/>
              </a:rPr>
              <a:t>•北美手工具主要品牌市场份额（2023年）</a:t>
            </a:r>
          </a:p>
          <a:p>
            <a:pPr algn="l"/>
            <a:r>
              <a:rPr sz="1400" b="0">
                <a:solidFill>
                  <a:srgbClr val="64748B"/>
                </a:solidFill>
                <a:latin typeface="Microsoft YaHei"/>
              </a:rPr>
              <a:t>•北美动力工具主要品牌市场份额（2023年）</a:t>
            </a:r>
          </a:p>
          <a:p>
            <a:pPr algn="l"/>
            <a:r>
              <a:rPr sz="1400" b="0">
                <a:solidFill>
                  <a:srgbClr val="64748B"/>
                </a:solidFill>
                <a:latin typeface="Microsoft YaHei"/>
              </a:rPr>
              <a:t>•北美工具市场品牌集中度对比</a:t>
            </a:r>
          </a:p>
          <a:p>
            <a:pPr algn="l"/>
            <a:r>
              <a:rPr sz="1400" b="0">
                <a:solidFill>
                  <a:srgbClr val="64748B"/>
                </a:solidFill>
                <a:latin typeface="Microsoft YaHei"/>
              </a:rPr>
              <a:t>•巨星科技ODM业务深度绑定大客户，2024年前五大客户收入占比48.73%，同时通过并购搭建品牌矩阵。</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2900"/>
            <a:ext cx="10728929" cy="960120"/>
          </a:xfrm>
          <a:prstGeom prst="rect">
            <a:avLst/>
          </a:prstGeom>
          <a:noFill/>
        </p:spPr>
        <p:txBody>
          <a:bodyPr wrap="square" lIns="25400" rIns="25400" tIns="12700" bIns="12700" anchor="ctr">
            <a:noAutofit/>
          </a:bodyPr>
          <a:lstStyle/>
          <a:p>
            <a:pPr algn="l"/>
            <a:r>
              <a:rPr sz="2700" b="1">
                <a:solidFill>
                  <a:srgbClr val="102A43"/>
                </a:solidFill>
                <a:latin typeface="Microsoft YaHei"/>
              </a:rPr>
              <a:t>全球资源配置与品牌矩阵双轮驱动：巨星科技构筑不可复制的综合工具护城河</a:t>
            </a:r>
          </a:p>
        </p:txBody>
      </p:sp>
      <p:sp>
        <p:nvSpPr>
          <p:cNvPr id="3" name="TextBox 2"/>
          <p:cNvSpPr txBox="1"/>
          <p:nvPr/>
        </p:nvSpPr>
        <p:spPr>
          <a:xfrm>
            <a:off x="731520" y="1508760"/>
            <a:ext cx="10728929" cy="960120"/>
          </a:xfrm>
          <a:prstGeom prst="rect">
            <a:avLst/>
          </a:prstGeom>
          <a:noFill/>
        </p:spPr>
        <p:txBody>
          <a:bodyPr wrap="square" lIns="25400" rIns="25400" tIns="12700" bIns="12700" anchor="t">
            <a:noAutofit/>
          </a:bodyPr>
          <a:lstStyle/>
          <a:p>
            <a:pPr algn="l"/>
            <a:r>
              <a:rPr sz="1600" b="1">
                <a:solidFill>
                  <a:srgbClr val="102A43"/>
                </a:solidFill>
                <a:latin typeface="Microsoft YaHei"/>
              </a:rPr>
              <a:t>**巨星科技历经三十余年发展，已从手工具ODM代工厂蜕变为集“欧美本土服务、亚洲产业链制造、中国管理研发”于一体的全球资源配置型综合工具龙头。</a:t>
            </a:r>
          </a:p>
        </p:txBody>
      </p:sp>
      <p:sp>
        <p:nvSpPr>
          <p:cNvPr id="4" name="TextBox 3"/>
          <p:cNvSpPr txBox="1"/>
          <p:nvPr/>
        </p:nvSpPr>
        <p:spPr>
          <a:xfrm>
            <a:off x="731520" y="2743200"/>
            <a:ext cx="10728929" cy="3291840"/>
          </a:xfrm>
          <a:prstGeom prst="rect">
            <a:avLst/>
          </a:prstGeom>
          <a:noFill/>
        </p:spPr>
        <p:txBody>
          <a:bodyPr wrap="square" lIns="25400" rIns="25400" tIns="12700" bIns="12700" anchor="t">
            <a:noAutofit/>
          </a:bodyPr>
          <a:lstStyle/>
          <a:p>
            <a:pPr algn="l"/>
            <a:r>
              <a:rPr sz="1400" b="0">
                <a:solidFill>
                  <a:srgbClr val="64748B"/>
                </a:solidFill>
                <a:latin typeface="Microsoft YaHei"/>
              </a:rPr>
              <a:t>•渠道端：深度绑定家得宝、劳氏等核心大客户，并拓展线上增量。</a:t>
            </a:r>
          </a:p>
          <a:p>
            <a:pPr algn="l"/>
            <a:r>
              <a:rPr sz="1400" b="0">
                <a:solidFill>
                  <a:srgbClr val="64748B"/>
                </a:solidFill>
                <a:latin typeface="Microsoft YaHei"/>
              </a:rPr>
              <a:t>•生产端：研发费用率长期维持在近3.0%，全球23个产能基地，实现全球柔性制造。</a:t>
            </a:r>
          </a:p>
          <a:p>
            <a:pPr algn="l"/>
            <a:r>
              <a:rPr sz="1400" b="0">
                <a:solidFill>
                  <a:srgbClr val="64748B"/>
                </a:solidFill>
                <a:latin typeface="Microsoft YaHei"/>
              </a:rPr>
              <a:t>•品牌端：通过内生外延搭建品牌矩阵，OBM收入占比约47.9%。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2900"/>
            <a:ext cx="10728929" cy="960120"/>
          </a:xfrm>
          <a:prstGeom prst="rect">
            <a:avLst/>
          </a:prstGeom>
          <a:noFill/>
        </p:spPr>
        <p:txBody>
          <a:bodyPr wrap="square" lIns="25400" rIns="25400" tIns="12700" bIns="12700" anchor="ctr">
            <a:noAutofit/>
          </a:bodyPr>
          <a:lstStyle/>
          <a:p>
            <a:pPr algn="l"/>
            <a:r>
              <a:rPr sz="2700" b="1">
                <a:solidFill>
                  <a:srgbClr val="102A43"/>
                </a:solidFill>
                <a:latin typeface="Microsoft YaHei"/>
              </a:rPr>
              <a:t>渠道壁垒与多元渗透：巨星科技穿越周期的客户粘性护城河</a:t>
            </a:r>
          </a:p>
        </p:txBody>
      </p:sp>
      <p:sp>
        <p:nvSpPr>
          <p:cNvPr id="3" name="TextBox 2"/>
          <p:cNvSpPr txBox="1"/>
          <p:nvPr/>
        </p:nvSpPr>
        <p:spPr>
          <a:xfrm>
            <a:off x="731520" y="1508760"/>
            <a:ext cx="10728929" cy="960120"/>
          </a:xfrm>
          <a:prstGeom prst="rect">
            <a:avLst/>
          </a:prstGeom>
          <a:noFill/>
        </p:spPr>
        <p:txBody>
          <a:bodyPr wrap="square" lIns="25400" rIns="25400" tIns="12700" bIns="12700" anchor="t">
            <a:noAutofit/>
          </a:bodyPr>
          <a:lstStyle/>
          <a:p>
            <a:pPr algn="l"/>
            <a:r>
              <a:rPr sz="1600" b="1">
                <a:solidFill>
                  <a:srgbClr val="102A43"/>
                </a:solidFill>
                <a:latin typeface="Microsoft YaHei"/>
              </a:rPr>
              <a:t>**深度绑定全球头部零售商，构建高粘性、低替代性的客户合作壁垒。</a:t>
            </a:r>
          </a:p>
        </p:txBody>
      </p:sp>
      <p:sp>
        <p:nvSpPr>
          <p:cNvPr id="4" name="TextBox 3"/>
          <p:cNvSpPr txBox="1"/>
          <p:nvPr/>
        </p:nvSpPr>
        <p:spPr>
          <a:xfrm>
            <a:off x="731520" y="2743200"/>
            <a:ext cx="10728929" cy="3291840"/>
          </a:xfrm>
          <a:prstGeom prst="rect">
            <a:avLst/>
          </a:prstGeom>
          <a:noFill/>
        </p:spPr>
        <p:txBody>
          <a:bodyPr wrap="square" lIns="25400" rIns="25400" tIns="12700" bIns="12700" anchor="t">
            <a:noAutofit/>
          </a:bodyPr>
          <a:lstStyle/>
          <a:p>
            <a:pPr algn="l"/>
            <a:r>
              <a:rPr sz="1400" b="0">
                <a:solidFill>
                  <a:srgbClr val="64748B"/>
                </a:solidFill>
                <a:latin typeface="Microsoft YaHei"/>
              </a:rPr>
              <a:t>•前五大客户收入占比维持在35%~40%，通过VMI模式深度嵌入客户供应链。</a:t>
            </a:r>
          </a:p>
          <a:p>
            <a:pPr algn="l"/>
            <a:r>
              <a:rPr sz="1400" b="0">
                <a:solidFill>
                  <a:srgbClr val="64748B"/>
                </a:solidFill>
                <a:latin typeface="Microsoft YaHei"/>
              </a:rPr>
              <a:t>•全球超过60个海外仓储物流中心，海外仓总面积超80万平米，海外渠道收入占比升至85%。</a:t>
            </a:r>
          </a:p>
          <a:p>
            <a:pPr algn="l"/>
            <a:r>
              <a:rPr sz="1400" b="0">
                <a:solidFill>
                  <a:srgbClr val="64748B"/>
                </a:solidFill>
                <a:latin typeface="Microsoft YaHei"/>
              </a:rPr>
              <a:t>•自有品牌收入占比提升至约35%，增强渠道议价能力。</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2900"/>
            <a:ext cx="10728929" cy="960120"/>
          </a:xfrm>
          <a:prstGeom prst="rect">
            <a:avLst/>
          </a:prstGeom>
          <a:noFill/>
        </p:spPr>
        <p:txBody>
          <a:bodyPr wrap="square" lIns="25400" rIns="25400" tIns="12700" bIns="12700" anchor="ctr">
            <a:noAutofit/>
          </a:bodyPr>
          <a:lstStyle/>
          <a:p>
            <a:pPr algn="l"/>
            <a:r>
              <a:rPr sz="2700" b="1">
                <a:solidFill>
                  <a:srgbClr val="102A43"/>
                </a:solidFill>
                <a:latin typeface="Microsoft YaHei"/>
              </a:rPr>
              <a:t>研发驱动与全球产能布局：构筑工具龙头的双重护城河</a:t>
            </a:r>
          </a:p>
        </p:txBody>
      </p:sp>
      <p:sp>
        <p:nvSpPr>
          <p:cNvPr id="3" name="TextBox 2"/>
          <p:cNvSpPr txBox="1"/>
          <p:nvPr/>
        </p:nvSpPr>
        <p:spPr>
          <a:xfrm>
            <a:off x="731520" y="1508760"/>
            <a:ext cx="10728929" cy="960120"/>
          </a:xfrm>
          <a:prstGeom prst="rect">
            <a:avLst/>
          </a:prstGeom>
          <a:noFill/>
        </p:spPr>
        <p:txBody>
          <a:bodyPr wrap="square" lIns="25400" rIns="25400" tIns="12700" bIns="12700" anchor="t">
            <a:noAutofit/>
          </a:bodyPr>
          <a:lstStyle/>
          <a:p>
            <a:pPr algn="l"/>
            <a:r>
              <a:rPr sz="1600" b="1">
                <a:solidFill>
                  <a:srgbClr val="102A43"/>
                </a:solidFill>
                <a:latin typeface="Microsoft YaHei"/>
              </a:rPr>
              <a:t>**公司作为制造型企业，其核心竞争力根植于持续的产品创新与前瞻性的全球产能布局，二者共同构成了抵御市场波动、实现份额扩张的“双轮驱动”模式**。</a:t>
            </a:r>
          </a:p>
        </p:txBody>
      </p:sp>
      <p:sp>
        <p:nvSpPr>
          <p:cNvPr id="4" name="TextBox 3"/>
          <p:cNvSpPr txBox="1"/>
          <p:nvPr/>
        </p:nvSpPr>
        <p:spPr>
          <a:xfrm>
            <a:off x="731520" y="2743200"/>
            <a:ext cx="10728929" cy="3291840"/>
          </a:xfrm>
          <a:prstGeom prst="rect">
            <a:avLst/>
          </a:prstGeom>
          <a:noFill/>
        </p:spPr>
        <p:txBody>
          <a:bodyPr wrap="square" lIns="25400" rIns="25400" tIns="12700" bIns="12700" anchor="t">
            <a:noAutofit/>
          </a:bodyPr>
          <a:lstStyle/>
          <a:p>
            <a:pPr algn="l"/>
            <a:r>
              <a:rPr sz="1400" b="0">
                <a:solidFill>
                  <a:srgbClr val="64748B"/>
                </a:solidFill>
                <a:latin typeface="Microsoft YaHei"/>
              </a:rPr>
              <a:t>•研发费用率长期保持约2.9%，2024年设计新产品1937项，20V锂电池产品突破切入大型零售商供应链。</a:t>
            </a:r>
          </a:p>
          <a:p>
            <a:pPr algn="l"/>
            <a:r>
              <a:rPr sz="1400" b="0">
                <a:solidFill>
                  <a:srgbClr val="64748B"/>
                </a:solidFill>
                <a:latin typeface="Microsoft YaHei"/>
              </a:rPr>
              <a:t>•全球23个生产基地，海外产能占比超55%，越南/泰国/柬埔寨为主要产能中心，自产比例接近翻倍。</a:t>
            </a:r>
          </a:p>
          <a:p>
            <a:pPr algn="l"/>
            <a:r>
              <a:rPr sz="1400" b="0">
                <a:solidFill>
                  <a:srgbClr val="64748B"/>
                </a:solidFill>
                <a:latin typeface="Microsoft YaHei"/>
              </a:rPr>
              <a:t>•固定资产周转率维持高位，2024年为7.78，以有限固定资产撬动持续增长。</a:t>
            </a:r>
          </a:p>
          <a:p>
            <a:pPr algn="l"/>
            <a:r>
              <a:rPr sz="1400" b="0">
                <a:solidFill>
                  <a:srgbClr val="64748B"/>
                </a:solidFill>
                <a:latin typeface="Microsoft YaHei"/>
              </a:rPr>
              <a:t>•产品与产能协同形成差异化竞争壁垒：粉色工具套装等创新设计提升品牌认同。</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2900"/>
            <a:ext cx="10728929" cy="960120"/>
          </a:xfrm>
          <a:prstGeom prst="rect">
            <a:avLst/>
          </a:prstGeom>
          <a:noFill/>
        </p:spPr>
        <p:txBody>
          <a:bodyPr wrap="square" lIns="25400" rIns="25400" tIns="12700" bIns="12700" anchor="ctr">
            <a:noAutofit/>
          </a:bodyPr>
          <a:lstStyle/>
          <a:p>
            <a:pPr algn="l"/>
            <a:r>
              <a:rPr sz="2700" b="1">
                <a:solidFill>
                  <a:srgbClr val="102A43"/>
                </a:solidFill>
                <a:latin typeface="Microsoft YaHei"/>
              </a:rPr>
              <a:t>品牌矩阵成型：内生外延双轮驱动，OBM转型进入收获期</a:t>
            </a:r>
          </a:p>
        </p:txBody>
      </p:sp>
      <p:graphicFrame>
        <p:nvGraphicFramePr>
          <p:cNvPr id="3" name="compiled_table"/>
          <p:cNvGraphicFramePr>
            <a:graphicFrameLocks noGrp="1"/>
          </p:cNvGraphicFramePr>
          <p:nvPr/>
        </p:nvGraphicFramePr>
        <p:xfrm>
          <a:off x="731520" y="1508760"/>
          <a:ext cx="5242529" cy="3022600"/>
        </p:xfrm>
        <a:graphic>
          <a:graphicData uri="http://schemas.openxmlformats.org/drawingml/2006/table">
            <a:tbl>
              <a:tblPr firstRow="1" bandRow="1">
                <a:tableStyleId>{5C22544A-7EE6-4342-B048-85BDC9FD1C3A}</a:tableStyleId>
              </a:tblPr>
              <a:tblGrid>
                <a:gridCol w="1152813"/>
                <a:gridCol w="810554"/>
                <a:gridCol w="810554"/>
                <a:gridCol w="1006130"/>
                <a:gridCol w="1462478"/>
              </a:tblGrid>
              <a:tr h="381000">
                <a:tc>
                  <a:txBody>
                    <a:bodyPr wrap="square"/>
                    <a:lstStyle/>
                    <a:p>
                      <a:pPr algn="ctr"/>
                      <a:r>
                        <a:rPr sz="1000" b="1">
                          <a:solidFill>
                            <a:srgbClr val="FFFFFF"/>
                          </a:solidFill>
                          <a:latin typeface="Microsoft YaHei"/>
                        </a:rPr>
                        <a:t>品牌</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102A43"/>
                    </a:solidFill>
                  </a:tcPr>
                </a:tc>
                <a:tc>
                  <a:txBody>
                    <a:bodyPr wrap="square"/>
                    <a:lstStyle/>
                    <a:p>
                      <a:pPr algn="ctr"/>
                      <a:r>
                        <a:rPr sz="1000" b="1">
                          <a:solidFill>
                            <a:srgbClr val="FFFFFF"/>
                          </a:solidFill>
                          <a:latin typeface="Microsoft YaHei"/>
                        </a:rPr>
                        <a:t>获得时间</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102A43"/>
                    </a:solidFill>
                  </a:tcPr>
                </a:tc>
                <a:tc>
                  <a:txBody>
                    <a:bodyPr wrap="square"/>
                    <a:lstStyle/>
                    <a:p>
                      <a:pPr algn="ctr"/>
                      <a:r>
                        <a:rPr sz="1000" b="1">
                          <a:solidFill>
                            <a:srgbClr val="FFFFFF"/>
                          </a:solidFill>
                          <a:latin typeface="Microsoft YaHei"/>
                        </a:rPr>
                        <a:t>获得方式</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102A43"/>
                    </a:solidFill>
                  </a:tcPr>
                </a:tc>
                <a:tc>
                  <a:txBody>
                    <a:bodyPr wrap="square"/>
                    <a:lstStyle/>
                    <a:p>
                      <a:pPr algn="ctr"/>
                      <a:r>
                        <a:rPr sz="1000" b="1">
                          <a:solidFill>
                            <a:srgbClr val="FFFFFF"/>
                          </a:solidFill>
                          <a:latin typeface="Microsoft YaHei"/>
                        </a:rPr>
                        <a:t>产品类别</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102A43"/>
                    </a:solidFill>
                  </a:tcPr>
                </a:tc>
                <a:tc>
                  <a:txBody>
                    <a:bodyPr wrap="square"/>
                    <a:lstStyle/>
                    <a:p>
                      <a:pPr algn="ctr"/>
                      <a:r>
                        <a:rPr sz="1000" b="1">
                          <a:solidFill>
                            <a:srgbClr val="FFFFFF"/>
                          </a:solidFill>
                          <a:latin typeface="Microsoft YaHei"/>
                        </a:rPr>
                        <a:t>说明</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102A43"/>
                    </a:solidFill>
                  </a:tcPr>
                </a:tc>
              </a:tr>
              <a:tr h="330200">
                <a:tc>
                  <a:txBody>
                    <a:bodyPr wrap="square"/>
                    <a:lstStyle/>
                    <a:p>
                      <a:pPr algn="ctr"/>
                      <a:r>
                        <a:rPr sz="1000" b="1">
                          <a:solidFill>
                            <a:srgbClr val="64748B"/>
                          </a:solidFill>
                          <a:latin typeface="Microsoft YaHei"/>
                        </a:rPr>
                        <a:t>WORKPRO</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2009年</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自建</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手工具</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全品类综合性工具，SKU超4000种</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r>
              <a:tr h="330200">
                <a:tc>
                  <a:txBody>
                    <a:bodyPr wrap="square"/>
                    <a:lstStyle/>
                    <a:p>
                      <a:pPr algn="ctr"/>
                      <a:r>
                        <a:rPr sz="1000" b="1">
                          <a:solidFill>
                            <a:srgbClr val="64748B"/>
                          </a:solidFill>
                          <a:latin typeface="Microsoft YaHei"/>
                        </a:rPr>
                        <a:t>SHEFFIELD</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2010年</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自建</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手工具/存储/劳保</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工业级工具解决方案，近4000种产品</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r>
              <a:tr h="330200">
                <a:tc>
                  <a:txBody>
                    <a:bodyPr wrap="square"/>
                    <a:lstStyle/>
                    <a:p>
                      <a:pPr algn="ctr"/>
                      <a:r>
                        <a:rPr sz="1000" b="1">
                          <a:solidFill>
                            <a:srgbClr val="64748B"/>
                          </a:solidFill>
                          <a:latin typeface="Microsoft YaHei"/>
                        </a:rPr>
                        <a:t>Goldblatt</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2010年</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收购</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手工具</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泥工、石工、混凝土高品质工具</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r>
              <a:tr h="330200">
                <a:tc>
                  <a:txBody>
                    <a:bodyPr wrap="square"/>
                    <a:lstStyle/>
                    <a:p>
                      <a:pPr algn="ctr"/>
                      <a:r>
                        <a:rPr sz="1000" b="1">
                          <a:solidFill>
                            <a:srgbClr val="64748B"/>
                          </a:solidFill>
                          <a:latin typeface="Microsoft YaHei"/>
                        </a:rPr>
                        <a:t>EverBrite</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2011年</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自建</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手工具</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全品类DIY照明工具</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r>
              <a:tr h="330200">
                <a:tc>
                  <a:txBody>
                    <a:bodyPr wrap="square"/>
                    <a:lstStyle/>
                    <a:p>
                      <a:pPr algn="ctr"/>
                      <a:r>
                        <a:rPr sz="1000" b="1">
                          <a:solidFill>
                            <a:srgbClr val="64748B"/>
                          </a:solidFill>
                          <a:latin typeface="Microsoft YaHei"/>
                        </a:rPr>
                        <a:t>PREXISO/华达科捷</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2015年</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收购</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激光测量</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激光测量/测绘领域领先品牌</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r>
              <a:tr h="330200">
                <a:tc>
                  <a:txBody>
                    <a:bodyPr wrap="square"/>
                    <a:lstStyle/>
                    <a:p>
                      <a:pPr algn="ctr"/>
                      <a:r>
                        <a:rPr sz="1000" b="1">
                          <a:solidFill>
                            <a:srgbClr val="64748B"/>
                          </a:solidFill>
                          <a:latin typeface="Microsoft YaHei"/>
                        </a:rPr>
                        <a:t>Pony Jorgensen</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2016年</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收购</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手工具</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优质木工工具</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r>
              <a:tr h="330200">
                <a:tc>
                  <a:txBody>
                    <a:bodyPr wrap="square"/>
                    <a:lstStyle/>
                    <a:p>
                      <a:pPr algn="ctr"/>
                      <a:r>
                        <a:rPr sz="1000" b="1">
                          <a:solidFill>
                            <a:srgbClr val="64748B"/>
                          </a:solidFill>
                          <a:latin typeface="Microsoft YaHei"/>
                        </a:rPr>
                        <a:t>OLEI</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2016年</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收购</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仪器</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专业激光雷达品牌</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r>
              <a:tr h="330200">
                <a:tc>
                  <a:txBody>
                    <a:bodyPr wrap="square"/>
                    <a:lstStyle/>
                    <a:p>
                      <a:pPr algn="ctr"/>
                      <a:r>
                        <a:rPr sz="1000" b="1">
                          <a:solidFill>
                            <a:srgbClr val="64748B"/>
                          </a:solidFill>
                          <a:latin typeface="Microsoft YaHei"/>
                        </a:rPr>
                        <a:t>Arrow</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2017年</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收购</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动力工具</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美国手动/电动射钉枪百年品牌</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r>
            </a:tbl>
          </a:graphicData>
        </a:graphic>
      </p:graphicFrame>
      <p:sp>
        <p:nvSpPr>
          <p:cNvPr id="4" name="TextBox 3"/>
          <p:cNvSpPr txBox="1"/>
          <p:nvPr/>
        </p:nvSpPr>
        <p:spPr>
          <a:xfrm>
            <a:off x="6583680" y="1508760"/>
            <a:ext cx="4876769" cy="1028700"/>
          </a:xfrm>
          <a:prstGeom prst="rect">
            <a:avLst/>
          </a:prstGeom>
          <a:noFill/>
        </p:spPr>
        <p:txBody>
          <a:bodyPr wrap="square" lIns="25400" rIns="25400" tIns="12700" bIns="12700" anchor="t">
            <a:noAutofit/>
          </a:bodyPr>
          <a:lstStyle/>
          <a:p>
            <a:pPr algn="l"/>
            <a:r>
              <a:rPr sz="1600" b="1">
                <a:solidFill>
                  <a:srgbClr val="102A43"/>
                </a:solidFill>
                <a:latin typeface="Microsoft YaHei"/>
              </a:rPr>
              <a:t>**巨星科技正处于从ODM代工向OBM品牌运营商转型的关键阶段，且已进入品牌红利加速释放的收获期。</a:t>
            </a:r>
          </a:p>
        </p:txBody>
      </p:sp>
      <p:sp>
        <p:nvSpPr>
          <p:cNvPr id="5" name="TextBox 4"/>
          <p:cNvSpPr txBox="1"/>
          <p:nvPr/>
        </p:nvSpPr>
        <p:spPr>
          <a:xfrm>
            <a:off x="6583680" y="2811780"/>
            <a:ext cx="4876769" cy="3223260"/>
          </a:xfrm>
          <a:prstGeom prst="rect">
            <a:avLst/>
          </a:prstGeom>
          <a:noFill/>
        </p:spPr>
        <p:txBody>
          <a:bodyPr wrap="square" lIns="25400" rIns="25400" tIns="12700" bIns="12700" anchor="t">
            <a:noAutofit/>
          </a:bodyPr>
          <a:lstStyle/>
          <a:p>
            <a:pPr algn="l"/>
            <a:r>
              <a:rPr sz="1400" b="0">
                <a:solidFill>
                  <a:srgbClr val="64748B"/>
                </a:solidFill>
                <a:latin typeface="Microsoft YaHei"/>
              </a:rPr>
              <a:t>•内生方面：以DTC模式在亚马逊推广自创品牌，WORKPRO、SHEFFIELD等保持强劲增长。</a:t>
            </a:r>
          </a:p>
          <a:p>
            <a:pPr algn="l"/>
            <a:r>
              <a:rPr sz="1400" b="0">
                <a:solidFill>
                  <a:srgbClr val="64748B"/>
                </a:solidFill>
                <a:latin typeface="Microsoft YaHei"/>
              </a:rPr>
              <a:t>•外延方面：系列精准收购实现品类延伸，Arrow与BeA整合后成为全球最大钉枪及耗材供应商。</a:t>
            </a:r>
          </a:p>
          <a:p>
            <a:pPr algn="l"/>
            <a:r>
              <a:rPr sz="1400" b="0">
                <a:solidFill>
                  <a:srgbClr val="64748B"/>
                </a:solidFill>
                <a:latin typeface="Microsoft YaHei"/>
              </a:rPr>
              <a:t>•截至2024年末货币资金达68.52亿元，为未来品牌并购预留空间。</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2900"/>
            <a:ext cx="10728929" cy="960120"/>
          </a:xfrm>
          <a:prstGeom prst="rect">
            <a:avLst/>
          </a:prstGeom>
          <a:noFill/>
        </p:spPr>
        <p:txBody>
          <a:bodyPr wrap="square" lIns="25400" rIns="25400" tIns="12700" bIns="12700" anchor="ctr">
            <a:noAutofit/>
          </a:bodyPr>
          <a:lstStyle/>
          <a:p>
            <a:pPr algn="l"/>
            <a:r>
              <a:rPr sz="2700" b="1">
                <a:solidFill>
                  <a:srgbClr val="102A43"/>
                </a:solidFill>
                <a:latin typeface="Microsoft YaHei"/>
              </a:rPr>
              <a:t>品牌矩阵成型：内生外延双轮驱动，OBM转型进入收获期</a:t>
            </a:r>
          </a:p>
        </p:txBody>
      </p:sp>
      <p:sp>
        <p:nvSpPr>
          <p:cNvPr id="3" name="TextBox 2"/>
          <p:cNvSpPr txBox="1"/>
          <p:nvPr/>
        </p:nvSpPr>
        <p:spPr>
          <a:xfrm>
            <a:off x="731520" y="1508760"/>
            <a:ext cx="10728929" cy="960120"/>
          </a:xfrm>
          <a:prstGeom prst="rect">
            <a:avLst/>
          </a:prstGeom>
          <a:noFill/>
        </p:spPr>
        <p:txBody>
          <a:bodyPr wrap="square" lIns="25400" rIns="25400" tIns="12700" bIns="12700" anchor="t">
            <a:noAutofit/>
          </a:bodyPr>
          <a:lstStyle/>
          <a:p>
            <a:pPr algn="l"/>
            <a:r>
              <a:rPr sz="1600" b="1">
                <a:solidFill>
                  <a:srgbClr val="102A43"/>
                </a:solidFill>
                <a:latin typeface="Microsoft YaHei"/>
              </a:rPr>
              <a:t>**展望未来，在“聚焦主业，创新产品，运营品牌，布局全球”的战略指引下，公司将继续以品牌发展为核心，巩固和拓展现有国际知名工具品牌矩阵，同时培育适应新时代的电商工具品牌，持续提升OBM业务占比和全球市场竞争力**。</a:t>
            </a:r>
          </a:p>
        </p:txBody>
      </p:sp>
      <p:sp>
        <p:nvSpPr>
          <p:cNvPr id="4" name="TextBox 3"/>
          <p:cNvSpPr txBox="1"/>
          <p:nvPr/>
        </p:nvSpPr>
        <p:spPr>
          <a:xfrm>
            <a:off x="731520" y="2743200"/>
            <a:ext cx="10728929" cy="3291840"/>
          </a:xfrm>
          <a:prstGeom prst="rect">
            <a:avLst/>
          </a:prstGeom>
          <a:noFill/>
        </p:spPr>
        <p:txBody>
          <a:bodyPr wrap="square" lIns="25400" rIns="25400" tIns="12700" bIns="12700" anchor="t">
            <a:noAutofit/>
          </a:bodyPr>
          <a:lstStyle/>
          <a:p>
            <a:pPr algn="l"/>
            <a:r>
              <a:rPr sz="1400" b="0">
                <a:solidFill>
                  <a:srgbClr val="64748B"/>
                </a:solidFill>
                <a:latin typeface="Microsoft YaHei"/>
              </a:rPr>
              <a:t>•截至2024年末，货币资金达68.52亿元，2025年中期仍保持在52.86亿元。</a:t>
            </a:r>
          </a:p>
          <a:p>
            <a:pPr algn="l"/>
            <a:r>
              <a:rPr sz="1400" b="0">
                <a:solidFill>
                  <a:srgbClr val="64748B"/>
                </a:solidFill>
                <a:latin typeface="Microsoft YaHei"/>
              </a:rPr>
              <a:t>•公司经营性现金流规模持续稳健。</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2900"/>
            <a:ext cx="10728929" cy="960120"/>
          </a:xfrm>
          <a:prstGeom prst="rect">
            <a:avLst/>
          </a:prstGeom>
          <a:noFill/>
        </p:spPr>
        <p:txBody>
          <a:bodyPr wrap="square" lIns="25400" rIns="25400" tIns="12700" bIns="12700" anchor="ctr">
            <a:noAutofit/>
          </a:bodyPr>
          <a:lstStyle/>
          <a:p>
            <a:pPr algn="l"/>
            <a:r>
              <a:rPr sz="2700" b="1">
                <a:solidFill>
                  <a:srgbClr val="102A43"/>
                </a:solidFill>
                <a:latin typeface="Microsoft YaHei"/>
              </a:rPr>
              <a:t>三大业务板块分化中重构增长：手工具承压、电动工具崛起、工业工具稳守，2026年起盈利拐点确立</a:t>
            </a:r>
          </a:p>
        </p:txBody>
      </p:sp>
      <p:graphicFrame>
        <p:nvGraphicFramePr>
          <p:cNvPr id="3" name="compiled_table"/>
          <p:cNvGraphicFramePr>
            <a:graphicFrameLocks noGrp="1"/>
          </p:cNvGraphicFramePr>
          <p:nvPr/>
        </p:nvGraphicFramePr>
        <p:xfrm>
          <a:off x="731520" y="1508760"/>
          <a:ext cx="5242529" cy="3022600"/>
        </p:xfrm>
        <a:graphic>
          <a:graphicData uri="http://schemas.openxmlformats.org/drawingml/2006/table">
            <a:tbl>
              <a:tblPr firstRow="1" bandRow="1">
                <a:tableStyleId>{5C22544A-7EE6-4342-B048-85BDC9FD1C3A}</a:tableStyleId>
              </a:tblPr>
              <a:tblGrid>
                <a:gridCol w="1229611"/>
                <a:gridCol w="802583"/>
                <a:gridCol w="802583"/>
                <a:gridCol w="802583"/>
                <a:gridCol w="802583"/>
                <a:gridCol w="802586"/>
              </a:tblGrid>
              <a:tr h="381000">
                <a:tc>
                  <a:txBody>
                    <a:bodyPr wrap="square"/>
                    <a:lstStyle/>
                    <a:p>
                      <a:pPr algn="ctr"/>
                      <a:r>
                        <a:rPr sz="1000" b="1">
                          <a:solidFill>
                            <a:srgbClr val="FFFFFF"/>
                          </a:solidFill>
                          <a:latin typeface="Microsoft YaHei"/>
                        </a:rPr>
                        <a:t>项目</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102A43"/>
                    </a:solidFill>
                  </a:tcPr>
                </a:tc>
                <a:tc>
                  <a:txBody>
                    <a:bodyPr wrap="square"/>
                    <a:lstStyle/>
                    <a:p>
                      <a:pPr algn="ctr"/>
                      <a:r>
                        <a:rPr sz="1000" b="1">
                          <a:solidFill>
                            <a:srgbClr val="FFFFFF"/>
                          </a:solidFill>
                          <a:latin typeface="Microsoft YaHei"/>
                        </a:rPr>
                        <a:t>2023A</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102A43"/>
                    </a:solidFill>
                  </a:tcPr>
                </a:tc>
                <a:tc>
                  <a:txBody>
                    <a:bodyPr wrap="square"/>
                    <a:lstStyle/>
                    <a:p>
                      <a:pPr algn="ctr"/>
                      <a:r>
                        <a:rPr sz="1000" b="1">
                          <a:solidFill>
                            <a:srgbClr val="FFFFFF"/>
                          </a:solidFill>
                          <a:latin typeface="Microsoft YaHei"/>
                        </a:rPr>
                        <a:t>2024A</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102A43"/>
                    </a:solidFill>
                  </a:tcPr>
                </a:tc>
                <a:tc>
                  <a:txBody>
                    <a:bodyPr wrap="square"/>
                    <a:lstStyle/>
                    <a:p>
                      <a:pPr algn="ctr"/>
                      <a:r>
                        <a:rPr sz="1000" b="1">
                          <a:solidFill>
                            <a:srgbClr val="FFFFFF"/>
                          </a:solidFill>
                          <a:latin typeface="Microsoft YaHei"/>
                        </a:rPr>
                        <a:t>2025E</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102A43"/>
                    </a:solidFill>
                  </a:tcPr>
                </a:tc>
                <a:tc>
                  <a:txBody>
                    <a:bodyPr wrap="square"/>
                    <a:lstStyle/>
                    <a:p>
                      <a:pPr algn="ctr"/>
                      <a:r>
                        <a:rPr sz="1000" b="1">
                          <a:solidFill>
                            <a:srgbClr val="FFFFFF"/>
                          </a:solidFill>
                          <a:latin typeface="Microsoft YaHei"/>
                        </a:rPr>
                        <a:t>2026E</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102A43"/>
                    </a:solidFill>
                  </a:tcPr>
                </a:tc>
                <a:tc>
                  <a:txBody>
                    <a:bodyPr wrap="square"/>
                    <a:lstStyle/>
                    <a:p>
                      <a:pPr algn="ctr"/>
                      <a:r>
                        <a:rPr sz="1000" b="1">
                          <a:solidFill>
                            <a:srgbClr val="FFFFFF"/>
                          </a:solidFill>
                          <a:latin typeface="Microsoft YaHei"/>
                        </a:rPr>
                        <a:t>2027E</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102A43"/>
                    </a:solidFill>
                  </a:tcPr>
                </a:tc>
              </a:tr>
              <a:tr h="330200">
                <a:tc>
                  <a:txBody>
                    <a:bodyPr wrap="square"/>
                    <a:lstStyle/>
                    <a:p>
                      <a:pPr algn="ctr"/>
                      <a:r>
                        <a:rPr sz="1000" b="1">
                          <a:solidFill>
                            <a:srgbClr val="64748B"/>
                          </a:solidFill>
                          <a:latin typeface="Microsoft YaHei"/>
                        </a:rPr>
                        <a:t>手工具</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r>
              <a:tr h="330200">
                <a:tc>
                  <a:txBody>
                    <a:bodyPr wrap="square"/>
                    <a:lstStyle/>
                    <a:p>
                      <a:pPr algn="ctr"/>
                      <a:r>
                        <a:rPr sz="1000" b="1">
                          <a:solidFill>
                            <a:srgbClr val="64748B"/>
                          </a:solidFill>
                          <a:latin typeface="Microsoft YaHei"/>
                        </a:rPr>
                        <a:t>收入</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7168</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10069</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11076</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13070</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15161</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r>
              <a:tr h="330200">
                <a:tc>
                  <a:txBody>
                    <a:bodyPr wrap="square"/>
                    <a:lstStyle/>
                    <a:p>
                      <a:pPr algn="ctr"/>
                      <a:r>
                        <a:rPr sz="1000" b="1">
                          <a:solidFill>
                            <a:srgbClr val="64748B"/>
                          </a:solidFill>
                          <a:latin typeface="Microsoft YaHei"/>
                        </a:rPr>
                        <a:t>同比增速</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+40.5%</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+10.0%</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+18.0%</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+16.0%</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r>
              <a:tr h="330200">
                <a:tc>
                  <a:txBody>
                    <a:bodyPr wrap="square"/>
                    <a:lstStyle/>
                    <a:p>
                      <a:pPr algn="ctr"/>
                      <a:r>
                        <a:rPr sz="1000" b="1">
                          <a:solidFill>
                            <a:srgbClr val="64748B"/>
                          </a:solidFill>
                          <a:latin typeface="Microsoft YaHei"/>
                        </a:rPr>
                        <a:t>毛利率</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31.97%</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32.09%</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30.0%</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32.0%</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33.0%</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r>
              <a:tr h="330200">
                <a:tc>
                  <a:txBody>
                    <a:bodyPr wrap="square"/>
                    <a:lstStyle/>
                    <a:p>
                      <a:pPr algn="ctr"/>
                      <a:r>
                        <a:rPr sz="1000" b="1">
                          <a:solidFill>
                            <a:srgbClr val="64748B"/>
                          </a:solidFill>
                          <a:latin typeface="Microsoft YaHei"/>
                        </a:rPr>
                        <a:t>电动工具</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r>
              <a:tr h="330200">
                <a:tc>
                  <a:txBody>
                    <a:bodyPr wrap="square"/>
                    <a:lstStyle/>
                    <a:p>
                      <a:pPr algn="ctr"/>
                      <a:r>
                        <a:rPr sz="1000" b="1">
                          <a:solidFill>
                            <a:srgbClr val="64748B"/>
                          </a:solidFill>
                          <a:latin typeface="Microsoft YaHei"/>
                        </a:rPr>
                        <a:t>收入</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1053</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1438</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1654</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2150</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2688</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r>
              <a:tr h="330200">
                <a:tc>
                  <a:txBody>
                    <a:bodyPr wrap="square"/>
                    <a:lstStyle/>
                    <a:p>
                      <a:pPr algn="ctr"/>
                      <a:r>
                        <a:rPr sz="1000" b="1">
                          <a:solidFill>
                            <a:srgbClr val="64748B"/>
                          </a:solidFill>
                          <a:latin typeface="Microsoft YaHei"/>
                        </a:rPr>
                        <a:t>同比增速</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+36.5%</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+15.0%</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+30.0%</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+25.0%</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r>
              <a:tr h="330200">
                <a:tc>
                  <a:txBody>
                    <a:bodyPr wrap="square"/>
                    <a:lstStyle/>
                    <a:p>
                      <a:pPr algn="ctr"/>
                      <a:r>
                        <a:rPr sz="1000" b="1">
                          <a:solidFill>
                            <a:srgbClr val="64748B"/>
                          </a:solidFill>
                          <a:latin typeface="Microsoft YaHei"/>
                        </a:rPr>
                        <a:t>毛利率</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20.00%</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23.83%</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21.0%</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24.0%</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26.0%</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r>
            </a:tbl>
          </a:graphicData>
        </a:graphic>
      </p:graphicFrame>
      <p:sp>
        <p:nvSpPr>
          <p:cNvPr id="4" name="TextBox 3"/>
          <p:cNvSpPr txBox="1"/>
          <p:nvPr/>
        </p:nvSpPr>
        <p:spPr>
          <a:xfrm>
            <a:off x="6583680" y="1508760"/>
            <a:ext cx="4876769" cy="1028700"/>
          </a:xfrm>
          <a:prstGeom prst="rect">
            <a:avLst/>
          </a:prstGeom>
          <a:noFill/>
        </p:spPr>
        <p:txBody>
          <a:bodyPr wrap="square" lIns="25400" rIns="25400" tIns="12700" bIns="12700" anchor="t">
            <a:noAutofit/>
          </a:bodyPr>
          <a:lstStyle/>
          <a:p>
            <a:pPr algn="l"/>
            <a:r>
              <a:rPr sz="1600" b="1">
                <a:solidFill>
                  <a:srgbClr val="102A43"/>
                </a:solidFill>
                <a:latin typeface="Microsoft YaHei"/>
              </a:rPr>
              <a:t>手工具作为公司传统主业，凭借产品创新与渠道壁垒维持稳固地位。</a:t>
            </a:r>
          </a:p>
        </p:txBody>
      </p:sp>
      <p:sp>
        <p:nvSpPr>
          <p:cNvPr id="5" name="TextBox 4"/>
          <p:cNvSpPr txBox="1"/>
          <p:nvPr/>
        </p:nvSpPr>
        <p:spPr>
          <a:xfrm>
            <a:off x="6583680" y="2811780"/>
            <a:ext cx="4876769" cy="3223260"/>
          </a:xfrm>
          <a:prstGeom prst="rect">
            <a:avLst/>
          </a:prstGeom>
          <a:noFill/>
        </p:spPr>
        <p:txBody>
          <a:bodyPr wrap="square" lIns="25400" rIns="25400" tIns="12700" bIns="12700" anchor="t">
            <a:noAutofit/>
          </a:bodyPr>
          <a:lstStyle/>
          <a:p>
            <a:pPr algn="l"/>
            <a:r>
              <a:rPr sz="1400" b="0">
                <a:solidFill>
                  <a:srgbClr val="64748B"/>
                </a:solidFill>
                <a:latin typeface="Microsoft YaHei"/>
              </a:rPr>
              <a:t>•手工具：2025-2027年收入增速预计10%/18%/16%，毛利率30.0%/32.0%/33.0%。</a:t>
            </a:r>
          </a:p>
          <a:p>
            <a:pPr algn="l"/>
            <a:r>
              <a:rPr sz="1400" b="0">
                <a:solidFill>
                  <a:srgbClr val="64748B"/>
                </a:solidFill>
                <a:latin typeface="Microsoft YaHei"/>
              </a:rPr>
              <a:t>•电动工具：2025-2027年收入增速预计15%/30%/25%，毛利率21.0%/24.0%/26.0%。</a:t>
            </a:r>
          </a:p>
          <a:p>
            <a:pPr algn="l"/>
            <a:r>
              <a:rPr sz="1400" b="0">
                <a:solidFill>
                  <a:srgbClr val="64748B"/>
                </a:solidFill>
                <a:latin typeface="Microsoft YaHei"/>
              </a:rPr>
              <a:t>•工业工具：2025-2027年收入增速预计7%/14%/11%，毛利率稳定在35%左右。</a:t>
            </a:r>
          </a:p>
          <a:p>
            <a:pPr algn="l"/>
            <a:r>
              <a:rPr sz="1400" b="0">
                <a:solidFill>
                  <a:srgbClr val="64748B"/>
                </a:solidFill>
                <a:latin typeface="Microsoft YaHei"/>
              </a:rPr>
              <a:t>•2026年起归母净利润增速回升至24.4%/22.2%，电动工具放量成为主要弹性来源。</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2900"/>
            <a:ext cx="10728929" cy="960120"/>
          </a:xfrm>
          <a:prstGeom prst="rect">
            <a:avLst/>
          </a:prstGeom>
          <a:noFill/>
        </p:spPr>
        <p:txBody>
          <a:bodyPr wrap="square" lIns="25400" rIns="25400" tIns="12700" bIns="12700" anchor="ctr">
            <a:noAutofit/>
          </a:bodyPr>
          <a:lstStyle/>
          <a:p>
            <a:pPr algn="l"/>
            <a:r>
              <a:rPr sz="2700" b="1">
                <a:solidFill>
                  <a:srgbClr val="102A43"/>
                </a:solidFill>
                <a:latin typeface="Microsoft YaHei"/>
              </a:rPr>
              <a:t>成长溢价与安全边际并存：巨星科技估值重构的底层逻辑</a:t>
            </a:r>
          </a:p>
        </p:txBody>
      </p:sp>
      <p:sp>
        <p:nvSpPr>
          <p:cNvPr id="3" name="TextBox 2"/>
          <p:cNvSpPr txBox="1"/>
          <p:nvPr/>
        </p:nvSpPr>
        <p:spPr>
          <a:xfrm>
            <a:off x="731520" y="1371600"/>
            <a:ext cx="10728929" cy="617220"/>
          </a:xfrm>
          <a:prstGeom prst="rect">
            <a:avLst/>
          </a:prstGeom>
          <a:noFill/>
        </p:spPr>
        <p:txBody>
          <a:bodyPr wrap="square" lIns="25400" rIns="25400" tIns="12700" bIns="12700" anchor="t">
            <a:noAutofit/>
          </a:bodyPr>
          <a:lstStyle/>
          <a:p>
            <a:pPr algn="l"/>
            <a:r>
              <a:rPr sz="1600" b="1">
                <a:solidFill>
                  <a:srgbClr val="102A43"/>
                </a:solidFill>
                <a:latin typeface="Microsoft YaHei"/>
              </a:rPr>
              <a:t>**我们预计公司2025-2027年将进入盈利加速释放期。</a:t>
            </a:r>
          </a:p>
        </p:txBody>
      </p:sp>
      <p:sp>
        <p:nvSpPr>
          <p:cNvPr id="4" name="TextBox 3"/>
          <p:cNvSpPr txBox="1"/>
          <p:nvPr/>
        </p:nvSpPr>
        <p:spPr>
          <a:xfrm>
            <a:off x="731520" y="2057400"/>
            <a:ext cx="10728929" cy="754380"/>
          </a:xfrm>
          <a:prstGeom prst="rect">
            <a:avLst/>
          </a:prstGeom>
          <a:noFill/>
        </p:spPr>
        <p:txBody>
          <a:bodyPr wrap="square" lIns="25400" rIns="25400" tIns="12700" bIns="12700" anchor="t">
            <a:noAutofit/>
          </a:bodyPr>
          <a:lstStyle/>
          <a:p>
            <a:pPr algn="l"/>
            <a:r>
              <a:rPr sz="1400" b="0">
                <a:solidFill>
                  <a:srgbClr val="64748B"/>
                </a:solidFill>
                <a:latin typeface="Microsoft YaHei"/>
              </a:rPr>
              <a:t>•可比公司2025E平均PE为10.9X，巨星科技2025E PE为12.0X，反映成长性溢价。</a:t>
            </a:r>
          </a:p>
          <a:p>
            <a:pPr algn="l"/>
            <a:r>
              <a:rPr sz="1400" b="0">
                <a:solidFill>
                  <a:srgbClr val="64748B"/>
                </a:solidFill>
                <a:latin typeface="Microsoft YaHei"/>
              </a:rPr>
              <a:t>•2026E PE仅9.7X，低于可比均值，安全边际充足。</a:t>
            </a:r>
          </a:p>
          <a:p>
            <a:pPr algn="l"/>
            <a:r>
              <a:rPr sz="1400" b="0">
                <a:solidFill>
                  <a:srgbClr val="64748B"/>
                </a:solidFill>
                <a:latin typeface="Microsoft YaHei"/>
              </a:rPr>
              <a:t>•给予2026年13倍PE，对应12个月目标价32.8元，首次覆盖给予“买入”评级。</a:t>
            </a:r>
          </a:p>
        </p:txBody>
      </p:sp>
      <p:graphicFrame>
        <p:nvGraphicFramePr>
          <p:cNvPr id="5" name="compiled_table"/>
          <p:cNvGraphicFramePr>
            <a:graphicFrameLocks noGrp="1"/>
          </p:cNvGraphicFramePr>
          <p:nvPr/>
        </p:nvGraphicFramePr>
        <p:xfrm>
          <a:off x="731520" y="3086100"/>
          <a:ext cx="5120640" cy="1041400"/>
        </p:xfrm>
        <a:graphic>
          <a:graphicData uri="http://schemas.openxmlformats.org/drawingml/2006/table">
            <a:tbl>
              <a:tblPr firstRow="1" bandRow="1">
                <a:tableStyleId>{5C22544A-7EE6-4342-B048-85BDC9FD1C3A}</a:tableStyleId>
              </a:tblPr>
              <a:tblGrid>
                <a:gridCol w="1283906"/>
                <a:gridCol w="909225"/>
                <a:gridCol w="909225"/>
                <a:gridCol w="1109055"/>
                <a:gridCol w="909229"/>
              </a:tblGrid>
              <a:tr h="381000">
                <a:tc>
                  <a:txBody>
                    <a:bodyPr wrap="square"/>
                    <a:lstStyle/>
                    <a:p>
                      <a:pPr algn="ctr"/>
                      <a:r>
                        <a:rPr sz="1000" b="1">
                          <a:solidFill>
                            <a:srgbClr val="FFFFFF"/>
                          </a:solidFill>
                          <a:latin typeface="Microsoft YaHei"/>
                        </a:rPr>
                        <a:t>估值指标</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102A43"/>
                    </a:solidFill>
                  </a:tcPr>
                </a:tc>
                <a:tc>
                  <a:txBody>
                    <a:bodyPr wrap="square"/>
                    <a:lstStyle/>
                    <a:p>
                      <a:pPr algn="ctr"/>
                      <a:r>
                        <a:rPr sz="1000" b="1">
                          <a:solidFill>
                            <a:srgbClr val="FFFFFF"/>
                          </a:solidFill>
                          <a:latin typeface="Microsoft YaHei"/>
                        </a:rPr>
                        <a:t>泉峰控股</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102A43"/>
                    </a:solidFill>
                  </a:tcPr>
                </a:tc>
                <a:tc>
                  <a:txBody>
                    <a:bodyPr wrap="square"/>
                    <a:lstStyle/>
                    <a:p>
                      <a:pPr algn="ctr"/>
                      <a:r>
                        <a:rPr sz="1000" b="1">
                          <a:solidFill>
                            <a:srgbClr val="FFFFFF"/>
                          </a:solidFill>
                          <a:latin typeface="Microsoft YaHei"/>
                        </a:rPr>
                        <a:t>创科实业</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102A43"/>
                    </a:solidFill>
                  </a:tcPr>
                </a:tc>
                <a:tc>
                  <a:txBody>
                    <a:bodyPr wrap="square"/>
                    <a:lstStyle/>
                    <a:p>
                      <a:pPr algn="ctr"/>
                      <a:r>
                        <a:rPr sz="1000" b="1">
                          <a:solidFill>
                            <a:srgbClr val="FFFFFF"/>
                          </a:solidFill>
                          <a:latin typeface="Microsoft YaHei"/>
                        </a:rPr>
                        <a:t>可比公司均值</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102A43"/>
                    </a:solidFill>
                  </a:tcPr>
                </a:tc>
                <a:tc>
                  <a:txBody>
                    <a:bodyPr wrap="square"/>
                    <a:lstStyle/>
                    <a:p>
                      <a:pPr algn="ctr"/>
                      <a:r>
                        <a:rPr sz="1000" b="1">
                          <a:solidFill>
                            <a:srgbClr val="FFFFFF"/>
                          </a:solidFill>
                          <a:latin typeface="Microsoft YaHei"/>
                        </a:rPr>
                        <a:t>巨星科技</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102A43"/>
                    </a:solidFill>
                  </a:tcPr>
                </a:tc>
              </a:tr>
              <a:tr h="330200">
                <a:tc>
                  <a:txBody>
                    <a:bodyPr wrap="square"/>
                    <a:lstStyle/>
                    <a:p>
                      <a:pPr algn="ctr"/>
                      <a:r>
                        <a:rPr sz="1000" b="1">
                          <a:solidFill>
                            <a:srgbClr val="64748B"/>
                          </a:solidFill>
                          <a:latin typeface="Microsoft YaHei"/>
                        </a:rPr>
                        <a:t>2025E PE (X)</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6.6</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15.2</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10.9</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c>
                  <a:txBody>
                    <a:bodyPr wrap="square"/>
                    <a:lstStyle/>
                    <a:p>
                      <a:pPr algn="ctr"/>
                      <a:r>
                        <a:rPr sz="1000" b="0">
                          <a:solidFill>
                            <a:srgbClr val="64748B"/>
                          </a:solidFill>
                          <a:latin typeface="Microsoft YaHei"/>
                        </a:rPr>
                        <a:t>12</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FFFFF"/>
                    </a:solidFill>
                  </a:tcPr>
                </a:tc>
              </a:tr>
              <a:tr h="330200">
                <a:tc>
                  <a:txBody>
                    <a:bodyPr wrap="square"/>
                    <a:lstStyle/>
                    <a:p>
                      <a:pPr algn="ctr"/>
                      <a:r>
                        <a:rPr sz="1000" b="1">
                          <a:solidFill>
                            <a:srgbClr val="64748B"/>
                          </a:solidFill>
                          <a:latin typeface="Microsoft YaHei"/>
                        </a:rPr>
                        <a:t>2026E PE (X)</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5.3</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13.2</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9.2</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c>
                  <a:txBody>
                    <a:bodyPr wrap="square"/>
                    <a:lstStyle/>
                    <a:p>
                      <a:pPr algn="ctr"/>
                      <a:r>
                        <a:rPr sz="1000" b="0">
                          <a:solidFill>
                            <a:srgbClr val="64748B"/>
                          </a:solidFill>
                          <a:latin typeface="Microsoft YaHei"/>
                        </a:rPr>
                        <a:t>9.7</a:t>
                      </a:r>
                    </a:p>
                  </a:txBody>
                  <a:tcPr marL="63500" marR="63500" marT="38100" marB="38100" anchor="ctr">
                    <a:lnL w="7620">
                      <a:solidFill>
                        <a:srgbClr val="D9E2EC"/>
                      </a:solidFill>
                      <a:prstDash val="solid"/>
                    </a:lnL>
                    <a:lnR w="7620">
                      <a:solidFill>
                        <a:srgbClr val="D9E2EC"/>
                      </a:solidFill>
                      <a:prstDash val="solid"/>
                    </a:lnR>
                    <a:lnT w="7620">
                      <a:solidFill>
                        <a:srgbClr val="D9E2EC"/>
                      </a:solidFill>
                      <a:prstDash val="solid"/>
                    </a:lnT>
                    <a:lnB w="7620">
                      <a:solidFill>
                        <a:srgbClr val="D9E2EC"/>
                      </a:solidFill>
                      <a:prstDash val="solid"/>
                    </a:lnB>
                    <a:solidFill>
                      <a:srgbClr val="F5F7FA"/>
                    </a:solidFill>
                  </a:tcPr>
                </a:tc>
              </a:tr>
            </a:tbl>
          </a:graphicData>
        </a:graphic>
      </p:graphicFrame>
      <p:graphicFrame>
        <p:nvGraphicFramePr>
          <p:cNvPr id="6" name="Chart 5"/>
          <p:cNvGraphicFramePr>
            <a:graphicFrameLocks noGrp="1"/>
          </p:cNvGraphicFramePr>
          <p:nvPr/>
        </p:nvGraphicFramePr>
        <p:xfrm>
          <a:off x="6339809" y="3086100"/>
          <a:ext cx="5120640" cy="2948940"/>
        </p:xfrm>
        <a:graphic>
          <a:graphicData uri="http://schemas.openxmlformats.org/drawingml/2006/chart">
            <c:chart xmlns:c="http://schemas.openxmlformats.org/drawingml/2006/chart" r:id="rId2"/>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2900"/>
            <a:ext cx="10728929" cy="960120"/>
          </a:xfrm>
          <a:prstGeom prst="rect">
            <a:avLst/>
          </a:prstGeom>
          <a:noFill/>
        </p:spPr>
        <p:txBody>
          <a:bodyPr wrap="square" lIns="25400" rIns="25400" tIns="12700" bIns="12700" anchor="ctr">
            <a:noAutofit/>
          </a:bodyPr>
          <a:lstStyle/>
          <a:p>
            <a:pPr algn="l"/>
            <a:r>
              <a:rPr sz="2700" b="1">
                <a:solidFill>
                  <a:srgbClr val="102A43"/>
                </a:solidFill>
                <a:latin typeface="Microsoft YaHei"/>
              </a:rPr>
              <a:t>多重外部风险交织，公司业绩承压的确定性正在上升</a:t>
            </a:r>
          </a:p>
        </p:txBody>
      </p:sp>
      <p:sp>
        <p:nvSpPr>
          <p:cNvPr id="3" name="TextBox 2"/>
          <p:cNvSpPr txBox="1"/>
          <p:nvPr/>
        </p:nvSpPr>
        <p:spPr>
          <a:xfrm>
            <a:off x="731520" y="1508760"/>
            <a:ext cx="10728929" cy="960120"/>
          </a:xfrm>
          <a:prstGeom prst="rect">
            <a:avLst/>
          </a:prstGeom>
          <a:noFill/>
        </p:spPr>
        <p:txBody>
          <a:bodyPr wrap="square" lIns="25400" rIns="25400" tIns="12700" bIns="12700" anchor="t">
            <a:noAutofit/>
          </a:bodyPr>
          <a:lstStyle/>
          <a:p>
            <a:pPr algn="l"/>
            <a:r>
              <a:rPr sz="1600" b="1">
                <a:solidFill>
                  <a:srgbClr val="102A43"/>
                </a:solidFill>
                <a:latin typeface="Microsoft YaHei"/>
              </a:rPr>
              <a:t>**尽管公司通过全球化产能布局与ODM业务模式部分对冲了外部压力，但海外需求疲软、贸易摩擦升级、下游库存去化反复及北美市场集中度偏高等多重风险正形成共振，对公司短期业绩与中长期盈利能力的压制效应不容忽视。</a:t>
            </a:r>
          </a:p>
        </p:txBody>
      </p:sp>
      <p:sp>
        <p:nvSpPr>
          <p:cNvPr id="4" name="TextBox 3"/>
          <p:cNvSpPr txBox="1"/>
          <p:nvPr/>
        </p:nvSpPr>
        <p:spPr>
          <a:xfrm>
            <a:off x="731520" y="2743200"/>
            <a:ext cx="10728929" cy="3291840"/>
          </a:xfrm>
          <a:prstGeom prst="rect">
            <a:avLst/>
          </a:prstGeom>
          <a:noFill/>
        </p:spPr>
        <p:txBody>
          <a:bodyPr wrap="square" lIns="25400" rIns="25400" tIns="12700" bIns="12700" anchor="t">
            <a:noAutofit/>
          </a:bodyPr>
          <a:lstStyle/>
          <a:p>
            <a:pPr algn="l"/>
            <a:r>
              <a:rPr sz="1400" b="0">
                <a:solidFill>
                  <a:srgbClr val="64748B"/>
                </a:solidFill>
                <a:latin typeface="Microsoft YaHei"/>
              </a:rPr>
              <a:t>•海外需求持续低迷：美国8月ISM制造业PMI录得48.7，连续六个月收缩。</a:t>
            </a:r>
          </a:p>
          <a:p>
            <a:pPr algn="l"/>
            <a:r>
              <a:rPr sz="1400" b="0">
                <a:solidFill>
                  <a:srgbClr val="64748B"/>
                </a:solidFill>
                <a:latin typeface="Microsoft YaHei"/>
              </a:rPr>
              <a:t>•下游补库不确定性：美国家居零售库存同比仍为负增长，补库节奏存疑。</a:t>
            </a:r>
          </a:p>
          <a:p>
            <a:pPr algn="l"/>
            <a:r>
              <a:rPr sz="1400" b="0">
                <a:solidFill>
                  <a:srgbClr val="64748B"/>
                </a:solidFill>
                <a:latin typeface="Microsoft YaHei"/>
              </a:rPr>
              <a:t>•贸易摩擦升级：中国出口至美工具累计关税已达79%，东南亚产能亦面临关税压力。</a:t>
            </a:r>
          </a:p>
          <a:p>
            <a:pPr algn="l"/>
            <a:r>
              <a:rPr sz="1400" b="0">
                <a:solidFill>
                  <a:srgbClr val="64748B"/>
                </a:solidFill>
                <a:latin typeface="Microsoft YaHei"/>
              </a:rPr>
              <a:t>•北美市场高度集中：美洲地区营收占比63.44%，单一区域敞口过大。</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2026-07-17T16:12:03.6290000Z</dcterms:created>
  <dcterms:modified xsi:type="dcterms:W3CDTF">2026-07-17T16:12:03.6290000Z</dcterms:modified>
</coreProperties>
</file>